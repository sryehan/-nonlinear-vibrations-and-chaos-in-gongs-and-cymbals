
<file path=[Content_Types].xml><?xml version="1.0" encoding="utf-8"?>
<Types xmlns="http://schemas.openxmlformats.org/package/2006/content-types">
  <Default Extension="fntdata" ContentType="application/x-fontdata"/>
  <Default Extension="jpeg" ContentType="image/jpeg"/>
  <Default Extension="mp3" ContentType="audio/m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7"/>
  </p:notesMasterIdLst>
  <p:sldIdLst>
    <p:sldId id="256" r:id="rId5"/>
    <p:sldId id="257" r:id="rId6"/>
    <p:sldId id="265" r:id="rId7"/>
    <p:sldId id="275" r:id="rId8"/>
    <p:sldId id="273" r:id="rId9"/>
    <p:sldId id="261" r:id="rId10"/>
    <p:sldId id="272" r:id="rId11"/>
    <p:sldId id="268" r:id="rId12"/>
    <p:sldId id="270" r:id="rId13"/>
    <p:sldId id="271" r:id="rId14"/>
    <p:sldId id="263" r:id="rId15"/>
    <p:sldId id="274" r:id="rId16"/>
  </p:sldIdLst>
  <p:sldSz cx="9144000" cy="5143500" type="screen16x9"/>
  <p:notesSz cx="6858000" cy="9144000"/>
  <p:embeddedFontLst>
    <p:embeddedFont>
      <p:font typeface="Cambria Math" panose="02040503050406030204" pitchFamily="18" charset="0"/>
      <p:regular r:id="rId18"/>
    </p:embeddedFont>
    <p:embeddedFont>
      <p:font typeface="Helvetica Neue"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DBADCB-44D5-D5A6-150F-0FD80724416A}" v="290" vWet="292" dt="2025-12-03T22:36:59.639"/>
    <p1510:client id="{19E27A58-D932-BF1D-3F9A-0F1AF92E9CF2}" v="11" dt="2025-12-03T10:26:13.435"/>
    <p1510:client id="{1A10846E-E8FF-CCF0-7413-C3686B18AFFF}" v="7" dt="2025-12-03T21:13:02.272"/>
    <p1510:client id="{44DAE944-513A-8F9C-3CE3-66FE4E5D3113}" v="117" dt="2025-12-03T12:17:11.574"/>
    <p1510:client id="{464F4632-1566-ADE5-2CBD-AB04B8E5D29E}" v="15" dt="2025-12-03T19:56:23.749"/>
    <p1510:client id="{514DCBBF-98B1-A251-043C-4321459854FB}" v="52" dt="2025-12-03T11:56:17.008"/>
    <p1510:client id="{556FE6FC-C686-FE37-C63B-7CE8532D5D46}" v="2" dt="2025-12-03T16:38:38.762"/>
    <p1510:client id="{77703B8D-068F-E920-AFFB-625C6DCC0090}" v="253" dt="2025-12-03T05:48:27.899"/>
    <p1510:client id="{94044D8A-0899-4105-9AEF-4ECFDF8216D9}" v="913" dt="2025-12-03T22:30:33.443"/>
    <p1510:client id="{A3574A3E-0814-C8EB-D98C-5950A2BD000C}" v="14" dt="2025-12-03T11:11:54.146"/>
    <p1510:client id="{A5F39347-2505-3FC3-E0CB-22EC6ABC26F1}" v="6" dt="2025-12-03T19:53:05.805"/>
    <p1510:client id="{B42FE305-204B-3536-E58B-3475C3A4FEB7}" v="148" dt="2025-12-03T21:58:28.801"/>
    <p1510:client id="{C233CF74-E64F-4210-A938-1114F78B3E4B}" v="1512" dt="2025-12-03T22:37:04.918"/>
    <p1510:client id="{EA5799C0-EC99-8657-6A55-7A55C041B400}" v="3" dt="2025-12-03T16:50:46.448"/>
    <p1510:client id="{EE11023A-1825-434E-5541-8EE80CD31BF1}" v="91" dt="2025-12-03T11:50:49.3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6" d="100"/>
          <a:sy n="136" d="100"/>
        </p:scale>
        <p:origin x="78" y="3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CB8D4C-3B9E-4680-9750-E8F62E8F7F79}" type="doc">
      <dgm:prSet loTypeId="urn:microsoft.com/office/officeart/2005/8/layout/hierarchy6" loCatId="hierarchy" qsTypeId="urn:microsoft.com/office/officeart/2005/8/quickstyle/simple1" qsCatId="simple" csTypeId="urn:microsoft.com/office/officeart/2005/8/colors/accent2_1" csCatId="accent2" phldr="1"/>
      <dgm:spPr/>
      <dgm:t>
        <a:bodyPr/>
        <a:lstStyle/>
        <a:p>
          <a:endParaRPr lang="en-ID"/>
        </a:p>
      </dgm:t>
    </dgm:pt>
    <dgm:pt modelId="{71DCBD32-4732-4C00-ABA9-598A04DD3CE6}">
      <dgm:prSet phldrT="[Text]" phldr="0" custT="1"/>
      <dgm:spPr/>
      <dgm:t>
        <a:bodyPr/>
        <a:lstStyle/>
        <a:p>
          <a:r>
            <a:rPr lang="en-US" sz="700" b="1">
              <a:latin typeface="Helvetica Neue" panose="020B0604020202020204" charset="0"/>
            </a:rPr>
            <a:t>Observed Nonlinear Features</a:t>
          </a:r>
          <a:endParaRPr lang="en-ID" sz="700" b="1">
            <a:latin typeface="Helvetica Neue" panose="020B0604020202020204" charset="0"/>
          </a:endParaRPr>
        </a:p>
      </dgm:t>
    </dgm:pt>
    <dgm:pt modelId="{1CBDCB80-1106-4971-B2F2-0829315595A2}" type="parTrans" cxnId="{78996D2F-77F4-42C1-AEB2-5AB514AC9D83}">
      <dgm:prSet/>
      <dgm:spPr/>
      <dgm:t>
        <a:bodyPr/>
        <a:lstStyle/>
        <a:p>
          <a:endParaRPr lang="en-ID" sz="700">
            <a:latin typeface="Helvetica Neue" panose="020B0604020202020204" charset="0"/>
          </a:endParaRPr>
        </a:p>
      </dgm:t>
    </dgm:pt>
    <dgm:pt modelId="{755E8EF9-3B44-4FB0-ACE1-606658036598}" type="sibTrans" cxnId="{78996D2F-77F4-42C1-AEB2-5AB514AC9D83}">
      <dgm:prSet/>
      <dgm:spPr/>
      <dgm:t>
        <a:bodyPr/>
        <a:lstStyle/>
        <a:p>
          <a:endParaRPr lang="en-ID" sz="700">
            <a:latin typeface="Helvetica Neue" panose="020B0604020202020204" charset="0"/>
          </a:endParaRPr>
        </a:p>
      </dgm:t>
    </dgm:pt>
    <dgm:pt modelId="{28D1475B-80F6-42D5-AB87-F36C1433B5E0}">
      <dgm:prSet phldrT="[Text]" phldr="0" custT="1"/>
      <dgm:spPr/>
      <dgm:t>
        <a:bodyPr/>
        <a:lstStyle/>
        <a:p>
          <a:r>
            <a:rPr lang="en-US" sz="700">
              <a:latin typeface="Helvetica Neue" panose="020B0604020202020204" charset="0"/>
            </a:rPr>
            <a:t>Amplitude-dependent harmonics</a:t>
          </a:r>
          <a:endParaRPr lang="en-ID" sz="700">
            <a:latin typeface="Helvetica Neue" panose="020B0604020202020204" charset="0"/>
          </a:endParaRPr>
        </a:p>
      </dgm:t>
    </dgm:pt>
    <dgm:pt modelId="{54A5885A-EFB7-43BB-8256-5C4EE97DF511}" type="parTrans" cxnId="{5EC69D65-7C61-49F0-B0C4-2D0DFA737B76}">
      <dgm:prSet/>
      <dgm:spPr/>
      <dgm:t>
        <a:bodyPr/>
        <a:lstStyle/>
        <a:p>
          <a:endParaRPr lang="en-ID" sz="700">
            <a:latin typeface="Helvetica Neue" panose="020B0604020202020204" charset="0"/>
          </a:endParaRPr>
        </a:p>
      </dgm:t>
    </dgm:pt>
    <dgm:pt modelId="{C0BCAFE9-D4AF-4CD0-8F9E-EBBD112A68B3}" type="sibTrans" cxnId="{5EC69D65-7C61-49F0-B0C4-2D0DFA737B76}">
      <dgm:prSet/>
      <dgm:spPr/>
      <dgm:t>
        <a:bodyPr/>
        <a:lstStyle/>
        <a:p>
          <a:endParaRPr lang="en-ID" sz="700">
            <a:latin typeface="Helvetica Neue" panose="020B0604020202020204" charset="0"/>
          </a:endParaRPr>
        </a:p>
      </dgm:t>
    </dgm:pt>
    <dgm:pt modelId="{670F6C02-02E0-4FB8-B426-B56E3BC9E3CF}">
      <dgm:prSet phldrT="[Text]" phldr="0" custT="1"/>
      <dgm:spPr/>
      <dgm:t>
        <a:bodyPr/>
        <a:lstStyle/>
        <a:p>
          <a:r>
            <a:rPr lang="en-US" sz="700">
              <a:latin typeface="Helvetica Neue" panose="020B0604020202020204" charset="0"/>
            </a:rPr>
            <a:t>Pitch Glide</a:t>
          </a:r>
          <a:endParaRPr lang="en-ID" sz="700">
            <a:latin typeface="Helvetica Neue" panose="020B0604020202020204" charset="0"/>
          </a:endParaRPr>
        </a:p>
      </dgm:t>
    </dgm:pt>
    <dgm:pt modelId="{87EF93F6-B30D-491A-896E-3C1D469E6534}" type="parTrans" cxnId="{A10911C7-C8F4-45A2-A6C5-460EFBA4C085}">
      <dgm:prSet/>
      <dgm:spPr/>
      <dgm:t>
        <a:bodyPr/>
        <a:lstStyle/>
        <a:p>
          <a:endParaRPr lang="en-ID" sz="700">
            <a:latin typeface="Helvetica Neue" panose="020B0604020202020204" charset="0"/>
          </a:endParaRPr>
        </a:p>
      </dgm:t>
    </dgm:pt>
    <dgm:pt modelId="{02151EF9-BBA6-44D2-A830-BE5DBE609AB8}" type="sibTrans" cxnId="{A10911C7-C8F4-45A2-A6C5-460EFBA4C085}">
      <dgm:prSet/>
      <dgm:spPr/>
      <dgm:t>
        <a:bodyPr/>
        <a:lstStyle/>
        <a:p>
          <a:endParaRPr lang="en-ID" sz="700">
            <a:latin typeface="Helvetica Neue" panose="020B0604020202020204" charset="0"/>
          </a:endParaRPr>
        </a:p>
      </dgm:t>
    </dgm:pt>
    <dgm:pt modelId="{F741A883-AF01-4760-8CE0-470248E47CDD}">
      <dgm:prSet phldrT="[Text]" phldr="0" custT="1"/>
      <dgm:spPr/>
      <dgm:t>
        <a:bodyPr/>
        <a:lstStyle/>
        <a:p>
          <a:r>
            <a:rPr lang="en-US" sz="700">
              <a:latin typeface="Helvetica Neue" panose="020B0604020202020204" charset="0"/>
            </a:rPr>
            <a:t>Bifurcations &amp; Energy exchange between modes</a:t>
          </a:r>
        </a:p>
      </dgm:t>
    </dgm:pt>
    <dgm:pt modelId="{83E62A50-2F9F-454B-8919-3BAE852910BB}" type="parTrans" cxnId="{0E5904C6-05A7-4CFE-B1BB-6FAA522FA99B}">
      <dgm:prSet/>
      <dgm:spPr/>
      <dgm:t>
        <a:bodyPr/>
        <a:lstStyle/>
        <a:p>
          <a:endParaRPr lang="en-ID" sz="700">
            <a:latin typeface="Helvetica Neue" panose="020B0604020202020204" charset="0"/>
          </a:endParaRPr>
        </a:p>
      </dgm:t>
    </dgm:pt>
    <dgm:pt modelId="{A1E4C503-FBCA-4AA3-B479-9EFFDA07FE16}" type="sibTrans" cxnId="{0E5904C6-05A7-4CFE-B1BB-6FAA522FA99B}">
      <dgm:prSet/>
      <dgm:spPr/>
      <dgm:t>
        <a:bodyPr/>
        <a:lstStyle/>
        <a:p>
          <a:endParaRPr lang="en-ID" sz="700">
            <a:latin typeface="Helvetica Neue" panose="020B0604020202020204" charset="0"/>
          </a:endParaRPr>
        </a:p>
      </dgm:t>
    </dgm:pt>
    <dgm:pt modelId="{B58AF107-B250-4B73-AF56-0E537DD90AA6}">
      <dgm:prSet phldrT="[Text]" phldr="0" custT="1"/>
      <dgm:spPr/>
      <dgm:t>
        <a:bodyPr/>
        <a:lstStyle/>
        <a:p>
          <a:r>
            <a:rPr lang="en-US" sz="700">
              <a:latin typeface="Helvetica Neue" panose="020B0604020202020204" charset="0"/>
            </a:rPr>
            <a:t>Chaos</a:t>
          </a:r>
        </a:p>
      </dgm:t>
    </dgm:pt>
    <dgm:pt modelId="{D8C078EB-E976-4839-A799-23F81BBEDD14}" type="parTrans" cxnId="{2EA9A3E1-E471-4858-9972-72AAD08BF9F0}">
      <dgm:prSet/>
      <dgm:spPr/>
      <dgm:t>
        <a:bodyPr/>
        <a:lstStyle/>
        <a:p>
          <a:endParaRPr lang="en-ID" sz="700">
            <a:latin typeface="Helvetica Neue" panose="020B0604020202020204" charset="0"/>
          </a:endParaRPr>
        </a:p>
      </dgm:t>
    </dgm:pt>
    <dgm:pt modelId="{F8A6FFB6-4C17-4316-8EF1-129E0FFCD2AF}" type="sibTrans" cxnId="{2EA9A3E1-E471-4858-9972-72AAD08BF9F0}">
      <dgm:prSet/>
      <dgm:spPr/>
      <dgm:t>
        <a:bodyPr/>
        <a:lstStyle/>
        <a:p>
          <a:endParaRPr lang="en-ID" sz="700">
            <a:latin typeface="Helvetica Neue" panose="020B0604020202020204" charset="0"/>
          </a:endParaRPr>
        </a:p>
      </dgm:t>
    </dgm:pt>
    <dgm:pt modelId="{36A5657D-644D-4C24-9ED4-4108936CFCEB}" type="pres">
      <dgm:prSet presAssocID="{16CB8D4C-3B9E-4680-9750-E8F62E8F7F79}" presName="mainComposite" presStyleCnt="0">
        <dgm:presLayoutVars>
          <dgm:chPref val="1"/>
          <dgm:dir/>
          <dgm:animOne val="branch"/>
          <dgm:animLvl val="lvl"/>
          <dgm:resizeHandles val="exact"/>
        </dgm:presLayoutVars>
      </dgm:prSet>
      <dgm:spPr/>
    </dgm:pt>
    <dgm:pt modelId="{FB9238C8-F6B9-4C23-9709-49B07E55E5ED}" type="pres">
      <dgm:prSet presAssocID="{16CB8D4C-3B9E-4680-9750-E8F62E8F7F79}" presName="hierFlow" presStyleCnt="0"/>
      <dgm:spPr/>
    </dgm:pt>
    <dgm:pt modelId="{F629D144-CB74-4A3C-B77F-8EEFCEAD5070}" type="pres">
      <dgm:prSet presAssocID="{16CB8D4C-3B9E-4680-9750-E8F62E8F7F79}" presName="hierChild1" presStyleCnt="0">
        <dgm:presLayoutVars>
          <dgm:chPref val="1"/>
          <dgm:animOne val="branch"/>
          <dgm:animLvl val="lvl"/>
        </dgm:presLayoutVars>
      </dgm:prSet>
      <dgm:spPr/>
    </dgm:pt>
    <dgm:pt modelId="{5812A2B0-1C0D-409A-8703-260DD09A114B}" type="pres">
      <dgm:prSet presAssocID="{71DCBD32-4732-4C00-ABA9-598A04DD3CE6}" presName="Name14" presStyleCnt="0"/>
      <dgm:spPr/>
    </dgm:pt>
    <dgm:pt modelId="{FF4B6ED2-EB33-45F0-B55F-DDC9006EA025}" type="pres">
      <dgm:prSet presAssocID="{71DCBD32-4732-4C00-ABA9-598A04DD3CE6}" presName="level1Shape" presStyleLbl="node0" presStyleIdx="0" presStyleCnt="1">
        <dgm:presLayoutVars>
          <dgm:chPref val="3"/>
        </dgm:presLayoutVars>
      </dgm:prSet>
      <dgm:spPr/>
    </dgm:pt>
    <dgm:pt modelId="{9B8504B0-0AC3-4937-BE79-2CFC77ABC291}" type="pres">
      <dgm:prSet presAssocID="{71DCBD32-4732-4C00-ABA9-598A04DD3CE6}" presName="hierChild2" presStyleCnt="0"/>
      <dgm:spPr/>
    </dgm:pt>
    <dgm:pt modelId="{D0DE7AC9-F818-4EC4-9DF1-A959F3C75710}" type="pres">
      <dgm:prSet presAssocID="{54A5885A-EFB7-43BB-8256-5C4EE97DF511}" presName="Name19" presStyleLbl="parChTrans1D2" presStyleIdx="0" presStyleCnt="4"/>
      <dgm:spPr/>
    </dgm:pt>
    <dgm:pt modelId="{B00BA40A-ABF3-454F-8CCD-64E328A563C2}" type="pres">
      <dgm:prSet presAssocID="{28D1475B-80F6-42D5-AB87-F36C1433B5E0}" presName="Name21" presStyleCnt="0"/>
      <dgm:spPr/>
    </dgm:pt>
    <dgm:pt modelId="{A9EF14C9-31D2-441B-9F8C-7A34DAF8B1A7}" type="pres">
      <dgm:prSet presAssocID="{28D1475B-80F6-42D5-AB87-F36C1433B5E0}" presName="level2Shape" presStyleLbl="node2" presStyleIdx="0" presStyleCnt="4"/>
      <dgm:spPr/>
    </dgm:pt>
    <dgm:pt modelId="{91C0A370-A130-469D-AC2B-ED18A2A5CEFC}" type="pres">
      <dgm:prSet presAssocID="{28D1475B-80F6-42D5-AB87-F36C1433B5E0}" presName="hierChild3" presStyleCnt="0"/>
      <dgm:spPr/>
    </dgm:pt>
    <dgm:pt modelId="{D29790CA-809B-407E-81C0-3B58B5086281}" type="pres">
      <dgm:prSet presAssocID="{87EF93F6-B30D-491A-896E-3C1D469E6534}" presName="Name19" presStyleLbl="parChTrans1D2" presStyleIdx="1" presStyleCnt="4"/>
      <dgm:spPr/>
    </dgm:pt>
    <dgm:pt modelId="{DC57FB0F-B607-4538-A68B-07FA4D4B78A6}" type="pres">
      <dgm:prSet presAssocID="{670F6C02-02E0-4FB8-B426-B56E3BC9E3CF}" presName="Name21" presStyleCnt="0"/>
      <dgm:spPr/>
    </dgm:pt>
    <dgm:pt modelId="{9B34C1C0-168D-493E-858A-480E5593D437}" type="pres">
      <dgm:prSet presAssocID="{670F6C02-02E0-4FB8-B426-B56E3BC9E3CF}" presName="level2Shape" presStyleLbl="node2" presStyleIdx="1" presStyleCnt="4"/>
      <dgm:spPr/>
    </dgm:pt>
    <dgm:pt modelId="{23BCBEA2-9969-463F-9FBB-FBFDAB28DAF3}" type="pres">
      <dgm:prSet presAssocID="{670F6C02-02E0-4FB8-B426-B56E3BC9E3CF}" presName="hierChild3" presStyleCnt="0"/>
      <dgm:spPr/>
    </dgm:pt>
    <dgm:pt modelId="{A5F779E1-91F6-43A4-88FA-9D0ADE3D3E09}" type="pres">
      <dgm:prSet presAssocID="{83E62A50-2F9F-454B-8919-3BAE852910BB}" presName="Name19" presStyleLbl="parChTrans1D2" presStyleIdx="2" presStyleCnt="4"/>
      <dgm:spPr/>
    </dgm:pt>
    <dgm:pt modelId="{B7F85C93-5CDF-4E27-A2DB-6FFF8107DC5A}" type="pres">
      <dgm:prSet presAssocID="{F741A883-AF01-4760-8CE0-470248E47CDD}" presName="Name21" presStyleCnt="0"/>
      <dgm:spPr/>
    </dgm:pt>
    <dgm:pt modelId="{2D0B7A18-F5CE-4A4A-90A0-CD751009EC6E}" type="pres">
      <dgm:prSet presAssocID="{F741A883-AF01-4760-8CE0-470248E47CDD}" presName="level2Shape" presStyleLbl="node2" presStyleIdx="2" presStyleCnt="4"/>
      <dgm:spPr/>
    </dgm:pt>
    <dgm:pt modelId="{29C007FC-E810-4FA3-9DB4-DE9E07D35506}" type="pres">
      <dgm:prSet presAssocID="{F741A883-AF01-4760-8CE0-470248E47CDD}" presName="hierChild3" presStyleCnt="0"/>
      <dgm:spPr/>
    </dgm:pt>
    <dgm:pt modelId="{890BD1BB-3CB6-48B7-90B1-667FE3B7DBF3}" type="pres">
      <dgm:prSet presAssocID="{D8C078EB-E976-4839-A799-23F81BBEDD14}" presName="Name19" presStyleLbl="parChTrans1D2" presStyleIdx="3" presStyleCnt="4"/>
      <dgm:spPr/>
    </dgm:pt>
    <dgm:pt modelId="{546648AA-B796-48A3-929F-F3B9D041100C}" type="pres">
      <dgm:prSet presAssocID="{B58AF107-B250-4B73-AF56-0E537DD90AA6}" presName="Name21" presStyleCnt="0"/>
      <dgm:spPr/>
    </dgm:pt>
    <dgm:pt modelId="{550848C0-9A03-4940-8AC2-E12DAF1BF06B}" type="pres">
      <dgm:prSet presAssocID="{B58AF107-B250-4B73-AF56-0E537DD90AA6}" presName="level2Shape" presStyleLbl="node2" presStyleIdx="3" presStyleCnt="4"/>
      <dgm:spPr/>
    </dgm:pt>
    <dgm:pt modelId="{6BA57D8A-52E6-4DFE-B695-DF9504365D89}" type="pres">
      <dgm:prSet presAssocID="{B58AF107-B250-4B73-AF56-0E537DD90AA6}" presName="hierChild3" presStyleCnt="0"/>
      <dgm:spPr/>
    </dgm:pt>
    <dgm:pt modelId="{946E46B5-6722-4233-9071-24651513E17F}" type="pres">
      <dgm:prSet presAssocID="{16CB8D4C-3B9E-4680-9750-E8F62E8F7F79}" presName="bgShapesFlow" presStyleCnt="0"/>
      <dgm:spPr/>
    </dgm:pt>
  </dgm:ptLst>
  <dgm:cxnLst>
    <dgm:cxn modelId="{78996D2F-77F4-42C1-AEB2-5AB514AC9D83}" srcId="{16CB8D4C-3B9E-4680-9750-E8F62E8F7F79}" destId="{71DCBD32-4732-4C00-ABA9-598A04DD3CE6}" srcOrd="0" destOrd="0" parTransId="{1CBDCB80-1106-4971-B2F2-0829315595A2}" sibTransId="{755E8EF9-3B44-4FB0-ACE1-606658036598}"/>
    <dgm:cxn modelId="{103E1130-A5E9-4F4D-8EEB-7431EC55EC9A}" type="presOf" srcId="{B58AF107-B250-4B73-AF56-0E537DD90AA6}" destId="{550848C0-9A03-4940-8AC2-E12DAF1BF06B}" srcOrd="0" destOrd="0" presId="urn:microsoft.com/office/officeart/2005/8/layout/hierarchy6"/>
    <dgm:cxn modelId="{D966CC41-6575-4076-97B8-238311CD9FB8}" type="presOf" srcId="{D8C078EB-E976-4839-A799-23F81BBEDD14}" destId="{890BD1BB-3CB6-48B7-90B1-667FE3B7DBF3}" srcOrd="0" destOrd="0" presId="urn:microsoft.com/office/officeart/2005/8/layout/hierarchy6"/>
    <dgm:cxn modelId="{5EC69D65-7C61-49F0-B0C4-2D0DFA737B76}" srcId="{71DCBD32-4732-4C00-ABA9-598A04DD3CE6}" destId="{28D1475B-80F6-42D5-AB87-F36C1433B5E0}" srcOrd="0" destOrd="0" parTransId="{54A5885A-EFB7-43BB-8256-5C4EE97DF511}" sibTransId="{C0BCAFE9-D4AF-4CD0-8F9E-EBBD112A68B3}"/>
    <dgm:cxn modelId="{5146CC65-15CC-4838-8293-1B5B87D7CB7F}" type="presOf" srcId="{28D1475B-80F6-42D5-AB87-F36C1433B5E0}" destId="{A9EF14C9-31D2-441B-9F8C-7A34DAF8B1A7}" srcOrd="0" destOrd="0" presId="urn:microsoft.com/office/officeart/2005/8/layout/hierarchy6"/>
    <dgm:cxn modelId="{BD9D7F52-A370-4481-AB83-97CBA56132BF}" type="presOf" srcId="{670F6C02-02E0-4FB8-B426-B56E3BC9E3CF}" destId="{9B34C1C0-168D-493E-858A-480E5593D437}" srcOrd="0" destOrd="0" presId="urn:microsoft.com/office/officeart/2005/8/layout/hierarchy6"/>
    <dgm:cxn modelId="{E6299175-A402-4F98-9CC5-65AD2AFF72F0}" type="presOf" srcId="{F741A883-AF01-4760-8CE0-470248E47CDD}" destId="{2D0B7A18-F5CE-4A4A-90A0-CD751009EC6E}" srcOrd="0" destOrd="0" presId="urn:microsoft.com/office/officeart/2005/8/layout/hierarchy6"/>
    <dgm:cxn modelId="{0BB9E58D-38D3-41BF-B0F0-6849EE216BB3}" type="presOf" srcId="{83E62A50-2F9F-454B-8919-3BAE852910BB}" destId="{A5F779E1-91F6-43A4-88FA-9D0ADE3D3E09}" srcOrd="0" destOrd="0" presId="urn:microsoft.com/office/officeart/2005/8/layout/hierarchy6"/>
    <dgm:cxn modelId="{92884B96-AD7D-45A9-848A-11A71C3630D1}" type="presOf" srcId="{87EF93F6-B30D-491A-896E-3C1D469E6534}" destId="{D29790CA-809B-407E-81C0-3B58B5086281}" srcOrd="0" destOrd="0" presId="urn:microsoft.com/office/officeart/2005/8/layout/hierarchy6"/>
    <dgm:cxn modelId="{0E5904C6-05A7-4CFE-B1BB-6FAA522FA99B}" srcId="{71DCBD32-4732-4C00-ABA9-598A04DD3CE6}" destId="{F741A883-AF01-4760-8CE0-470248E47CDD}" srcOrd="2" destOrd="0" parTransId="{83E62A50-2F9F-454B-8919-3BAE852910BB}" sibTransId="{A1E4C503-FBCA-4AA3-B479-9EFFDA07FE16}"/>
    <dgm:cxn modelId="{A10911C7-C8F4-45A2-A6C5-460EFBA4C085}" srcId="{71DCBD32-4732-4C00-ABA9-598A04DD3CE6}" destId="{670F6C02-02E0-4FB8-B426-B56E3BC9E3CF}" srcOrd="1" destOrd="0" parTransId="{87EF93F6-B30D-491A-896E-3C1D469E6534}" sibTransId="{02151EF9-BBA6-44D2-A830-BE5DBE609AB8}"/>
    <dgm:cxn modelId="{9A0E4DCF-B898-49B8-95A6-1DD1A9C32F38}" type="presOf" srcId="{16CB8D4C-3B9E-4680-9750-E8F62E8F7F79}" destId="{36A5657D-644D-4C24-9ED4-4108936CFCEB}" srcOrd="0" destOrd="0" presId="urn:microsoft.com/office/officeart/2005/8/layout/hierarchy6"/>
    <dgm:cxn modelId="{2EA9A3E1-E471-4858-9972-72AAD08BF9F0}" srcId="{71DCBD32-4732-4C00-ABA9-598A04DD3CE6}" destId="{B58AF107-B250-4B73-AF56-0E537DD90AA6}" srcOrd="3" destOrd="0" parTransId="{D8C078EB-E976-4839-A799-23F81BBEDD14}" sibTransId="{F8A6FFB6-4C17-4316-8EF1-129E0FFCD2AF}"/>
    <dgm:cxn modelId="{1B9F94F2-0CE2-4160-B92D-C5361D0149A1}" type="presOf" srcId="{71DCBD32-4732-4C00-ABA9-598A04DD3CE6}" destId="{FF4B6ED2-EB33-45F0-B55F-DDC9006EA025}" srcOrd="0" destOrd="0" presId="urn:microsoft.com/office/officeart/2005/8/layout/hierarchy6"/>
    <dgm:cxn modelId="{31DE02F3-1218-45E4-BD28-ADFB2AC57BE1}" type="presOf" srcId="{54A5885A-EFB7-43BB-8256-5C4EE97DF511}" destId="{D0DE7AC9-F818-4EC4-9DF1-A959F3C75710}" srcOrd="0" destOrd="0" presId="urn:microsoft.com/office/officeart/2005/8/layout/hierarchy6"/>
    <dgm:cxn modelId="{1395E663-7272-4684-8425-4FA93B2EEA0F}" type="presParOf" srcId="{36A5657D-644D-4C24-9ED4-4108936CFCEB}" destId="{FB9238C8-F6B9-4C23-9709-49B07E55E5ED}" srcOrd="0" destOrd="0" presId="urn:microsoft.com/office/officeart/2005/8/layout/hierarchy6"/>
    <dgm:cxn modelId="{2DBEB0F1-5E4C-4511-9352-E4C153B5B003}" type="presParOf" srcId="{FB9238C8-F6B9-4C23-9709-49B07E55E5ED}" destId="{F629D144-CB74-4A3C-B77F-8EEFCEAD5070}" srcOrd="0" destOrd="0" presId="urn:microsoft.com/office/officeart/2005/8/layout/hierarchy6"/>
    <dgm:cxn modelId="{838F5464-8163-4D2C-B6AE-75432921AA48}" type="presParOf" srcId="{F629D144-CB74-4A3C-B77F-8EEFCEAD5070}" destId="{5812A2B0-1C0D-409A-8703-260DD09A114B}" srcOrd="0" destOrd="0" presId="urn:microsoft.com/office/officeart/2005/8/layout/hierarchy6"/>
    <dgm:cxn modelId="{EAA539E6-5404-403F-B7E6-E5A3DF559400}" type="presParOf" srcId="{5812A2B0-1C0D-409A-8703-260DD09A114B}" destId="{FF4B6ED2-EB33-45F0-B55F-DDC9006EA025}" srcOrd="0" destOrd="0" presId="urn:microsoft.com/office/officeart/2005/8/layout/hierarchy6"/>
    <dgm:cxn modelId="{59B18C7D-4D74-4810-BACB-999E392904AC}" type="presParOf" srcId="{5812A2B0-1C0D-409A-8703-260DD09A114B}" destId="{9B8504B0-0AC3-4937-BE79-2CFC77ABC291}" srcOrd="1" destOrd="0" presId="urn:microsoft.com/office/officeart/2005/8/layout/hierarchy6"/>
    <dgm:cxn modelId="{84D19692-5EE4-4945-84CD-BAFC61B918BF}" type="presParOf" srcId="{9B8504B0-0AC3-4937-BE79-2CFC77ABC291}" destId="{D0DE7AC9-F818-4EC4-9DF1-A959F3C75710}" srcOrd="0" destOrd="0" presId="urn:microsoft.com/office/officeart/2005/8/layout/hierarchy6"/>
    <dgm:cxn modelId="{2B73893A-11F6-4D8A-A291-8932A30A1588}" type="presParOf" srcId="{9B8504B0-0AC3-4937-BE79-2CFC77ABC291}" destId="{B00BA40A-ABF3-454F-8CCD-64E328A563C2}" srcOrd="1" destOrd="0" presId="urn:microsoft.com/office/officeart/2005/8/layout/hierarchy6"/>
    <dgm:cxn modelId="{2900D71D-CCDF-48CF-9A3B-05E54B5578CF}" type="presParOf" srcId="{B00BA40A-ABF3-454F-8CCD-64E328A563C2}" destId="{A9EF14C9-31D2-441B-9F8C-7A34DAF8B1A7}" srcOrd="0" destOrd="0" presId="urn:microsoft.com/office/officeart/2005/8/layout/hierarchy6"/>
    <dgm:cxn modelId="{7131E9EA-B013-4FD6-AC4E-7642153910A5}" type="presParOf" srcId="{B00BA40A-ABF3-454F-8CCD-64E328A563C2}" destId="{91C0A370-A130-469D-AC2B-ED18A2A5CEFC}" srcOrd="1" destOrd="0" presId="urn:microsoft.com/office/officeart/2005/8/layout/hierarchy6"/>
    <dgm:cxn modelId="{4CF730BC-CA99-4A90-8731-54B0A269A063}" type="presParOf" srcId="{9B8504B0-0AC3-4937-BE79-2CFC77ABC291}" destId="{D29790CA-809B-407E-81C0-3B58B5086281}" srcOrd="2" destOrd="0" presId="urn:microsoft.com/office/officeart/2005/8/layout/hierarchy6"/>
    <dgm:cxn modelId="{4DA8F571-C077-498E-9BFC-0F44A8B10BF5}" type="presParOf" srcId="{9B8504B0-0AC3-4937-BE79-2CFC77ABC291}" destId="{DC57FB0F-B607-4538-A68B-07FA4D4B78A6}" srcOrd="3" destOrd="0" presId="urn:microsoft.com/office/officeart/2005/8/layout/hierarchy6"/>
    <dgm:cxn modelId="{3C1C9B4F-EF73-4069-89D6-3BDFB91C145E}" type="presParOf" srcId="{DC57FB0F-B607-4538-A68B-07FA4D4B78A6}" destId="{9B34C1C0-168D-493E-858A-480E5593D437}" srcOrd="0" destOrd="0" presId="urn:microsoft.com/office/officeart/2005/8/layout/hierarchy6"/>
    <dgm:cxn modelId="{A443A662-3C71-4F20-85A0-A17656D063D5}" type="presParOf" srcId="{DC57FB0F-B607-4538-A68B-07FA4D4B78A6}" destId="{23BCBEA2-9969-463F-9FBB-FBFDAB28DAF3}" srcOrd="1" destOrd="0" presId="urn:microsoft.com/office/officeart/2005/8/layout/hierarchy6"/>
    <dgm:cxn modelId="{3B6B065E-FF38-4181-B892-EF2A8EC5D365}" type="presParOf" srcId="{9B8504B0-0AC3-4937-BE79-2CFC77ABC291}" destId="{A5F779E1-91F6-43A4-88FA-9D0ADE3D3E09}" srcOrd="4" destOrd="0" presId="urn:microsoft.com/office/officeart/2005/8/layout/hierarchy6"/>
    <dgm:cxn modelId="{64169222-3CB4-4F18-8C99-B0BC92FBD07D}" type="presParOf" srcId="{9B8504B0-0AC3-4937-BE79-2CFC77ABC291}" destId="{B7F85C93-5CDF-4E27-A2DB-6FFF8107DC5A}" srcOrd="5" destOrd="0" presId="urn:microsoft.com/office/officeart/2005/8/layout/hierarchy6"/>
    <dgm:cxn modelId="{A2EE5216-99AA-417E-A282-8A200AE77386}" type="presParOf" srcId="{B7F85C93-5CDF-4E27-A2DB-6FFF8107DC5A}" destId="{2D0B7A18-F5CE-4A4A-90A0-CD751009EC6E}" srcOrd="0" destOrd="0" presId="urn:microsoft.com/office/officeart/2005/8/layout/hierarchy6"/>
    <dgm:cxn modelId="{8B1E4BC4-4CC9-4878-BD7E-26AC90152B6A}" type="presParOf" srcId="{B7F85C93-5CDF-4E27-A2DB-6FFF8107DC5A}" destId="{29C007FC-E810-4FA3-9DB4-DE9E07D35506}" srcOrd="1" destOrd="0" presId="urn:microsoft.com/office/officeart/2005/8/layout/hierarchy6"/>
    <dgm:cxn modelId="{95DA84FE-DEDD-47A7-B7C9-185FB7B8C98E}" type="presParOf" srcId="{9B8504B0-0AC3-4937-BE79-2CFC77ABC291}" destId="{890BD1BB-3CB6-48B7-90B1-667FE3B7DBF3}" srcOrd="6" destOrd="0" presId="urn:microsoft.com/office/officeart/2005/8/layout/hierarchy6"/>
    <dgm:cxn modelId="{C9773515-AEE7-42E3-8282-6998A8B06AF2}" type="presParOf" srcId="{9B8504B0-0AC3-4937-BE79-2CFC77ABC291}" destId="{546648AA-B796-48A3-929F-F3B9D041100C}" srcOrd="7" destOrd="0" presId="urn:microsoft.com/office/officeart/2005/8/layout/hierarchy6"/>
    <dgm:cxn modelId="{0D825B1D-2876-4E85-91B1-3C7713E72C66}" type="presParOf" srcId="{546648AA-B796-48A3-929F-F3B9D041100C}" destId="{550848C0-9A03-4940-8AC2-E12DAF1BF06B}" srcOrd="0" destOrd="0" presId="urn:microsoft.com/office/officeart/2005/8/layout/hierarchy6"/>
    <dgm:cxn modelId="{43CFBD9A-7F11-47D4-92AC-517932F2A38B}" type="presParOf" srcId="{546648AA-B796-48A3-929F-F3B9D041100C}" destId="{6BA57D8A-52E6-4DFE-B695-DF9504365D89}" srcOrd="1" destOrd="0" presId="urn:microsoft.com/office/officeart/2005/8/layout/hierarchy6"/>
    <dgm:cxn modelId="{456454EA-BEA8-44B6-945A-2A0E35C29D2E}" type="presParOf" srcId="{36A5657D-644D-4C24-9ED4-4108936CFCEB}" destId="{946E46B5-6722-4233-9071-24651513E17F}"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4B6ED2-EB33-45F0-B55F-DDC9006EA025}">
      <dsp:nvSpPr>
        <dsp:cNvPr id="0" name=""/>
        <dsp:cNvSpPr/>
      </dsp:nvSpPr>
      <dsp:spPr>
        <a:xfrm>
          <a:off x="2597244" y="842"/>
          <a:ext cx="882810" cy="58854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latin typeface="Helvetica Neue" panose="020B0604020202020204" charset="0"/>
            </a:rPr>
            <a:t>Observed Nonlinear Features</a:t>
          </a:r>
          <a:endParaRPr lang="en-ID" sz="700" b="1" kern="1200">
            <a:latin typeface="Helvetica Neue" panose="020B0604020202020204" charset="0"/>
          </a:endParaRPr>
        </a:p>
      </dsp:txBody>
      <dsp:txXfrm>
        <a:off x="2614482" y="18080"/>
        <a:ext cx="848334" cy="554064"/>
      </dsp:txXfrm>
    </dsp:sp>
    <dsp:sp modelId="{D0DE7AC9-F818-4EC4-9DF1-A959F3C75710}">
      <dsp:nvSpPr>
        <dsp:cNvPr id="0" name=""/>
        <dsp:cNvSpPr/>
      </dsp:nvSpPr>
      <dsp:spPr>
        <a:xfrm>
          <a:off x="1317168" y="589382"/>
          <a:ext cx="1721481" cy="235416"/>
        </a:xfrm>
        <a:custGeom>
          <a:avLst/>
          <a:gdLst/>
          <a:ahLst/>
          <a:cxnLst/>
          <a:rect l="0" t="0" r="0" b="0"/>
          <a:pathLst>
            <a:path>
              <a:moveTo>
                <a:pt x="1721481" y="0"/>
              </a:moveTo>
              <a:lnTo>
                <a:pt x="1721481" y="117708"/>
              </a:lnTo>
              <a:lnTo>
                <a:pt x="0" y="117708"/>
              </a:lnTo>
              <a:lnTo>
                <a:pt x="0" y="23541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EF14C9-31D2-441B-9F8C-7A34DAF8B1A7}">
      <dsp:nvSpPr>
        <dsp:cNvPr id="0" name=""/>
        <dsp:cNvSpPr/>
      </dsp:nvSpPr>
      <dsp:spPr>
        <a:xfrm>
          <a:off x="875763" y="824799"/>
          <a:ext cx="882810" cy="58854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latin typeface="Helvetica Neue" panose="020B0604020202020204" charset="0"/>
            </a:rPr>
            <a:t>Amplitude-dependent harmonics</a:t>
          </a:r>
          <a:endParaRPr lang="en-ID" sz="700" kern="1200">
            <a:latin typeface="Helvetica Neue" panose="020B0604020202020204" charset="0"/>
          </a:endParaRPr>
        </a:p>
      </dsp:txBody>
      <dsp:txXfrm>
        <a:off x="893001" y="842037"/>
        <a:ext cx="848334" cy="554064"/>
      </dsp:txXfrm>
    </dsp:sp>
    <dsp:sp modelId="{D29790CA-809B-407E-81C0-3B58B5086281}">
      <dsp:nvSpPr>
        <dsp:cNvPr id="0" name=""/>
        <dsp:cNvSpPr/>
      </dsp:nvSpPr>
      <dsp:spPr>
        <a:xfrm>
          <a:off x="2464822" y="589382"/>
          <a:ext cx="573827" cy="235416"/>
        </a:xfrm>
        <a:custGeom>
          <a:avLst/>
          <a:gdLst/>
          <a:ahLst/>
          <a:cxnLst/>
          <a:rect l="0" t="0" r="0" b="0"/>
          <a:pathLst>
            <a:path>
              <a:moveTo>
                <a:pt x="573827" y="0"/>
              </a:moveTo>
              <a:lnTo>
                <a:pt x="573827" y="117708"/>
              </a:lnTo>
              <a:lnTo>
                <a:pt x="0" y="117708"/>
              </a:lnTo>
              <a:lnTo>
                <a:pt x="0" y="23541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34C1C0-168D-493E-858A-480E5593D437}">
      <dsp:nvSpPr>
        <dsp:cNvPr id="0" name=""/>
        <dsp:cNvSpPr/>
      </dsp:nvSpPr>
      <dsp:spPr>
        <a:xfrm>
          <a:off x="2023417" y="824799"/>
          <a:ext cx="882810" cy="58854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latin typeface="Helvetica Neue" panose="020B0604020202020204" charset="0"/>
            </a:rPr>
            <a:t>Pitch Glide</a:t>
          </a:r>
          <a:endParaRPr lang="en-ID" sz="700" kern="1200">
            <a:latin typeface="Helvetica Neue" panose="020B0604020202020204" charset="0"/>
          </a:endParaRPr>
        </a:p>
      </dsp:txBody>
      <dsp:txXfrm>
        <a:off x="2040655" y="842037"/>
        <a:ext cx="848334" cy="554064"/>
      </dsp:txXfrm>
    </dsp:sp>
    <dsp:sp modelId="{A5F779E1-91F6-43A4-88FA-9D0ADE3D3E09}">
      <dsp:nvSpPr>
        <dsp:cNvPr id="0" name=""/>
        <dsp:cNvSpPr/>
      </dsp:nvSpPr>
      <dsp:spPr>
        <a:xfrm>
          <a:off x="3038650" y="589382"/>
          <a:ext cx="573827" cy="235416"/>
        </a:xfrm>
        <a:custGeom>
          <a:avLst/>
          <a:gdLst/>
          <a:ahLst/>
          <a:cxnLst/>
          <a:rect l="0" t="0" r="0" b="0"/>
          <a:pathLst>
            <a:path>
              <a:moveTo>
                <a:pt x="0" y="0"/>
              </a:moveTo>
              <a:lnTo>
                <a:pt x="0" y="117708"/>
              </a:lnTo>
              <a:lnTo>
                <a:pt x="573827" y="117708"/>
              </a:lnTo>
              <a:lnTo>
                <a:pt x="573827" y="23541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0B7A18-F5CE-4A4A-90A0-CD751009EC6E}">
      <dsp:nvSpPr>
        <dsp:cNvPr id="0" name=""/>
        <dsp:cNvSpPr/>
      </dsp:nvSpPr>
      <dsp:spPr>
        <a:xfrm>
          <a:off x="3171071" y="824799"/>
          <a:ext cx="882810" cy="58854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latin typeface="Helvetica Neue" panose="020B0604020202020204" charset="0"/>
            </a:rPr>
            <a:t>Bifurcations &amp; Energy exchange between modes</a:t>
          </a:r>
        </a:p>
      </dsp:txBody>
      <dsp:txXfrm>
        <a:off x="3188309" y="842037"/>
        <a:ext cx="848334" cy="554064"/>
      </dsp:txXfrm>
    </dsp:sp>
    <dsp:sp modelId="{890BD1BB-3CB6-48B7-90B1-667FE3B7DBF3}">
      <dsp:nvSpPr>
        <dsp:cNvPr id="0" name=""/>
        <dsp:cNvSpPr/>
      </dsp:nvSpPr>
      <dsp:spPr>
        <a:xfrm>
          <a:off x="3038650" y="589382"/>
          <a:ext cx="1721481" cy="235416"/>
        </a:xfrm>
        <a:custGeom>
          <a:avLst/>
          <a:gdLst/>
          <a:ahLst/>
          <a:cxnLst/>
          <a:rect l="0" t="0" r="0" b="0"/>
          <a:pathLst>
            <a:path>
              <a:moveTo>
                <a:pt x="0" y="0"/>
              </a:moveTo>
              <a:lnTo>
                <a:pt x="0" y="117708"/>
              </a:lnTo>
              <a:lnTo>
                <a:pt x="1721481" y="117708"/>
              </a:lnTo>
              <a:lnTo>
                <a:pt x="1721481" y="23541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0848C0-9A03-4940-8AC2-E12DAF1BF06B}">
      <dsp:nvSpPr>
        <dsp:cNvPr id="0" name=""/>
        <dsp:cNvSpPr/>
      </dsp:nvSpPr>
      <dsp:spPr>
        <a:xfrm>
          <a:off x="4318725" y="824799"/>
          <a:ext cx="882810" cy="58854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a:latin typeface="Helvetica Neue" panose="020B0604020202020204" charset="0"/>
            </a:rPr>
            <a:t>Chaos</a:t>
          </a:r>
        </a:p>
      </dsp:txBody>
      <dsp:txXfrm>
        <a:off x="4335963" y="842037"/>
        <a:ext cx="848334" cy="55406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aec2de498e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1aec2de498e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b4b65a85aa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b4b65a85aa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0FDA36C-D215-5E74-ABCE-6DA13256EE9D}"/>
            </a:ext>
          </a:extLst>
        </p:cNvPr>
        <p:cNvGrpSpPr/>
        <p:nvPr/>
      </p:nvGrpSpPr>
      <p:grpSpPr>
        <a:xfrm>
          <a:off x="0" y="0"/>
          <a:ext cx="0" cy="0"/>
          <a:chOff x="0" y="0"/>
          <a:chExt cx="0" cy="0"/>
        </a:xfrm>
      </p:grpSpPr>
      <p:sp>
        <p:nvSpPr>
          <p:cNvPr id="93" name="Google Shape;93;g1b4b65a85aa_0_230:notes">
            <a:extLst>
              <a:ext uri="{FF2B5EF4-FFF2-40B4-BE49-F238E27FC236}">
                <a16:creationId xmlns:a16="http://schemas.microsoft.com/office/drawing/2014/main" id="{607E13FC-7EB1-A4E8-F0D1-6D18B3A6F4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b4b65a85aa_0_230:notes">
            <a:extLst>
              <a:ext uri="{FF2B5EF4-FFF2-40B4-BE49-F238E27FC236}">
                <a16:creationId xmlns:a16="http://schemas.microsoft.com/office/drawing/2014/main" id="{A492D2FF-03FE-A975-A1A1-B7115C78A3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5947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BCEC625-2ED9-1703-44E1-E80CA29AA795}"/>
            </a:ext>
          </a:extLst>
        </p:cNvPr>
        <p:cNvGrpSpPr/>
        <p:nvPr/>
      </p:nvGrpSpPr>
      <p:grpSpPr>
        <a:xfrm>
          <a:off x="0" y="0"/>
          <a:ext cx="0" cy="0"/>
          <a:chOff x="0" y="0"/>
          <a:chExt cx="0" cy="0"/>
        </a:xfrm>
      </p:grpSpPr>
      <p:sp>
        <p:nvSpPr>
          <p:cNvPr id="93" name="Google Shape;93;g1b4b65a85aa_0_230:notes">
            <a:extLst>
              <a:ext uri="{FF2B5EF4-FFF2-40B4-BE49-F238E27FC236}">
                <a16:creationId xmlns:a16="http://schemas.microsoft.com/office/drawing/2014/main" id="{0ECBEDBA-66FD-917D-B90B-A648D49707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b4b65a85aa_0_230:notes">
            <a:extLst>
              <a:ext uri="{FF2B5EF4-FFF2-40B4-BE49-F238E27FC236}">
                <a16:creationId xmlns:a16="http://schemas.microsoft.com/office/drawing/2014/main" id="{CCED5263-D033-2FA9-29BE-5415E591E9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7394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4578A40-128D-D212-BF16-14006609A20A}"/>
            </a:ext>
          </a:extLst>
        </p:cNvPr>
        <p:cNvGrpSpPr/>
        <p:nvPr/>
      </p:nvGrpSpPr>
      <p:grpSpPr>
        <a:xfrm>
          <a:off x="0" y="0"/>
          <a:ext cx="0" cy="0"/>
          <a:chOff x="0" y="0"/>
          <a:chExt cx="0" cy="0"/>
        </a:xfrm>
      </p:grpSpPr>
      <p:sp>
        <p:nvSpPr>
          <p:cNvPr id="93" name="Google Shape;93;g1b4b65a85aa_0_230:notes">
            <a:extLst>
              <a:ext uri="{FF2B5EF4-FFF2-40B4-BE49-F238E27FC236}">
                <a16:creationId xmlns:a16="http://schemas.microsoft.com/office/drawing/2014/main" id="{DD1E7C35-66FF-72FC-A7CE-0CE061F33C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b4b65a85aa_0_230:notes">
            <a:extLst>
              <a:ext uri="{FF2B5EF4-FFF2-40B4-BE49-F238E27FC236}">
                <a16:creationId xmlns:a16="http://schemas.microsoft.com/office/drawing/2014/main" id="{8F69B81E-789C-0183-C2BA-0E14ABDA3F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4130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619ca8403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619ca8403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5DCDE41-9E53-78CB-2965-C1A8DFFA0DD3}"/>
            </a:ext>
          </a:extLst>
        </p:cNvPr>
        <p:cNvGrpSpPr/>
        <p:nvPr/>
      </p:nvGrpSpPr>
      <p:grpSpPr>
        <a:xfrm>
          <a:off x="0" y="0"/>
          <a:ext cx="0" cy="0"/>
          <a:chOff x="0" y="0"/>
          <a:chExt cx="0" cy="0"/>
        </a:xfrm>
      </p:grpSpPr>
      <p:sp>
        <p:nvSpPr>
          <p:cNvPr id="171" name="Google Shape;171;g3619ca8403a_0_24:notes">
            <a:extLst>
              <a:ext uri="{FF2B5EF4-FFF2-40B4-BE49-F238E27FC236}">
                <a16:creationId xmlns:a16="http://schemas.microsoft.com/office/drawing/2014/main" id="{831DBAC4-F57B-CB9B-4DAF-F6927BE9E4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619ca8403a_0_24:notes">
            <a:extLst>
              <a:ext uri="{FF2B5EF4-FFF2-40B4-BE49-F238E27FC236}">
                <a16:creationId xmlns:a16="http://schemas.microsoft.com/office/drawing/2014/main" id="{6E4156DE-57E8-C631-6405-7210F9C76F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7672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B3FE44B-A60F-A4C8-5C27-1A9F9A7E4316}"/>
            </a:ext>
          </a:extLst>
        </p:cNvPr>
        <p:cNvGrpSpPr/>
        <p:nvPr/>
      </p:nvGrpSpPr>
      <p:grpSpPr>
        <a:xfrm>
          <a:off x="0" y="0"/>
          <a:ext cx="0" cy="0"/>
          <a:chOff x="0" y="0"/>
          <a:chExt cx="0" cy="0"/>
        </a:xfrm>
      </p:grpSpPr>
      <p:sp>
        <p:nvSpPr>
          <p:cNvPr id="171" name="Google Shape;171;g3619ca8403a_0_24:notes">
            <a:extLst>
              <a:ext uri="{FF2B5EF4-FFF2-40B4-BE49-F238E27FC236}">
                <a16:creationId xmlns:a16="http://schemas.microsoft.com/office/drawing/2014/main" id="{625C2B75-032E-3B32-D615-C3A4768E21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619ca8403a_0_24:notes">
            <a:extLst>
              <a:ext uri="{FF2B5EF4-FFF2-40B4-BE49-F238E27FC236}">
                <a16:creationId xmlns:a16="http://schemas.microsoft.com/office/drawing/2014/main" id="{7A326169-0584-F87C-E501-A2483C0224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0185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AB221939-11A1-3B09-00C3-23E2362CC576}"/>
            </a:ext>
          </a:extLst>
        </p:cNvPr>
        <p:cNvGrpSpPr/>
        <p:nvPr/>
      </p:nvGrpSpPr>
      <p:grpSpPr>
        <a:xfrm>
          <a:off x="0" y="0"/>
          <a:ext cx="0" cy="0"/>
          <a:chOff x="0" y="0"/>
          <a:chExt cx="0" cy="0"/>
        </a:xfrm>
      </p:grpSpPr>
      <p:sp>
        <p:nvSpPr>
          <p:cNvPr id="201" name="Google Shape;201;g361a45572a0_2_25:notes">
            <a:extLst>
              <a:ext uri="{FF2B5EF4-FFF2-40B4-BE49-F238E27FC236}">
                <a16:creationId xmlns:a16="http://schemas.microsoft.com/office/drawing/2014/main" id="{B70B195D-CD3A-60BF-D029-1941483AC5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1a45572a0_2_25:notes">
            <a:extLst>
              <a:ext uri="{FF2B5EF4-FFF2-40B4-BE49-F238E27FC236}">
                <a16:creationId xmlns:a16="http://schemas.microsoft.com/office/drawing/2014/main" id="{721C50D8-D805-E3B2-848C-FE625EE8D0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0004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B8863484-5E81-EB05-1E89-6CCE507466B3}"/>
            </a:ext>
          </a:extLst>
        </p:cNvPr>
        <p:cNvGrpSpPr/>
        <p:nvPr/>
      </p:nvGrpSpPr>
      <p:grpSpPr>
        <a:xfrm>
          <a:off x="0" y="0"/>
          <a:ext cx="0" cy="0"/>
          <a:chOff x="0" y="0"/>
          <a:chExt cx="0" cy="0"/>
        </a:xfrm>
      </p:grpSpPr>
      <p:sp>
        <p:nvSpPr>
          <p:cNvPr id="201" name="Google Shape;201;g361a45572a0_2_25:notes">
            <a:extLst>
              <a:ext uri="{FF2B5EF4-FFF2-40B4-BE49-F238E27FC236}">
                <a16:creationId xmlns:a16="http://schemas.microsoft.com/office/drawing/2014/main" id="{ECECAA9B-020C-03B4-F2ED-6A062CC87E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1a45572a0_2_25:notes">
            <a:extLst>
              <a:ext uri="{FF2B5EF4-FFF2-40B4-BE49-F238E27FC236}">
                <a16:creationId xmlns:a16="http://schemas.microsoft.com/office/drawing/2014/main" id="{E8E6D572-C79B-203B-6CB1-E7F8F550B9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7398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61fd4cf09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61fd4cf09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63D19AEB-1D81-01E4-5AFF-F740568EAB2B}"/>
            </a:ext>
          </a:extLst>
        </p:cNvPr>
        <p:cNvGrpSpPr/>
        <p:nvPr/>
      </p:nvGrpSpPr>
      <p:grpSpPr>
        <a:xfrm>
          <a:off x="0" y="0"/>
          <a:ext cx="0" cy="0"/>
          <a:chOff x="0" y="0"/>
          <a:chExt cx="0" cy="0"/>
        </a:xfrm>
      </p:grpSpPr>
      <p:sp>
        <p:nvSpPr>
          <p:cNvPr id="224" name="Google Shape;224;g361fd4cf09b_1_0:notes">
            <a:extLst>
              <a:ext uri="{FF2B5EF4-FFF2-40B4-BE49-F238E27FC236}">
                <a16:creationId xmlns:a16="http://schemas.microsoft.com/office/drawing/2014/main" id="{DCAFCC09-E827-9426-5B1D-DF4A511070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61fd4cf09b_1_0:notes">
            <a:extLst>
              <a:ext uri="{FF2B5EF4-FFF2-40B4-BE49-F238E27FC236}">
                <a16:creationId xmlns:a16="http://schemas.microsoft.com/office/drawing/2014/main" id="{821C101D-D1BA-6DEB-5A9A-6F61755843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1454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3" name="Google Shape;13;p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4" name="Google Shape;14;p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7" name="Google Shape;17;p3"/>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18" name="Google Shape;18;p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9" name="Google Shape;19;p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0" name="Google Shape;20;p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3" name="Google Shape;23;p4"/>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24" name="Google Shape;24;p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5" name="Google Shape;25;p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6" name="Google Shape;26;p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9" name="Google Shape;29;p5"/>
          <p:cNvSpPr txBox="1">
            <a:spLocks noGrp="1"/>
          </p:cNvSpPr>
          <p:nvPr>
            <p:ph type="body" idx="1"/>
          </p:nvPr>
        </p:nvSpPr>
        <p:spPr>
          <a:xfrm>
            <a:off x="361156" y="1453357"/>
            <a:ext cx="3886200" cy="7500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30" name="Google Shape;30;p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1" name="Google Shape;31;p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2" name="Google Shape;32;p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35" name="Google Shape;35;p6"/>
          <p:cNvSpPr txBox="1">
            <a:spLocks noGrp="1"/>
          </p:cNvSpPr>
          <p:nvPr>
            <p:ph type="body" idx="1"/>
          </p:nvPr>
        </p:nvSpPr>
        <p:spPr>
          <a:xfrm>
            <a:off x="2286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36" name="Google Shape;36;p6"/>
          <p:cNvSpPr txBox="1">
            <a:spLocks noGrp="1"/>
          </p:cNvSpPr>
          <p:nvPr>
            <p:ph type="body" idx="2"/>
          </p:nvPr>
        </p:nvSpPr>
        <p:spPr>
          <a:xfrm>
            <a:off x="23241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37" name="Google Shape;37;p6"/>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8" name="Google Shape;38;p6"/>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9" name="Google Shape;39;p6"/>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2" name="Google Shape;42;p7"/>
          <p:cNvSpPr txBox="1">
            <a:spLocks noGrp="1"/>
          </p:cNvSpPr>
          <p:nvPr>
            <p:ph type="body" idx="1"/>
          </p:nvPr>
        </p:nvSpPr>
        <p:spPr>
          <a:xfrm>
            <a:off x="228600" y="767556"/>
            <a:ext cx="20202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43" name="Google Shape;43;p7"/>
          <p:cNvSpPr txBox="1">
            <a:spLocks noGrp="1"/>
          </p:cNvSpPr>
          <p:nvPr>
            <p:ph type="body" idx="2"/>
          </p:nvPr>
        </p:nvSpPr>
        <p:spPr>
          <a:xfrm>
            <a:off x="228600" y="1087438"/>
            <a:ext cx="20202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44" name="Google Shape;44;p7"/>
          <p:cNvSpPr txBox="1">
            <a:spLocks noGrp="1"/>
          </p:cNvSpPr>
          <p:nvPr>
            <p:ph type="body" idx="3"/>
          </p:nvPr>
        </p:nvSpPr>
        <p:spPr>
          <a:xfrm>
            <a:off x="2322513" y="767556"/>
            <a:ext cx="20208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45" name="Google Shape;45;p7"/>
          <p:cNvSpPr txBox="1">
            <a:spLocks noGrp="1"/>
          </p:cNvSpPr>
          <p:nvPr>
            <p:ph type="body" idx="4"/>
          </p:nvPr>
        </p:nvSpPr>
        <p:spPr>
          <a:xfrm>
            <a:off x="2322513" y="1087438"/>
            <a:ext cx="20208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46" name="Google Shape;46;p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7" name="Google Shape;47;p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8" name="Google Shape;48;p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51" name="Google Shape;51;p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2" name="Google Shape;52;p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3" name="Google Shape;53;p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56" name="Google Shape;56;p9"/>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57" name="Google Shape;57;p9"/>
          <p:cNvSpPr txBox="1">
            <a:spLocks noGrp="1"/>
          </p:cNvSpPr>
          <p:nvPr>
            <p:ph type="body" idx="2"/>
          </p:nvPr>
        </p:nvSpPr>
        <p:spPr>
          <a:xfrm>
            <a:off x="228600" y="717550"/>
            <a:ext cx="1504200" cy="23454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58" name="Google Shape;58;p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p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0" name="Google Shape;60;p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3" name="Google Shape;63;p10"/>
          <p:cNvSpPr>
            <a:spLocks noGrp="1"/>
          </p:cNvSpPr>
          <p:nvPr>
            <p:ph type="pic" idx="2"/>
          </p:nvPr>
        </p:nvSpPr>
        <p:spPr>
          <a:xfrm>
            <a:off x="896144" y="306388"/>
            <a:ext cx="2743200" cy="2057400"/>
          </a:xfrm>
          <a:prstGeom prst="rect">
            <a:avLst/>
          </a:prstGeom>
          <a:noFill/>
          <a:ln>
            <a:noFill/>
          </a:ln>
        </p:spPr>
      </p:sp>
      <p:sp>
        <p:nvSpPr>
          <p:cNvPr id="64" name="Google Shape;64;p10"/>
          <p:cNvSpPr txBox="1">
            <a:spLocks noGrp="1"/>
          </p:cNvSpPr>
          <p:nvPr>
            <p:ph type="body" idx="1"/>
          </p:nvPr>
        </p:nvSpPr>
        <p:spPr>
          <a:xfrm>
            <a:off x="896144" y="2683669"/>
            <a:ext cx="2743200" cy="4023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65" name="Google Shape;65;p10"/>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6" name="Google Shape;66;p10"/>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7" name="Google Shape;67;p10"/>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0" name="Google Shape;70;p11"/>
          <p:cNvSpPr txBox="1">
            <a:spLocks noGrp="1"/>
          </p:cNvSpPr>
          <p:nvPr>
            <p:ph type="body" idx="1"/>
          </p:nvPr>
        </p:nvSpPr>
        <p:spPr>
          <a:xfrm rot="5400000">
            <a:off x="1154550" y="-125850"/>
            <a:ext cx="2262900"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1" name="Google Shape;71;p1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2" name="Google Shape;72;p1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p1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6" name="Google Shape;76;p12"/>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7" name="Google Shape;77;p1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8" name="Google Shape;78;p1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p1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7" name="Google Shape;7;p1"/>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13" Type="http://schemas.openxmlformats.org/officeDocument/2006/relationships/image" Target="../media/image28.png"/><Relationship Id="rId3" Type="http://schemas.microsoft.com/office/2007/relationships/media" Target="../media/media2.mp4"/><Relationship Id="rId7" Type="http://schemas.openxmlformats.org/officeDocument/2006/relationships/slideLayout" Target="../slideLayouts/slideLayout1.xml"/><Relationship Id="rId12" Type="http://schemas.openxmlformats.org/officeDocument/2006/relationships/image" Target="../media/image27.png"/><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video" Target="../media/media3.mp4"/><Relationship Id="rId11" Type="http://schemas.openxmlformats.org/officeDocument/2006/relationships/image" Target="../media/image26.png"/><Relationship Id="rId5" Type="http://schemas.microsoft.com/office/2007/relationships/media" Target="../media/media3.mp4"/><Relationship Id="rId10" Type="http://schemas.openxmlformats.org/officeDocument/2006/relationships/image" Target="../media/image25.png"/><Relationship Id="rId4" Type="http://schemas.openxmlformats.org/officeDocument/2006/relationships/video" Target="../media/media2.mp4"/><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slideLayout" Target="../slideLayouts/slideLayout1.xml"/><Relationship Id="rId7" Type="http://schemas.openxmlformats.org/officeDocument/2006/relationships/image" Target="../media/image31.png"/><Relationship Id="rId2" Type="http://schemas.microsoft.com/office/2007/relationships/media" Target="../media/media4.mp3"/><Relationship Id="rId1" Type="http://schemas.openxmlformats.org/officeDocument/2006/relationships/audio" Target="NULL" TargetMode="Externa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10.xml"/><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3"/>
          <p:cNvSpPr txBox="1"/>
          <p:nvPr/>
        </p:nvSpPr>
        <p:spPr>
          <a:xfrm>
            <a:off x="319425" y="3471275"/>
            <a:ext cx="4317000" cy="60936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200" dirty="0">
                <a:solidFill>
                  <a:schemeClr val="dk1"/>
                </a:solidFill>
                <a:latin typeface="Helvetica Neue"/>
                <a:ea typeface="Helvetica Neue"/>
                <a:cs typeface="Helvetica Neue"/>
                <a:sym typeface="Helvetica Neue"/>
              </a:rPr>
              <a:t>Nonlinear Dynamics</a:t>
            </a:r>
            <a:endParaRPr lang="en-ID" sz="1200" dirty="0">
              <a:solidFill>
                <a:schemeClr val="dk1"/>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ID" sz="1200" dirty="0">
                <a:solidFill>
                  <a:schemeClr val="dk1"/>
                </a:solidFill>
                <a:latin typeface="Helvetica Neue"/>
                <a:ea typeface="Helvetica Neue"/>
                <a:cs typeface="Helvetica Neue"/>
                <a:sym typeface="Helvetica Neue"/>
              </a:rPr>
              <a:t>_______________________________________</a:t>
            </a:r>
          </a:p>
        </p:txBody>
      </p:sp>
      <p:sp>
        <p:nvSpPr>
          <p:cNvPr id="85" name="Google Shape;85;p13"/>
          <p:cNvSpPr txBox="1"/>
          <p:nvPr/>
        </p:nvSpPr>
        <p:spPr>
          <a:xfrm>
            <a:off x="399975" y="1053173"/>
            <a:ext cx="8155800" cy="77867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 sz="2200" b="1" dirty="0">
                <a:solidFill>
                  <a:srgbClr val="980000"/>
                </a:solidFill>
                <a:latin typeface="Helvetica Neue"/>
                <a:ea typeface="Helvetica Neue"/>
                <a:cs typeface="Helvetica Neue"/>
                <a:sym typeface="Helvetica Neue"/>
              </a:rPr>
              <a:t>Bibliographic Study:</a:t>
            </a:r>
            <a:endParaRPr sz="2200" b="1" dirty="0">
              <a:solidFill>
                <a:srgbClr val="980000"/>
              </a:solidFill>
              <a:latin typeface="Helvetica Neue"/>
              <a:ea typeface="Helvetica Neue"/>
              <a:cs typeface="Helvetica Neue"/>
              <a:sym typeface="Helvetica Neue"/>
            </a:endParaRPr>
          </a:p>
          <a:p>
            <a:pPr>
              <a:lnSpc>
                <a:spcPct val="115000"/>
              </a:lnSpc>
            </a:pPr>
            <a:r>
              <a:rPr lang="en" sz="2200" dirty="0">
                <a:solidFill>
                  <a:srgbClr val="980000"/>
                </a:solidFill>
                <a:latin typeface="Helvetica Neue"/>
                <a:ea typeface="Helvetica Neue"/>
                <a:cs typeface="Helvetica Neue"/>
                <a:sym typeface="Helvetica Neue"/>
              </a:rPr>
              <a:t>Nonlinear Vibrations and Chaos in Gongs and Cymbals</a:t>
            </a:r>
            <a:endParaRPr sz="2200" dirty="0">
              <a:solidFill>
                <a:srgbClr val="980000"/>
              </a:solidFill>
              <a:latin typeface="Helvetica Neue"/>
              <a:ea typeface="Helvetica Neue"/>
              <a:cs typeface="Helvetica Neue"/>
              <a:sym typeface="Helvetica Neue"/>
            </a:endParaRPr>
          </a:p>
        </p:txBody>
      </p:sp>
      <p:sp>
        <p:nvSpPr>
          <p:cNvPr id="86" name="Google Shape;86;p13"/>
          <p:cNvSpPr txBox="1"/>
          <p:nvPr/>
        </p:nvSpPr>
        <p:spPr>
          <a:xfrm>
            <a:off x="399963" y="4071356"/>
            <a:ext cx="2932800" cy="884858"/>
          </a:xfrm>
          <a:prstGeom prst="rect">
            <a:avLst/>
          </a:prstGeom>
          <a:noFill/>
          <a:ln>
            <a:noFill/>
          </a:ln>
        </p:spPr>
        <p:txBody>
          <a:bodyPr spcFirstLastPara="1" wrap="square" lIns="0" tIns="0" rIns="0" bIns="0" anchor="t" anchorCtr="0">
            <a:spAutoFit/>
          </a:bodyPr>
          <a:lstStyle/>
          <a:p>
            <a:pPr>
              <a:lnSpc>
                <a:spcPct val="114999"/>
              </a:lnSpc>
            </a:pPr>
            <a:r>
              <a:rPr lang="en" sz="1000" dirty="0">
                <a:solidFill>
                  <a:schemeClr val="dk1"/>
                </a:solidFill>
                <a:latin typeface="Helvetica Neue"/>
                <a:sym typeface="Helvetica Neue"/>
              </a:rPr>
              <a:t>Ali Saqib</a:t>
            </a:r>
            <a:endParaRPr lang="en-US" dirty="0"/>
          </a:p>
          <a:p>
            <a:pPr marL="0" marR="0" lvl="0" indent="0" algn="l" rtl="0">
              <a:lnSpc>
                <a:spcPct val="115000"/>
              </a:lnSpc>
              <a:spcBef>
                <a:spcPts val="0"/>
              </a:spcBef>
              <a:spcAft>
                <a:spcPts val="0"/>
              </a:spcAft>
              <a:buNone/>
            </a:pPr>
            <a:r>
              <a:rPr lang="en" sz="1000" dirty="0">
                <a:solidFill>
                  <a:schemeClr val="dk1"/>
                </a:solidFill>
                <a:latin typeface="Helvetica Neue"/>
                <a:ea typeface="Helvetica Neue"/>
                <a:cs typeface="Helvetica Neue"/>
                <a:sym typeface="Helvetica Neue"/>
              </a:rPr>
              <a:t>Shahariar Ryehan</a:t>
            </a:r>
          </a:p>
          <a:p>
            <a:pPr marL="0" marR="0" lvl="0" indent="0" algn="l" rtl="0">
              <a:lnSpc>
                <a:spcPct val="115000"/>
              </a:lnSpc>
              <a:spcBef>
                <a:spcPts val="0"/>
              </a:spcBef>
              <a:spcAft>
                <a:spcPts val="0"/>
              </a:spcAft>
              <a:buNone/>
            </a:pPr>
            <a:r>
              <a:rPr lang="en" sz="1000" dirty="0">
                <a:solidFill>
                  <a:schemeClr val="dk1"/>
                </a:solidFill>
                <a:latin typeface="Helvetica Neue"/>
                <a:ea typeface="Helvetica Neue"/>
                <a:cs typeface="Helvetica Neue"/>
                <a:sym typeface="Helvetica Neue"/>
              </a:rPr>
              <a:t>Subarna Paudel</a:t>
            </a:r>
          </a:p>
          <a:p>
            <a:pPr marL="0" marR="0" lvl="0" indent="0" algn="l" rtl="0">
              <a:lnSpc>
                <a:spcPct val="115000"/>
              </a:lnSpc>
              <a:spcBef>
                <a:spcPts val="0"/>
              </a:spcBef>
              <a:spcAft>
                <a:spcPts val="0"/>
              </a:spcAft>
              <a:buNone/>
            </a:pPr>
            <a:r>
              <a:rPr lang="en" sz="1000" dirty="0">
                <a:solidFill>
                  <a:schemeClr val="dk1"/>
                </a:solidFill>
                <a:latin typeface="Helvetica Neue"/>
                <a:ea typeface="Helvetica Neue"/>
                <a:cs typeface="Helvetica Neue"/>
                <a:sym typeface="Helvetica Neue"/>
              </a:rPr>
              <a:t>Timothy Nathaniel Gunawan</a:t>
            </a:r>
            <a:endParaRPr sz="1000" dirty="0">
              <a:solidFill>
                <a:schemeClr val="dk1"/>
              </a:solidFill>
              <a:latin typeface="Helvetica Neue"/>
              <a:ea typeface="Helvetica Neue"/>
              <a:cs typeface="Helvetica Neue"/>
              <a:sym typeface="Helvetica Neue"/>
            </a:endParaRPr>
          </a:p>
          <a:p>
            <a:pPr marL="0" marR="0" lvl="0" indent="0" algn="l" rtl="0">
              <a:lnSpc>
                <a:spcPct val="115000"/>
              </a:lnSpc>
              <a:spcBef>
                <a:spcPts val="0"/>
              </a:spcBef>
              <a:spcAft>
                <a:spcPts val="0"/>
              </a:spcAft>
              <a:buNone/>
            </a:pPr>
            <a:r>
              <a:rPr lang="en" sz="900" dirty="0">
                <a:solidFill>
                  <a:srgbClr val="222222"/>
                </a:solidFill>
                <a:highlight>
                  <a:srgbClr val="FFFFFF"/>
                </a:highlight>
              </a:rPr>
              <a:t> </a:t>
            </a:r>
            <a:endParaRPr sz="1000" dirty="0">
              <a:solidFill>
                <a:schemeClr val="dk1"/>
              </a:solidFill>
              <a:latin typeface="Helvetica Neue"/>
              <a:ea typeface="Helvetica Neue"/>
              <a:cs typeface="Helvetica Neue"/>
              <a:sym typeface="Helvetica Neue"/>
            </a:endParaRPr>
          </a:p>
        </p:txBody>
      </p:sp>
      <p:sp>
        <p:nvSpPr>
          <p:cNvPr id="87" name="Google Shape;87;p13"/>
          <p:cNvSpPr/>
          <p:nvPr/>
        </p:nvSpPr>
        <p:spPr>
          <a:xfrm>
            <a:off x="0" y="4843000"/>
            <a:ext cx="9144000" cy="300600"/>
          </a:xfrm>
          <a:prstGeom prst="rect">
            <a:avLst/>
          </a:prstGeom>
          <a:solidFill>
            <a:srgbClr val="98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pic>
        <p:nvPicPr>
          <p:cNvPr id="88" name="Google Shape;88;p13"/>
          <p:cNvPicPr preferRelativeResize="0"/>
          <p:nvPr/>
        </p:nvPicPr>
        <p:blipFill>
          <a:blip r:embed="rId3">
            <a:alphaModFix/>
          </a:blip>
          <a:stretch>
            <a:fillRect/>
          </a:stretch>
        </p:blipFill>
        <p:spPr>
          <a:xfrm>
            <a:off x="5996029" y="374763"/>
            <a:ext cx="1205268" cy="392550"/>
          </a:xfrm>
          <a:prstGeom prst="rect">
            <a:avLst/>
          </a:prstGeom>
          <a:noFill/>
          <a:ln>
            <a:noFill/>
          </a:ln>
        </p:spPr>
      </p:pic>
      <p:pic>
        <p:nvPicPr>
          <p:cNvPr id="90" name="Google Shape;90;p13"/>
          <p:cNvPicPr preferRelativeResize="0"/>
          <p:nvPr/>
        </p:nvPicPr>
        <p:blipFill>
          <a:blip r:embed="rId4">
            <a:alphaModFix/>
          </a:blip>
          <a:stretch>
            <a:fillRect/>
          </a:stretch>
        </p:blipFill>
        <p:spPr>
          <a:xfrm>
            <a:off x="5011800" y="2083022"/>
            <a:ext cx="3590400" cy="1879500"/>
          </a:xfrm>
          <a:prstGeom prst="round2DiagRect">
            <a:avLst>
              <a:gd name="adj1" fmla="val 16667"/>
              <a:gd name="adj2" fmla="val 0"/>
            </a:avLst>
          </a:prstGeom>
          <a:noFill/>
          <a:ln>
            <a:noFill/>
          </a:ln>
        </p:spPr>
      </p:pic>
      <p:pic>
        <p:nvPicPr>
          <p:cNvPr id="91" name="Google Shape;91;p13"/>
          <p:cNvPicPr preferRelativeResize="0"/>
          <p:nvPr/>
        </p:nvPicPr>
        <p:blipFill rotWithShape="1">
          <a:blip r:embed="rId5">
            <a:alphaModFix/>
          </a:blip>
          <a:srcRect l="10024" r="13744"/>
          <a:stretch/>
        </p:blipFill>
        <p:spPr>
          <a:xfrm>
            <a:off x="3332776" y="2083025"/>
            <a:ext cx="2736900" cy="1879200"/>
          </a:xfrm>
          <a:prstGeom prst="round2DiagRect">
            <a:avLst>
              <a:gd name="adj1" fmla="val 16667"/>
              <a:gd name="adj2" fmla="val 0"/>
            </a:avLst>
          </a:prstGeom>
          <a:noFill/>
          <a:ln>
            <a:noFill/>
          </a:ln>
        </p:spPr>
      </p:pic>
      <p:sp>
        <p:nvSpPr>
          <p:cNvPr id="2" name="Google Shape;85;p13">
            <a:extLst>
              <a:ext uri="{FF2B5EF4-FFF2-40B4-BE49-F238E27FC236}">
                <a16:creationId xmlns:a16="http://schemas.microsoft.com/office/drawing/2014/main" id="{578A6BEB-8AB9-6D4B-9108-39F6B08A0294}"/>
              </a:ext>
            </a:extLst>
          </p:cNvPr>
          <p:cNvSpPr txBox="1"/>
          <p:nvPr/>
        </p:nvSpPr>
        <p:spPr>
          <a:xfrm>
            <a:off x="399963" y="2018400"/>
            <a:ext cx="3013338" cy="8848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 b="1" dirty="0">
                <a:solidFill>
                  <a:srgbClr val="980000"/>
                </a:solidFill>
                <a:latin typeface="Helvetica Neue"/>
                <a:ea typeface="Helvetica Neue"/>
                <a:cs typeface="Helvetica Neue"/>
                <a:sym typeface="Helvetica Neue"/>
              </a:rPr>
              <a:t>Author:</a:t>
            </a:r>
          </a:p>
          <a:p>
            <a:pPr lvl="0">
              <a:lnSpc>
                <a:spcPct val="115000"/>
              </a:lnSpc>
            </a:pPr>
            <a:r>
              <a:rPr lang="en-ID" sz="1000" dirty="0">
                <a:solidFill>
                  <a:srgbClr val="980000"/>
                </a:solidFill>
                <a:latin typeface="Helvetica Neue"/>
              </a:rPr>
              <a:t>Antoine </a:t>
            </a:r>
            <a:r>
              <a:rPr lang="en-ID" sz="1000" dirty="0" err="1">
                <a:solidFill>
                  <a:srgbClr val="980000"/>
                </a:solidFill>
                <a:latin typeface="Helvetica Neue"/>
              </a:rPr>
              <a:t>Chaigne</a:t>
            </a:r>
            <a:endParaRPr lang="en-ID" sz="1000" dirty="0">
              <a:solidFill>
                <a:srgbClr val="980000"/>
              </a:solidFill>
              <a:latin typeface="Helvetica Neue"/>
            </a:endParaRPr>
          </a:p>
          <a:p>
            <a:pPr lvl="0">
              <a:lnSpc>
                <a:spcPct val="115000"/>
              </a:lnSpc>
            </a:pPr>
            <a:r>
              <a:rPr lang="en-ID" sz="1000" dirty="0">
                <a:solidFill>
                  <a:srgbClr val="980000"/>
                </a:solidFill>
                <a:latin typeface="Helvetica Neue"/>
              </a:rPr>
              <a:t>Cyril </a:t>
            </a:r>
            <a:r>
              <a:rPr lang="en-ID" sz="1000" dirty="0" err="1">
                <a:solidFill>
                  <a:srgbClr val="980000"/>
                </a:solidFill>
                <a:latin typeface="Helvetica Neue"/>
              </a:rPr>
              <a:t>Touzé</a:t>
            </a:r>
            <a:endParaRPr lang="en-ID" sz="1000" dirty="0">
              <a:solidFill>
                <a:srgbClr val="980000"/>
              </a:solidFill>
              <a:latin typeface="Helvetica Neue"/>
            </a:endParaRPr>
          </a:p>
          <a:p>
            <a:pPr lvl="0">
              <a:lnSpc>
                <a:spcPct val="115000"/>
              </a:lnSpc>
            </a:pPr>
            <a:r>
              <a:rPr lang="en-ID" sz="1000" dirty="0">
                <a:solidFill>
                  <a:srgbClr val="980000"/>
                </a:solidFill>
                <a:latin typeface="Helvetica Neue"/>
              </a:rPr>
              <a:t>Olivier Thomas</a:t>
            </a:r>
            <a:endParaRPr lang="en-US" sz="1000" dirty="0">
              <a:solidFill>
                <a:srgbClr val="980000"/>
              </a:solidFill>
              <a:latin typeface="Helvetica Neue"/>
              <a:sym typeface="Helvetica Neue"/>
            </a:endParaRPr>
          </a:p>
          <a:p>
            <a:pPr marL="0" marR="0" lvl="0" indent="0" algn="l" rtl="0">
              <a:lnSpc>
                <a:spcPct val="115000"/>
              </a:lnSpc>
              <a:spcBef>
                <a:spcPts val="0"/>
              </a:spcBef>
              <a:spcAft>
                <a:spcPts val="0"/>
              </a:spcAft>
              <a:buNone/>
            </a:pPr>
            <a:endParaRPr lang="en-US" sz="1000" dirty="0">
              <a:solidFill>
                <a:srgbClr val="980000"/>
              </a:solidFill>
              <a:latin typeface="Helvetica Neue"/>
              <a:ea typeface="Helvetica Neue"/>
              <a:cs typeface="Helvetica Neue"/>
              <a:sym typeface="Helvetica Neue"/>
            </a:endParaRPr>
          </a:p>
        </p:txBody>
      </p:sp>
      <p:pic>
        <p:nvPicPr>
          <p:cNvPr id="3" name="Picture 2" descr="A yellow and blue spiral&#10;&#10;AI-generated content may be incorrect.">
            <a:extLst>
              <a:ext uri="{FF2B5EF4-FFF2-40B4-BE49-F238E27FC236}">
                <a16:creationId xmlns:a16="http://schemas.microsoft.com/office/drawing/2014/main" id="{B68BFDB7-B265-1FA4-2FDC-3ADE6DC6C0EA}"/>
              </a:ext>
            </a:extLst>
          </p:cNvPr>
          <p:cNvPicPr>
            <a:picLocks noChangeAspect="1"/>
          </p:cNvPicPr>
          <p:nvPr/>
        </p:nvPicPr>
        <p:blipFill>
          <a:blip r:embed="rId6"/>
          <a:stretch>
            <a:fillRect/>
          </a:stretch>
        </p:blipFill>
        <p:spPr>
          <a:xfrm>
            <a:off x="2224615" y="295275"/>
            <a:ext cx="1114426" cy="552451"/>
          </a:xfrm>
          <a:prstGeom prst="rect">
            <a:avLst/>
          </a:prstGeom>
        </p:spPr>
      </p:pic>
      <p:pic>
        <p:nvPicPr>
          <p:cNvPr id="4" name="Picture 3" descr="A blue letter on a black background&#10;&#10;AI-generated content may be incorrect.">
            <a:extLst>
              <a:ext uri="{FF2B5EF4-FFF2-40B4-BE49-F238E27FC236}">
                <a16:creationId xmlns:a16="http://schemas.microsoft.com/office/drawing/2014/main" id="{8918E0DB-8D41-27B4-ABA9-B87698C76EEF}"/>
              </a:ext>
            </a:extLst>
          </p:cNvPr>
          <p:cNvPicPr>
            <a:picLocks noChangeAspect="1"/>
          </p:cNvPicPr>
          <p:nvPr/>
        </p:nvPicPr>
        <p:blipFill>
          <a:blip r:embed="rId7"/>
          <a:stretch>
            <a:fillRect/>
          </a:stretch>
        </p:blipFill>
        <p:spPr>
          <a:xfrm>
            <a:off x="3970734" y="295276"/>
            <a:ext cx="1202532" cy="552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14"/>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dirty="0">
                <a:solidFill>
                  <a:srgbClr val="666666"/>
                </a:solidFill>
                <a:latin typeface="Helvetica Neue"/>
                <a:ea typeface="Helvetica Neue"/>
                <a:cs typeface="Helvetica Neue"/>
                <a:sym typeface="Helvetica Neue"/>
              </a:rPr>
              <a:t>1/10</a:t>
            </a:r>
            <a:br>
              <a:rPr lang="en" sz="800" dirty="0">
                <a:solidFill>
                  <a:srgbClr val="666666"/>
                </a:solidFill>
                <a:latin typeface="Helvetica Neue"/>
                <a:ea typeface="Helvetica Neue"/>
                <a:cs typeface="Helvetica Neue"/>
                <a:sym typeface="Helvetica Neue"/>
              </a:rPr>
            </a:br>
            <a:r>
              <a:rPr lang="en-US" sz="800" dirty="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dirty="0">
              <a:solidFill>
                <a:srgbClr val="666666"/>
              </a:solidFill>
              <a:latin typeface="Helvetica Neue"/>
              <a:ea typeface="Helvetica Neue"/>
              <a:cs typeface="Helvetica Neue"/>
              <a:sym typeface="Helvetica Neue"/>
            </a:endParaRPr>
          </a:p>
        </p:txBody>
      </p:sp>
      <p:sp>
        <p:nvSpPr>
          <p:cNvPr id="2" name="Google Shape;106;p15">
            <a:extLst>
              <a:ext uri="{FF2B5EF4-FFF2-40B4-BE49-F238E27FC236}">
                <a16:creationId xmlns:a16="http://schemas.microsoft.com/office/drawing/2014/main" id="{13A36A5A-03EB-AF55-7F38-A07CA2D26403}"/>
              </a:ext>
            </a:extLst>
          </p:cNvPr>
          <p:cNvSpPr/>
          <p:nvPr/>
        </p:nvSpPr>
        <p:spPr>
          <a:xfrm>
            <a:off x="106313" y="4795750"/>
            <a:ext cx="2922000" cy="267000"/>
          </a:xfrm>
          <a:prstGeom prst="roundRect">
            <a:avLst>
              <a:gd name="adj" fmla="val 16667"/>
            </a:avLst>
          </a:prstGeom>
          <a:solidFill>
            <a:srgbClr val="980000"/>
          </a:solidFill>
          <a:ln>
            <a:noFill/>
          </a:ln>
        </p:spPr>
        <p:txBody>
          <a:bodyPr spcFirstLastPara="1" wrap="square" lIns="45725" tIns="45725" rIns="45725" bIns="45725" anchor="ctr" anchorCtr="0">
            <a:noAutofit/>
          </a:bodyPr>
          <a:lstStyle/>
          <a:p>
            <a:pPr marL="0" lvl="0" indent="0" algn="ctr" rtl="0">
              <a:spcBef>
                <a:spcPts val="0"/>
              </a:spcBef>
              <a:spcAft>
                <a:spcPts val="0"/>
              </a:spcAft>
              <a:buNone/>
            </a:pPr>
            <a:r>
              <a:rPr lang="en" sz="900" b="1">
                <a:solidFill>
                  <a:schemeClr val="lt1"/>
                </a:solidFill>
                <a:latin typeface="Helvetica Neue"/>
                <a:ea typeface="Helvetica Neue"/>
                <a:cs typeface="Helvetica Neue"/>
                <a:sym typeface="Helvetica Neue"/>
              </a:rPr>
              <a:t>Introduction</a:t>
            </a:r>
            <a:endParaRPr sz="900" b="1">
              <a:solidFill>
                <a:schemeClr val="lt1"/>
              </a:solidFill>
              <a:latin typeface="Helvetica Neue"/>
              <a:ea typeface="Helvetica Neue"/>
              <a:cs typeface="Helvetica Neue"/>
              <a:sym typeface="Helvetica Neue"/>
            </a:endParaRPr>
          </a:p>
        </p:txBody>
      </p:sp>
      <p:sp>
        <p:nvSpPr>
          <p:cNvPr id="3" name="Google Shape;107;p15">
            <a:extLst>
              <a:ext uri="{FF2B5EF4-FFF2-40B4-BE49-F238E27FC236}">
                <a16:creationId xmlns:a16="http://schemas.microsoft.com/office/drawing/2014/main" id="{820C1498-4F07-79AB-E805-2D5AFA737D1F}"/>
              </a:ext>
            </a:extLst>
          </p:cNvPr>
          <p:cNvSpPr/>
          <p:nvPr/>
        </p:nvSpPr>
        <p:spPr>
          <a:xfrm>
            <a:off x="3111004"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lvl="0" algn="ctr"/>
            <a:r>
              <a:rPr lang="en-ID" sz="900" b="1">
                <a:solidFill>
                  <a:schemeClr val="dk1"/>
                </a:solidFill>
                <a:latin typeface="Helvetica Neue"/>
                <a:ea typeface="Helvetica Neue"/>
                <a:cs typeface="Helvetica Neue"/>
                <a:sym typeface="Helvetica Neue"/>
              </a:rPr>
              <a:t>Summary of Experiments</a:t>
            </a:r>
          </a:p>
        </p:txBody>
      </p:sp>
      <p:sp>
        <p:nvSpPr>
          <p:cNvPr id="4" name="Google Shape;108;p15">
            <a:extLst>
              <a:ext uri="{FF2B5EF4-FFF2-40B4-BE49-F238E27FC236}">
                <a16:creationId xmlns:a16="http://schemas.microsoft.com/office/drawing/2014/main" id="{931BB8C5-BF24-F10F-992F-BE1CADD4D236}"/>
              </a:ext>
            </a:extLst>
          </p:cNvPr>
          <p:cNvSpPr/>
          <p:nvPr/>
        </p:nvSpPr>
        <p:spPr>
          <a:xfrm>
            <a:off x="6115691"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None/>
            </a:pPr>
            <a:r>
              <a:rPr lang="en" sz="900" b="1">
                <a:solidFill>
                  <a:schemeClr val="dk1"/>
                </a:solidFill>
                <a:latin typeface="Helvetica Neue"/>
                <a:ea typeface="Helvetica Neue"/>
                <a:cs typeface="Helvetica Neue"/>
                <a:sym typeface="Helvetica Neue"/>
              </a:rPr>
              <a:t>Analysis &amp; Discussion</a:t>
            </a:r>
            <a:endParaRPr sz="900" b="1">
              <a:solidFill>
                <a:schemeClr val="dk1"/>
              </a:solidFill>
              <a:latin typeface="Helvetica Neue"/>
              <a:ea typeface="Helvetica Neue"/>
              <a:cs typeface="Helvetica Neue"/>
              <a:sym typeface="Helvetica Neue"/>
            </a:endParaRPr>
          </a:p>
        </p:txBody>
      </p:sp>
      <p:pic>
        <p:nvPicPr>
          <p:cNvPr id="1026" name="Picture 2" descr="Synchron Cymbals &amp; Gongs I | VSL - Vienna Symphonic Library |  bestservice.com | DE">
            <a:extLst>
              <a:ext uri="{FF2B5EF4-FFF2-40B4-BE49-F238E27FC236}">
                <a16:creationId xmlns:a16="http://schemas.microsoft.com/office/drawing/2014/main" id="{51426A7B-CE8D-0208-2553-9C1D61AF6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78207"/>
            <a:ext cx="4523779" cy="188247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Google Shape;174;p18">
            <a:extLst>
              <a:ext uri="{FF2B5EF4-FFF2-40B4-BE49-F238E27FC236}">
                <a16:creationId xmlns:a16="http://schemas.microsoft.com/office/drawing/2014/main" id="{F339D773-3753-D81D-0C46-BFBF552F3889}"/>
              </a:ext>
            </a:extLst>
          </p:cNvPr>
          <p:cNvSpPr/>
          <p:nvPr/>
        </p:nvSpPr>
        <p:spPr>
          <a:xfrm>
            <a:off x="4523780" y="1278207"/>
            <a:ext cx="4620220" cy="1882476"/>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dirty="0">
                <a:latin typeface="Helvetica Neue" panose="020B0604020202020204" charset="0"/>
              </a:rPr>
              <a:t>Gongs and cymbals are “nonlinear percussion instruments” where the vibratory displacement is comparable to </a:t>
            </a:r>
            <a:r>
              <a:rPr lang="en-US" sz="1200" b="1" dirty="0">
                <a:latin typeface="Helvetica Neue" panose="020B0604020202020204" charset="0"/>
              </a:rPr>
              <a:t>thickness</a:t>
            </a:r>
            <a:r>
              <a:rPr lang="en-US" sz="1200" dirty="0">
                <a:latin typeface="Helvetica Neue" panose="020B0604020202020204" charset="0"/>
              </a:rPr>
              <a:t>, leading to strong geometric nonlinearity</a:t>
            </a:r>
            <a:endParaRPr sz="1100" b="1" dirty="0">
              <a:latin typeface="Helvetica Neue" panose="020B0604020202020204" charset="0"/>
              <a:ea typeface="Helvetica Neue"/>
              <a:cs typeface="Helvetica Neue"/>
              <a:sym typeface="Helvetica Neue"/>
            </a:endParaRPr>
          </a:p>
        </p:txBody>
      </p:sp>
      <p:sp>
        <p:nvSpPr>
          <p:cNvPr id="7" name="Google Shape;164;p17">
            <a:extLst>
              <a:ext uri="{FF2B5EF4-FFF2-40B4-BE49-F238E27FC236}">
                <a16:creationId xmlns:a16="http://schemas.microsoft.com/office/drawing/2014/main" id="{E67553A1-D4B6-F41D-0F9B-9867E52543EE}"/>
              </a:ext>
            </a:extLst>
          </p:cNvPr>
          <p:cNvSpPr txBox="1"/>
          <p:nvPr/>
        </p:nvSpPr>
        <p:spPr>
          <a:xfrm>
            <a:off x="264325" y="641670"/>
            <a:ext cx="8631000" cy="62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b="1" u="sng" dirty="0">
                <a:solidFill>
                  <a:srgbClr val="980000"/>
                </a:solidFill>
                <a:latin typeface="Helvetica Neue"/>
                <a:ea typeface="Helvetica Neue"/>
                <a:cs typeface="Helvetica Neue"/>
                <a:sym typeface="Helvetica Neue"/>
              </a:rPr>
              <a:t>Objectives: </a:t>
            </a:r>
          </a:p>
          <a:p>
            <a:pPr algn="just"/>
            <a:r>
              <a:rPr lang="en-US" sz="1100" dirty="0">
                <a:solidFill>
                  <a:srgbClr val="980000"/>
                </a:solidFill>
                <a:latin typeface="Helvetica Neue"/>
              </a:rPr>
              <a:t>Summarize experiments and theoretical equations of nonlinear, chaotic vibrations in gongs and cymbals to reproduce the main dynamical features of gongs and cymbals and serve as a foundation for realistic sound production and synthesis purposes.</a:t>
            </a:r>
            <a:endParaRPr lang="en" sz="1100" dirty="0">
              <a:solidFill>
                <a:srgbClr val="980000"/>
              </a:solidFill>
              <a:latin typeface="Helvetica Neue"/>
              <a:sym typeface="Helvetica Neue"/>
            </a:endParaRPr>
          </a:p>
          <a:p>
            <a:pPr marL="0" lvl="0" indent="0" algn="l" rtl="0">
              <a:spcBef>
                <a:spcPts val="0"/>
              </a:spcBef>
              <a:spcAft>
                <a:spcPts val="0"/>
              </a:spcAft>
              <a:buNone/>
            </a:pPr>
            <a:endParaRPr b="1" u="sng" dirty="0">
              <a:solidFill>
                <a:srgbClr val="980000"/>
              </a:solidFill>
              <a:latin typeface="Helvetica Neue"/>
              <a:ea typeface="Helvetica Neue"/>
              <a:cs typeface="Helvetica Neue"/>
              <a:sym typeface="Helvetica Neue"/>
            </a:endParaRPr>
          </a:p>
        </p:txBody>
      </p:sp>
      <p:graphicFrame>
        <p:nvGraphicFramePr>
          <p:cNvPr id="8" name="Diagram 7">
            <a:extLst>
              <a:ext uri="{FF2B5EF4-FFF2-40B4-BE49-F238E27FC236}">
                <a16:creationId xmlns:a16="http://schemas.microsoft.com/office/drawing/2014/main" id="{9E880DB8-2781-8464-C673-139703937B77}"/>
              </a:ext>
            </a:extLst>
          </p:cNvPr>
          <p:cNvGraphicFramePr/>
          <p:nvPr>
            <p:extLst>
              <p:ext uri="{D42A27DB-BD31-4B8C-83A1-F6EECF244321}">
                <p14:modId xmlns:p14="http://schemas.microsoft.com/office/powerpoint/2010/main" val="3700020297"/>
              </p:ext>
            </p:extLst>
          </p:nvPr>
        </p:nvGraphicFramePr>
        <p:xfrm>
          <a:off x="1485129" y="3253740"/>
          <a:ext cx="6077300" cy="14141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BE6CF3F-D4FD-F0F4-FCBE-AAD67B5BC211}"/>
            </a:ext>
          </a:extLst>
        </p:cNvPr>
        <p:cNvGrpSpPr/>
        <p:nvPr/>
      </p:nvGrpSpPr>
      <p:grpSpPr>
        <a:xfrm>
          <a:off x="0" y="0"/>
          <a:ext cx="0" cy="0"/>
          <a:chOff x="0" y="0"/>
          <a:chExt cx="0" cy="0"/>
        </a:xfrm>
      </p:grpSpPr>
      <p:sp>
        <p:nvSpPr>
          <p:cNvPr id="97" name="Google Shape;97;p14">
            <a:extLst>
              <a:ext uri="{FF2B5EF4-FFF2-40B4-BE49-F238E27FC236}">
                <a16:creationId xmlns:a16="http://schemas.microsoft.com/office/drawing/2014/main" id="{CB8A7D72-1FF9-A4DA-B0B3-76A18752DF84}"/>
              </a:ext>
            </a:extLst>
          </p:cNvPr>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dirty="0">
                <a:solidFill>
                  <a:srgbClr val="666666"/>
                </a:solidFill>
                <a:latin typeface="Helvetica Neue"/>
                <a:ea typeface="Helvetica Neue"/>
                <a:cs typeface="Helvetica Neue"/>
                <a:sym typeface="Helvetica Neue"/>
              </a:rPr>
              <a:t>2/10</a:t>
            </a:r>
            <a:br>
              <a:rPr lang="en" sz="800" dirty="0">
                <a:solidFill>
                  <a:srgbClr val="666666"/>
                </a:solidFill>
                <a:latin typeface="Helvetica Neue"/>
                <a:ea typeface="Helvetica Neue"/>
                <a:cs typeface="Helvetica Neue"/>
                <a:sym typeface="Helvetica Neue"/>
              </a:rPr>
            </a:br>
            <a:r>
              <a:rPr lang="en-US" sz="800" dirty="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dirty="0">
              <a:solidFill>
                <a:srgbClr val="666666"/>
              </a:solidFill>
              <a:latin typeface="Helvetica Neue"/>
              <a:ea typeface="Helvetica Neue"/>
              <a:cs typeface="Helvetica Neue"/>
              <a:sym typeface="Helvetica Neue"/>
            </a:endParaRPr>
          </a:p>
        </p:txBody>
      </p:sp>
      <p:sp>
        <p:nvSpPr>
          <p:cNvPr id="2" name="Google Shape;106;p15">
            <a:extLst>
              <a:ext uri="{FF2B5EF4-FFF2-40B4-BE49-F238E27FC236}">
                <a16:creationId xmlns:a16="http://schemas.microsoft.com/office/drawing/2014/main" id="{F79F5859-FCE9-1C2C-2867-B08DEF5172F8}"/>
              </a:ext>
            </a:extLst>
          </p:cNvPr>
          <p:cNvSpPr/>
          <p:nvPr/>
        </p:nvSpPr>
        <p:spPr>
          <a:xfrm>
            <a:off x="106313"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 sz="900" b="1">
                <a:solidFill>
                  <a:schemeClr val="dk1"/>
                </a:solidFill>
                <a:latin typeface="Helvetica Neue"/>
                <a:sym typeface="Helvetica Neue"/>
              </a:rPr>
              <a:t>Introduction</a:t>
            </a:r>
            <a:endParaRPr sz="900" b="1">
              <a:solidFill>
                <a:schemeClr val="dk1"/>
              </a:solidFill>
              <a:latin typeface="Helvetica Neue"/>
              <a:sym typeface="Helvetica Neue"/>
            </a:endParaRPr>
          </a:p>
        </p:txBody>
      </p:sp>
      <p:sp>
        <p:nvSpPr>
          <p:cNvPr id="3" name="Google Shape;107;p15">
            <a:extLst>
              <a:ext uri="{FF2B5EF4-FFF2-40B4-BE49-F238E27FC236}">
                <a16:creationId xmlns:a16="http://schemas.microsoft.com/office/drawing/2014/main" id="{C0DD1E38-0057-F76B-8145-04755BB199A6}"/>
              </a:ext>
            </a:extLst>
          </p:cNvPr>
          <p:cNvSpPr/>
          <p:nvPr/>
        </p:nvSpPr>
        <p:spPr>
          <a:xfrm>
            <a:off x="3111004" y="4795750"/>
            <a:ext cx="2922000" cy="267000"/>
          </a:xfrm>
          <a:prstGeom prst="roundRect">
            <a:avLst>
              <a:gd name="adj" fmla="val 16667"/>
            </a:avLst>
          </a:prstGeom>
          <a:solidFill>
            <a:srgbClr val="980000"/>
          </a:solidFill>
          <a:ln>
            <a:noFill/>
          </a:ln>
        </p:spPr>
        <p:txBody>
          <a:bodyPr spcFirstLastPara="1" wrap="square" lIns="45725" tIns="45725" rIns="45725" bIns="45725" anchor="ctr" anchorCtr="0">
            <a:noAutofit/>
          </a:bodyPr>
          <a:lstStyle/>
          <a:p>
            <a:pPr algn="ctr"/>
            <a:r>
              <a:rPr lang="en-ID" sz="900" b="1">
                <a:solidFill>
                  <a:schemeClr val="lt1"/>
                </a:solidFill>
                <a:latin typeface="Helvetica Neue"/>
                <a:sym typeface="Helvetica Neue"/>
              </a:rPr>
              <a:t>Summary of Experiments</a:t>
            </a:r>
          </a:p>
        </p:txBody>
      </p:sp>
      <p:sp>
        <p:nvSpPr>
          <p:cNvPr id="4" name="Google Shape;108;p15">
            <a:extLst>
              <a:ext uri="{FF2B5EF4-FFF2-40B4-BE49-F238E27FC236}">
                <a16:creationId xmlns:a16="http://schemas.microsoft.com/office/drawing/2014/main" id="{3DEDD8C9-F718-C4CB-201B-FF06F37AAC19}"/>
              </a:ext>
            </a:extLst>
          </p:cNvPr>
          <p:cNvSpPr/>
          <p:nvPr/>
        </p:nvSpPr>
        <p:spPr>
          <a:xfrm>
            <a:off x="6115691"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None/>
            </a:pPr>
            <a:r>
              <a:rPr lang="en" sz="900" b="1">
                <a:solidFill>
                  <a:schemeClr val="dk1"/>
                </a:solidFill>
                <a:latin typeface="Helvetica Neue"/>
                <a:ea typeface="Helvetica Neue"/>
                <a:cs typeface="Helvetica Neue"/>
                <a:sym typeface="Helvetica Neue"/>
              </a:rPr>
              <a:t>Analysis &amp; Discussion</a:t>
            </a:r>
            <a:endParaRPr sz="900" b="1">
              <a:solidFill>
                <a:schemeClr val="dk1"/>
              </a:solidFill>
              <a:latin typeface="Helvetica Neue"/>
              <a:ea typeface="Helvetica Neue"/>
              <a:cs typeface="Helvetica Neue"/>
              <a:sym typeface="Helvetica Neue"/>
            </a:endParaRPr>
          </a:p>
        </p:txBody>
      </p:sp>
      <p:pic>
        <p:nvPicPr>
          <p:cNvPr id="5" name="Picture 4">
            <a:extLst>
              <a:ext uri="{FF2B5EF4-FFF2-40B4-BE49-F238E27FC236}">
                <a16:creationId xmlns:a16="http://schemas.microsoft.com/office/drawing/2014/main" id="{F49F0C5F-86C9-8109-A1DC-675769B38237}"/>
              </a:ext>
            </a:extLst>
          </p:cNvPr>
          <p:cNvPicPr>
            <a:picLocks noChangeAspect="1"/>
          </p:cNvPicPr>
          <p:nvPr/>
        </p:nvPicPr>
        <p:blipFill>
          <a:blip r:embed="rId3"/>
          <a:stretch>
            <a:fillRect/>
          </a:stretch>
        </p:blipFill>
        <p:spPr>
          <a:xfrm>
            <a:off x="2561534" y="1054118"/>
            <a:ext cx="2676224" cy="3496489"/>
          </a:xfrm>
          <a:prstGeom prst="rect">
            <a:avLst/>
          </a:prstGeom>
        </p:spPr>
      </p:pic>
      <p:pic>
        <p:nvPicPr>
          <p:cNvPr id="7" name="Picture 6" descr="A cymbal in a room&#10;&#10;AI-generated content may be incorrect.">
            <a:extLst>
              <a:ext uri="{FF2B5EF4-FFF2-40B4-BE49-F238E27FC236}">
                <a16:creationId xmlns:a16="http://schemas.microsoft.com/office/drawing/2014/main" id="{4BD0AE63-9DCB-99B6-D309-5682CADC7BBA}"/>
              </a:ext>
            </a:extLst>
          </p:cNvPr>
          <p:cNvPicPr>
            <a:picLocks noChangeAspect="1"/>
          </p:cNvPicPr>
          <p:nvPr/>
        </p:nvPicPr>
        <p:blipFill>
          <a:blip r:embed="rId4"/>
          <a:srcRect l="21308" t="29089" r="18033" b="5545"/>
          <a:stretch>
            <a:fillRect/>
          </a:stretch>
        </p:blipFill>
        <p:spPr>
          <a:xfrm>
            <a:off x="264338" y="1054118"/>
            <a:ext cx="1777023" cy="2553214"/>
          </a:xfrm>
          <a:prstGeom prst="rect">
            <a:avLst/>
          </a:prstGeom>
          <a:ln>
            <a:solidFill>
              <a:schemeClr val="tx1"/>
            </a:solidFill>
          </a:ln>
        </p:spPr>
      </p:pic>
      <p:sp>
        <p:nvSpPr>
          <p:cNvPr id="9" name="Google Shape;158;p17">
            <a:extLst>
              <a:ext uri="{FF2B5EF4-FFF2-40B4-BE49-F238E27FC236}">
                <a16:creationId xmlns:a16="http://schemas.microsoft.com/office/drawing/2014/main" id="{EEF8F3E6-C592-FBDA-972B-8EEF4A9E88FA}"/>
              </a:ext>
            </a:extLst>
          </p:cNvPr>
          <p:cNvSpPr/>
          <p:nvPr/>
        </p:nvSpPr>
        <p:spPr>
          <a:xfrm>
            <a:off x="264350" y="3607332"/>
            <a:ext cx="1777011" cy="943275"/>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800" b="1">
                <a:solidFill>
                  <a:schemeClr val="dk1"/>
                </a:solidFill>
                <a:latin typeface="Helvetica Neue" panose="020B0604020202020204" charset="0"/>
                <a:ea typeface="Helvetica Neue"/>
                <a:cs typeface="Helvetica Neue"/>
                <a:sym typeface="Helvetica Neue"/>
              </a:rPr>
              <a:t>Excitation Method:</a:t>
            </a:r>
          </a:p>
          <a:p>
            <a:pPr lvl="0" algn="ctr">
              <a:lnSpc>
                <a:spcPct val="115000"/>
              </a:lnSpc>
            </a:pPr>
            <a:r>
              <a:rPr lang="en-US" sz="800">
                <a:latin typeface="Helvetica Neue" panose="020B0604020202020204" charset="0"/>
              </a:rPr>
              <a:t>Sinusoidal electromagnetic force with slowly increasing amplitude (instead of a mallet impact) at frequencies near eigenmodes to simplify interpretation.</a:t>
            </a:r>
            <a:endParaRPr sz="800">
              <a:solidFill>
                <a:schemeClr val="dk1"/>
              </a:solidFill>
              <a:latin typeface="Helvetica Neue" panose="020B0604020202020204" charset="0"/>
              <a:ea typeface="Helvetica Neue"/>
              <a:cs typeface="Helvetica Neue"/>
              <a:sym typeface="Helvetica Neue"/>
            </a:endParaRPr>
          </a:p>
        </p:txBody>
      </p:sp>
      <p:sp>
        <p:nvSpPr>
          <p:cNvPr id="10" name="Google Shape;152;p17">
            <a:extLst>
              <a:ext uri="{FF2B5EF4-FFF2-40B4-BE49-F238E27FC236}">
                <a16:creationId xmlns:a16="http://schemas.microsoft.com/office/drawing/2014/main" id="{A354EEFD-3A56-41B4-A033-20DDA75249C3}"/>
              </a:ext>
            </a:extLst>
          </p:cNvPr>
          <p:cNvSpPr/>
          <p:nvPr/>
        </p:nvSpPr>
        <p:spPr>
          <a:xfrm>
            <a:off x="264337" y="719052"/>
            <a:ext cx="1777011" cy="335066"/>
          </a:xfrm>
          <a:prstGeom prst="rect">
            <a:avLst/>
          </a:prstGeom>
          <a:solidFill>
            <a:srgbClr val="980000"/>
          </a:solidFill>
          <a:ln>
            <a:solidFill>
              <a:schemeClr val="tx1"/>
            </a:solidFill>
          </a:ln>
        </p:spPr>
        <p:txBody>
          <a:bodyPr spcFirstLastPara="1" wrap="square" lIns="45725" tIns="45725" rIns="45725" bIns="45725" anchor="ctr" anchorCtr="0">
            <a:noAutofit/>
          </a:bodyPr>
          <a:lstStyle/>
          <a:p>
            <a:pPr algn="ctr"/>
            <a:r>
              <a:rPr lang="en" sz="1100" b="1">
                <a:solidFill>
                  <a:schemeClr val="lt1"/>
                </a:solidFill>
                <a:latin typeface="Helvetica Neue"/>
                <a:sym typeface="Helvetica Neue"/>
              </a:rPr>
              <a:t>Experiment Setup</a:t>
            </a:r>
            <a:endParaRPr sz="1100" b="1">
              <a:solidFill>
                <a:schemeClr val="lt1"/>
              </a:solidFill>
              <a:latin typeface="Helvetica Neue"/>
              <a:sym typeface="Helvetica Neue"/>
            </a:endParaRPr>
          </a:p>
        </p:txBody>
      </p:sp>
      <p:sp>
        <p:nvSpPr>
          <p:cNvPr id="11" name="Google Shape;152;p17">
            <a:extLst>
              <a:ext uri="{FF2B5EF4-FFF2-40B4-BE49-F238E27FC236}">
                <a16:creationId xmlns:a16="http://schemas.microsoft.com/office/drawing/2014/main" id="{30C06574-2B34-05AA-8333-F4FC0BFBBB5E}"/>
              </a:ext>
            </a:extLst>
          </p:cNvPr>
          <p:cNvSpPr/>
          <p:nvPr/>
        </p:nvSpPr>
        <p:spPr>
          <a:xfrm>
            <a:off x="2371661" y="719052"/>
            <a:ext cx="6320394" cy="335066"/>
          </a:xfrm>
          <a:prstGeom prst="rect">
            <a:avLst/>
          </a:prstGeom>
          <a:solidFill>
            <a:srgbClr val="980000"/>
          </a:solidFill>
          <a:ln>
            <a:noFill/>
          </a:ln>
        </p:spPr>
        <p:txBody>
          <a:bodyPr spcFirstLastPara="1" wrap="square" lIns="45725" tIns="45725" rIns="45725" bIns="45725" anchor="ctr" anchorCtr="0">
            <a:noAutofit/>
          </a:bodyPr>
          <a:lstStyle/>
          <a:p>
            <a:pPr algn="ctr"/>
            <a:r>
              <a:rPr lang="en" sz="1100" b="1">
                <a:solidFill>
                  <a:schemeClr val="lt1"/>
                </a:solidFill>
                <a:latin typeface="Helvetica Neue"/>
                <a:sym typeface="Helvetica Neue"/>
              </a:rPr>
              <a:t>Results</a:t>
            </a:r>
            <a:endParaRPr sz="1100" b="1">
              <a:solidFill>
                <a:schemeClr val="lt1"/>
              </a:solidFill>
              <a:latin typeface="Helvetica Neue"/>
              <a:sym typeface="Helvetica Neue"/>
            </a:endParaRPr>
          </a:p>
        </p:txBody>
      </p:sp>
      <p:sp>
        <p:nvSpPr>
          <p:cNvPr id="12" name="Google Shape;158;p17">
            <a:extLst>
              <a:ext uri="{FF2B5EF4-FFF2-40B4-BE49-F238E27FC236}">
                <a16:creationId xmlns:a16="http://schemas.microsoft.com/office/drawing/2014/main" id="{1109A19C-D6FE-6F77-F99C-B29E562FF22F}"/>
              </a:ext>
            </a:extLst>
          </p:cNvPr>
          <p:cNvSpPr/>
          <p:nvPr/>
        </p:nvSpPr>
        <p:spPr>
          <a:xfrm>
            <a:off x="2371648" y="1054117"/>
            <a:ext cx="6320394" cy="3496489"/>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endParaRPr lang="en" sz="800" b="1">
              <a:solidFill>
                <a:schemeClr val="dk1"/>
              </a:solidFill>
              <a:latin typeface="Helvetica Neue" panose="020B0604020202020204" charset="0"/>
              <a:ea typeface="Helvetica Neue"/>
              <a:cs typeface="Helvetica Neue"/>
              <a:sym typeface="Helvetica Neue"/>
            </a:endParaRPr>
          </a:p>
        </p:txBody>
      </p:sp>
      <p:sp>
        <p:nvSpPr>
          <p:cNvPr id="14" name="Google Shape;227;p20">
            <a:extLst>
              <a:ext uri="{FF2B5EF4-FFF2-40B4-BE49-F238E27FC236}">
                <a16:creationId xmlns:a16="http://schemas.microsoft.com/office/drawing/2014/main" id="{8B2D7064-AAEA-1FFD-AADB-D43FC8F8E9E2}"/>
              </a:ext>
            </a:extLst>
          </p:cNvPr>
          <p:cNvSpPr/>
          <p:nvPr/>
        </p:nvSpPr>
        <p:spPr>
          <a:xfrm flipH="1">
            <a:off x="5716401" y="1113100"/>
            <a:ext cx="2979790" cy="265178"/>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just" rtl="0">
              <a:lnSpc>
                <a:spcPct val="100000"/>
              </a:lnSpc>
              <a:spcBef>
                <a:spcPts val="0"/>
              </a:spcBef>
              <a:spcAft>
                <a:spcPts val="0"/>
              </a:spcAft>
              <a:buNone/>
            </a:pPr>
            <a:r>
              <a:rPr lang="en-US" sz="900">
                <a:latin typeface="Helvetica Neue"/>
                <a:ea typeface="Helvetica Neue"/>
                <a:cs typeface="Helvetica Neue"/>
                <a:sym typeface="Helvetica Neue"/>
              </a:rPr>
              <a:t>Periodic Motion</a:t>
            </a:r>
            <a:endParaRPr sz="900">
              <a:latin typeface="Helvetica Neue"/>
              <a:ea typeface="Helvetica Neue"/>
              <a:cs typeface="Helvetica Neue"/>
              <a:sym typeface="Helvetica Neue"/>
            </a:endParaRPr>
          </a:p>
        </p:txBody>
      </p:sp>
      <p:sp>
        <p:nvSpPr>
          <p:cNvPr id="15" name="Google Shape;228;p20">
            <a:extLst>
              <a:ext uri="{FF2B5EF4-FFF2-40B4-BE49-F238E27FC236}">
                <a16:creationId xmlns:a16="http://schemas.microsoft.com/office/drawing/2014/main" id="{F8F91BC9-E96E-A6E3-723D-0DFDC418E562}"/>
              </a:ext>
            </a:extLst>
          </p:cNvPr>
          <p:cNvSpPr/>
          <p:nvPr/>
        </p:nvSpPr>
        <p:spPr>
          <a:xfrm flipH="1">
            <a:off x="5418623" y="1113100"/>
            <a:ext cx="297810" cy="265178"/>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1</a:t>
            </a:r>
            <a:endParaRPr sz="1200" b="1">
              <a:solidFill>
                <a:srgbClr val="FFFFFF"/>
              </a:solidFill>
              <a:latin typeface="Helvetica Neue"/>
              <a:ea typeface="Helvetica Neue"/>
              <a:cs typeface="Helvetica Neue"/>
              <a:sym typeface="Helvetica Neue"/>
            </a:endParaRPr>
          </a:p>
        </p:txBody>
      </p:sp>
      <p:sp>
        <p:nvSpPr>
          <p:cNvPr id="16" name="Google Shape;229;p20">
            <a:extLst>
              <a:ext uri="{FF2B5EF4-FFF2-40B4-BE49-F238E27FC236}">
                <a16:creationId xmlns:a16="http://schemas.microsoft.com/office/drawing/2014/main" id="{63A27D47-66D2-710A-EA12-FC5A3B630266}"/>
              </a:ext>
            </a:extLst>
          </p:cNvPr>
          <p:cNvSpPr/>
          <p:nvPr/>
        </p:nvSpPr>
        <p:spPr>
          <a:xfrm flipH="1">
            <a:off x="5418590" y="1541270"/>
            <a:ext cx="3206935" cy="402373"/>
          </a:xfrm>
          <a:prstGeom prst="rect">
            <a:avLst/>
          </a:prstGeom>
          <a:noFill/>
          <a:ln w="9525" cap="flat" cmpd="sng">
            <a:noFill/>
            <a:prstDash val="dash"/>
            <a:round/>
            <a:headEnd type="none" w="sm" len="sm"/>
            <a:tailEnd type="none" w="sm" len="sm"/>
          </a:ln>
        </p:spPr>
        <p:txBody>
          <a:bodyPr spcFirstLastPara="1" wrap="square" lIns="91425" tIns="91425" rIns="91425" bIns="91425" anchor="ctr" anchorCtr="0">
            <a:noAutofit/>
          </a:bodyPr>
          <a:lstStyle/>
          <a:p>
            <a:pPr lvl="0"/>
            <a:endParaRPr sz="900">
              <a:latin typeface="Helvetica Neue"/>
              <a:ea typeface="Helvetica Neue"/>
              <a:cs typeface="Helvetica Neue"/>
              <a:sym typeface="Helvetica Neue"/>
            </a:endParaRPr>
          </a:p>
        </p:txBody>
      </p:sp>
      <p:sp>
        <p:nvSpPr>
          <p:cNvPr id="17" name="Google Shape;230;p20">
            <a:extLst>
              <a:ext uri="{FF2B5EF4-FFF2-40B4-BE49-F238E27FC236}">
                <a16:creationId xmlns:a16="http://schemas.microsoft.com/office/drawing/2014/main" id="{A6F3E0C3-03D0-52F9-A042-1BBBA239F7BE}"/>
              </a:ext>
            </a:extLst>
          </p:cNvPr>
          <p:cNvSpPr/>
          <p:nvPr/>
        </p:nvSpPr>
        <p:spPr>
          <a:xfrm flipH="1">
            <a:off x="5418591" y="1861371"/>
            <a:ext cx="297810" cy="265178"/>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2</a:t>
            </a:r>
            <a:endParaRPr sz="1200" b="1">
              <a:solidFill>
                <a:srgbClr val="FFFFFF"/>
              </a:solidFill>
              <a:latin typeface="Helvetica Neue"/>
              <a:ea typeface="Helvetica Neue"/>
              <a:cs typeface="Helvetica Neue"/>
              <a:sym typeface="Helvetica Neue"/>
            </a:endParaRPr>
          </a:p>
        </p:txBody>
      </p:sp>
      <p:sp>
        <p:nvSpPr>
          <p:cNvPr id="18" name="Google Shape;231;p20">
            <a:extLst>
              <a:ext uri="{FF2B5EF4-FFF2-40B4-BE49-F238E27FC236}">
                <a16:creationId xmlns:a16="http://schemas.microsoft.com/office/drawing/2014/main" id="{0176A5B7-0B0D-FC03-122F-008C1E19D1A6}"/>
              </a:ext>
            </a:extLst>
          </p:cNvPr>
          <p:cNvSpPr/>
          <p:nvPr/>
        </p:nvSpPr>
        <p:spPr>
          <a:xfrm flipH="1">
            <a:off x="5418685" y="2626902"/>
            <a:ext cx="297810" cy="265178"/>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3</a:t>
            </a:r>
            <a:endParaRPr sz="1200" b="1">
              <a:solidFill>
                <a:srgbClr val="FFFFFF"/>
              </a:solidFill>
              <a:latin typeface="Helvetica Neue"/>
              <a:ea typeface="Helvetica Neue"/>
              <a:cs typeface="Helvetica Neue"/>
              <a:sym typeface="Helvetica Neue"/>
            </a:endParaRPr>
          </a:p>
        </p:txBody>
      </p:sp>
      <p:sp>
        <p:nvSpPr>
          <p:cNvPr id="20" name="Google Shape;227;p20">
            <a:extLst>
              <a:ext uri="{FF2B5EF4-FFF2-40B4-BE49-F238E27FC236}">
                <a16:creationId xmlns:a16="http://schemas.microsoft.com/office/drawing/2014/main" id="{1A80A55B-718A-D8EB-9DBC-24A5ED37BA8E}"/>
              </a:ext>
            </a:extLst>
          </p:cNvPr>
          <p:cNvSpPr/>
          <p:nvPr/>
        </p:nvSpPr>
        <p:spPr>
          <a:xfrm flipH="1">
            <a:off x="5716401" y="1862411"/>
            <a:ext cx="2979790" cy="260375"/>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just"/>
            <a:r>
              <a:rPr lang="en-US" sz="900">
                <a:latin typeface="Helvetica Neue"/>
                <a:sym typeface="Helvetica Neue"/>
              </a:rPr>
              <a:t>First Bifurcation</a:t>
            </a:r>
            <a:endParaRPr sz="900">
              <a:latin typeface="Helvetica Neue"/>
              <a:sym typeface="Helvetica Neue"/>
            </a:endParaRPr>
          </a:p>
        </p:txBody>
      </p:sp>
      <p:sp>
        <p:nvSpPr>
          <p:cNvPr id="22" name="Rectangle 2">
            <a:extLst>
              <a:ext uri="{FF2B5EF4-FFF2-40B4-BE49-F238E27FC236}">
                <a16:creationId xmlns:a16="http://schemas.microsoft.com/office/drawing/2014/main" id="{14538675-19DA-BFD9-DD60-41C3D808DB5D}"/>
              </a:ext>
            </a:extLst>
          </p:cNvPr>
          <p:cNvSpPr>
            <a:spLocks noChangeArrowheads="1"/>
          </p:cNvSpPr>
          <p:nvPr/>
        </p:nvSpPr>
        <p:spPr bwMode="auto">
          <a:xfrm>
            <a:off x="5414444" y="1426572"/>
            <a:ext cx="2657327"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algn="just" eaLnBrk="0" fontAlgn="base" hangingPunct="0">
              <a:spcBef>
                <a:spcPct val="0"/>
              </a:spcBef>
              <a:spcAft>
                <a:spcPct val="0"/>
              </a:spcAft>
              <a:buClrTx/>
            </a:pPr>
            <a:r>
              <a:rPr kumimoji="0" lang="en-US" altLang="en-US" sz="800" b="0" i="0" u="none" strike="noStrike" cap="none" normalizeH="0" baseline="0">
                <a:ln>
                  <a:noFill/>
                </a:ln>
                <a:solidFill>
                  <a:schemeClr val="tx1"/>
                </a:solidFill>
                <a:effectLst/>
                <a:latin typeface="Helvetica Neue" panose="020B0604020202020204" charset="0"/>
              </a:rPr>
              <a:t>The structure's acceleration exhibits a </a:t>
            </a:r>
            <a:r>
              <a:rPr kumimoji="0" lang="en-US" altLang="en-US" sz="800" b="1" i="0" u="none" strike="noStrike" cap="none" normalizeH="0" baseline="0">
                <a:ln>
                  <a:noFill/>
                </a:ln>
                <a:solidFill>
                  <a:schemeClr val="tx1"/>
                </a:solidFill>
                <a:effectLst/>
                <a:latin typeface="Helvetica Neue" panose="020B0604020202020204" charset="0"/>
              </a:rPr>
              <a:t>periodic motion</a:t>
            </a:r>
            <a:r>
              <a:rPr kumimoji="0" lang="en-US" altLang="en-US" sz="800" b="0" i="0" u="none" strike="noStrike" cap="none" normalizeH="0" baseline="0">
                <a:ln>
                  <a:noFill/>
                </a:ln>
                <a:solidFill>
                  <a:schemeClr val="tx1"/>
                </a:solidFill>
                <a:effectLst/>
                <a:latin typeface="Helvetica Neue" panose="020B0604020202020204" charset="0"/>
              </a:rPr>
              <a:t> with an increasing level of harmonics (2</a:t>
            </a:r>
            <a:r>
              <a:rPr kumimoji="0" lang="el-GR" altLang="en-US" sz="800" b="0" i="0" u="none" strike="noStrike" cap="none" normalizeH="0" baseline="0">
                <a:ln>
                  <a:noFill/>
                </a:ln>
                <a:solidFill>
                  <a:schemeClr val="tx1"/>
                </a:solidFill>
                <a:effectLst/>
                <a:latin typeface="Helvetica Neue" panose="020B0604020202020204" charset="0"/>
              </a:rPr>
              <a:t>Ω</a:t>
            </a:r>
            <a:r>
              <a:rPr kumimoji="0" lang="en-US" altLang="en-US" sz="800" b="0" i="0" u="none" strike="noStrike" cap="none" normalizeH="0" baseline="0">
                <a:ln>
                  <a:noFill/>
                </a:ln>
                <a:solidFill>
                  <a:schemeClr val="tx1"/>
                </a:solidFill>
                <a:effectLst/>
                <a:latin typeface="Helvetica Neue" panose="020B0604020202020204" charset="0"/>
              </a:rPr>
              <a:t>, 3</a:t>
            </a:r>
            <a:r>
              <a:rPr lang="el-GR" altLang="en-US" sz="800">
                <a:solidFill>
                  <a:schemeClr val="tx1"/>
                </a:solidFill>
                <a:latin typeface="Helvetica Neue" panose="020B0604020202020204" charset="0"/>
              </a:rPr>
              <a:t>Ω</a:t>
            </a:r>
            <a:r>
              <a:rPr kumimoji="0" lang="en-US" altLang="en-US" sz="800" b="0" i="0" u="none" strike="noStrike" cap="none" normalizeH="0" baseline="0">
                <a:ln>
                  <a:noFill/>
                </a:ln>
                <a:solidFill>
                  <a:schemeClr val="tx1"/>
                </a:solidFill>
                <a:effectLst/>
                <a:latin typeface="Helvetica Neue" panose="020B0604020202020204" charset="0"/>
              </a:rPr>
              <a:t>, etc.). The vibration is largely dominated by the forced mode</a:t>
            </a:r>
          </a:p>
        </p:txBody>
      </p:sp>
      <p:sp>
        <p:nvSpPr>
          <p:cNvPr id="25" name="Rectangle 2">
            <a:extLst>
              <a:ext uri="{FF2B5EF4-FFF2-40B4-BE49-F238E27FC236}">
                <a16:creationId xmlns:a16="http://schemas.microsoft.com/office/drawing/2014/main" id="{FDDC0963-6786-E4DD-3559-8C246B3560FD}"/>
              </a:ext>
            </a:extLst>
          </p:cNvPr>
          <p:cNvSpPr>
            <a:spLocks noChangeArrowheads="1"/>
          </p:cNvSpPr>
          <p:nvPr/>
        </p:nvSpPr>
        <p:spPr bwMode="auto">
          <a:xfrm>
            <a:off x="5414443" y="2183813"/>
            <a:ext cx="2657327"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just" eaLnBrk="0" fontAlgn="base" hangingPunct="0"/>
            <a:r>
              <a:rPr lang="en-US" altLang="en-US" sz="800">
                <a:solidFill>
                  <a:schemeClr val="tx1"/>
                </a:solidFill>
                <a:latin typeface="Helvetica Neue" panose="020B0604020202020204" charset="0"/>
              </a:rPr>
              <a:t>Occurs at a given force threshold, explained by </a:t>
            </a:r>
            <a:r>
              <a:rPr lang="en-US" altLang="en-US" sz="800" b="1">
                <a:solidFill>
                  <a:schemeClr val="tx1"/>
                </a:solidFill>
                <a:latin typeface="Helvetica Neue" panose="020B0604020202020204" charset="0"/>
              </a:rPr>
              <a:t>energy exchange</a:t>
            </a:r>
            <a:r>
              <a:rPr lang="en-US" altLang="en-US" sz="800">
                <a:solidFill>
                  <a:schemeClr val="tx1"/>
                </a:solidFill>
                <a:latin typeface="Helvetica Neue" panose="020B0604020202020204" charset="0"/>
              </a:rPr>
              <a:t> between normal modes due to an </a:t>
            </a:r>
            <a:r>
              <a:rPr lang="en-US" altLang="en-US" sz="800" b="1">
                <a:solidFill>
                  <a:schemeClr val="tx1"/>
                </a:solidFill>
                <a:latin typeface="Helvetica Neue" panose="020B0604020202020204" charset="0"/>
              </a:rPr>
              <a:t>internal resonance</a:t>
            </a:r>
            <a:r>
              <a:rPr lang="en-US" altLang="en-US" sz="800">
                <a:solidFill>
                  <a:schemeClr val="tx1"/>
                </a:solidFill>
                <a:latin typeface="Helvetica Neue" panose="020B0604020202020204" charset="0"/>
              </a:rPr>
              <a:t> relationship.</a:t>
            </a:r>
          </a:p>
        </p:txBody>
      </p:sp>
      <p:sp>
        <p:nvSpPr>
          <p:cNvPr id="27" name="Google Shape;227;p20">
            <a:extLst>
              <a:ext uri="{FF2B5EF4-FFF2-40B4-BE49-F238E27FC236}">
                <a16:creationId xmlns:a16="http://schemas.microsoft.com/office/drawing/2014/main" id="{E2A50976-9BBF-5C24-2E7F-9D263C26FAC1}"/>
              </a:ext>
            </a:extLst>
          </p:cNvPr>
          <p:cNvSpPr/>
          <p:nvPr/>
        </p:nvSpPr>
        <p:spPr>
          <a:xfrm flipH="1">
            <a:off x="5716401" y="2626900"/>
            <a:ext cx="2979790" cy="263053"/>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just"/>
            <a:r>
              <a:rPr lang="en-US" sz="900">
                <a:latin typeface="Helvetica Neue"/>
                <a:sym typeface="Helvetica Neue"/>
              </a:rPr>
              <a:t>Quasiperiodic Motion</a:t>
            </a:r>
            <a:endParaRPr sz="900">
              <a:latin typeface="Helvetica Neue"/>
              <a:sym typeface="Helvetica Neue"/>
            </a:endParaRPr>
          </a:p>
        </p:txBody>
      </p:sp>
      <mc:AlternateContent xmlns:mc="http://schemas.openxmlformats.org/markup-compatibility/2006" xmlns:a14="http://schemas.microsoft.com/office/drawing/2010/main">
        <mc:Choice Requires="a14">
          <p:sp>
            <p:nvSpPr>
              <p:cNvPr id="29" name="Rectangle 2">
                <a:extLst>
                  <a:ext uri="{FF2B5EF4-FFF2-40B4-BE49-F238E27FC236}">
                    <a16:creationId xmlns:a16="http://schemas.microsoft.com/office/drawing/2014/main" id="{0119E18D-1CC7-FE96-556F-77CC88F6406A}"/>
                  </a:ext>
                </a:extLst>
              </p:cNvPr>
              <p:cNvSpPr>
                <a:spLocks noChangeArrowheads="1"/>
              </p:cNvSpPr>
              <p:nvPr/>
            </p:nvSpPr>
            <p:spPr bwMode="auto">
              <a:xfrm>
                <a:off x="5414442" y="2947026"/>
                <a:ext cx="2657327" cy="30239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800">
                    <a:solidFill>
                      <a:schemeClr val="tx1"/>
                    </a:solidFill>
                    <a:latin typeface="Helvetica Neue" panose="020B0604020202020204" charset="0"/>
                  </a:rPr>
                  <a:t>Occurs between the first and second bifurcation, spectrum is enriched by new frequencies (</a:t>
                </a:r>
                <a14:m>
                  <m:oMath xmlns:m="http://schemas.openxmlformats.org/officeDocument/2006/math">
                    <m:sSub>
                      <m:sSubPr>
                        <m:ctrlPr>
                          <a:rPr lang="en-US" altLang="en-US" sz="800" b="0" i="1" smtClean="0">
                            <a:solidFill>
                              <a:schemeClr val="tx1"/>
                            </a:solidFill>
                            <a:latin typeface="Cambria Math" panose="02040503050406030204" pitchFamily="18" charset="0"/>
                          </a:rPr>
                        </m:ctrlPr>
                      </m:sSubPr>
                      <m:e>
                        <m:r>
                          <a:rPr lang="en-US" altLang="en-US" sz="800" b="0" i="1" smtClean="0">
                            <a:solidFill>
                              <a:schemeClr val="tx1"/>
                            </a:solidFill>
                            <a:latin typeface="Cambria Math" panose="02040503050406030204" pitchFamily="18" charset="0"/>
                          </a:rPr>
                          <m:t>𝑤</m:t>
                        </m:r>
                      </m:e>
                      <m:sub>
                        <m:r>
                          <a:rPr lang="en-US" altLang="en-US" sz="800" b="0" i="1" smtClean="0">
                            <a:solidFill>
                              <a:schemeClr val="tx1"/>
                            </a:solidFill>
                            <a:latin typeface="Cambria Math" panose="02040503050406030204" pitchFamily="18" charset="0"/>
                          </a:rPr>
                          <m:t>𝑖</m:t>
                        </m:r>
                      </m:sub>
                    </m:sSub>
                    <m:r>
                      <a:rPr lang="en-US" altLang="en-US" sz="800" b="0" i="1" smtClean="0">
                        <a:solidFill>
                          <a:schemeClr val="tx1"/>
                        </a:solidFill>
                        <a:latin typeface="Cambria Math" panose="02040503050406030204" pitchFamily="18" charset="0"/>
                      </a:rPr>
                      <m:t>,</m:t>
                    </m:r>
                    <m:sSub>
                      <m:sSubPr>
                        <m:ctrlPr>
                          <a:rPr lang="en-US" altLang="en-US" sz="800" b="0" i="1" smtClean="0">
                            <a:solidFill>
                              <a:schemeClr val="tx1"/>
                            </a:solidFill>
                            <a:latin typeface="Cambria Math" panose="02040503050406030204" pitchFamily="18" charset="0"/>
                          </a:rPr>
                        </m:ctrlPr>
                      </m:sSubPr>
                      <m:e>
                        <m:r>
                          <a:rPr lang="en-US" altLang="en-US" sz="800" b="0" i="1" smtClean="0">
                            <a:solidFill>
                              <a:schemeClr val="tx1"/>
                            </a:solidFill>
                            <a:latin typeface="Cambria Math" panose="02040503050406030204" pitchFamily="18" charset="0"/>
                          </a:rPr>
                          <m:t>𝑤</m:t>
                        </m:r>
                      </m:e>
                      <m:sub>
                        <m:r>
                          <a:rPr lang="en-US" altLang="en-US" sz="800" b="0" i="1" smtClean="0">
                            <a:solidFill>
                              <a:schemeClr val="tx1"/>
                            </a:solidFill>
                            <a:latin typeface="Cambria Math" panose="02040503050406030204" pitchFamily="18" charset="0"/>
                          </a:rPr>
                          <m:t>𝑗</m:t>
                        </m:r>
                      </m:sub>
                    </m:sSub>
                  </m:oMath>
                </a14:m>
                <a:r>
                  <a:rPr lang="en-US" altLang="en-US" sz="800">
                    <a:solidFill>
                      <a:schemeClr val="tx1"/>
                    </a:solidFill>
                    <a:latin typeface="Helvetica Neue" panose="020B0604020202020204" charset="0"/>
                  </a:rPr>
                  <a:t>).</a:t>
                </a:r>
              </a:p>
            </p:txBody>
          </p:sp>
        </mc:Choice>
        <mc:Fallback xmlns="">
          <p:sp>
            <p:nvSpPr>
              <p:cNvPr id="29" name="Rectangle 2">
                <a:extLst>
                  <a:ext uri="{FF2B5EF4-FFF2-40B4-BE49-F238E27FC236}">
                    <a16:creationId xmlns:a16="http://schemas.microsoft.com/office/drawing/2014/main" id="{0119E18D-1CC7-FE96-556F-77CC88F6406A}"/>
                  </a:ext>
                </a:extLst>
              </p:cNvPr>
              <p:cNvSpPr>
                <a:spLocks noRot="1" noChangeAspect="1" noMove="1" noResize="1" noEditPoints="1" noAdjustHandles="1" noChangeArrowheads="1" noChangeShapeType="1" noTextEdit="1"/>
              </p:cNvSpPr>
              <p:nvPr/>
            </p:nvSpPr>
            <p:spPr bwMode="auto">
              <a:xfrm>
                <a:off x="5414442" y="2947026"/>
                <a:ext cx="2657327" cy="302390"/>
              </a:xfrm>
              <a:prstGeom prst="rect">
                <a:avLst/>
              </a:prstGeom>
              <a:blipFill>
                <a:blip r:embed="rId5"/>
                <a:stretch>
                  <a:fillRect t="-10000" b="-40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45D41F2-1258-9CF4-F254-540924EBD385}"/>
                  </a:ext>
                </a:extLst>
              </p:cNvPr>
              <p:cNvSpPr txBox="1"/>
              <p:nvPr/>
            </p:nvSpPr>
            <p:spPr>
              <a:xfrm>
                <a:off x="5593807" y="3199525"/>
                <a:ext cx="2856500" cy="10209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𝑝</m:t>
                      </m:r>
                      <m:r>
                        <m:rPr>
                          <m:sty m:val="p"/>
                        </m:rPr>
                        <a:rPr lang="el-GR" sz="1050" b="0" i="1" smtClean="0">
                          <a:latin typeface="Cambria Math" panose="02040503050406030204" pitchFamily="18" charset="0"/>
                          <a:ea typeface="Cambria Math" panose="02040503050406030204" pitchFamily="18" charset="0"/>
                        </a:rPr>
                        <m:t>Ω</m:t>
                      </m:r>
                      <m:r>
                        <a:rPr lang="en-US" sz="1050" b="0" i="1" smtClean="0">
                          <a:latin typeface="Cambria Math" panose="02040503050406030204" pitchFamily="18" charset="0"/>
                          <a:ea typeface="Cambria Math" panose="02040503050406030204" pitchFamily="18" charset="0"/>
                        </a:rPr>
                        <m:t>=</m:t>
                      </m:r>
                      <m:sSub>
                        <m:sSubPr>
                          <m:ctrlPr>
                            <a:rPr lang="en-US" sz="1050" b="0" i="1" smtClean="0">
                              <a:latin typeface="Cambria Math" panose="02040503050406030204" pitchFamily="18" charset="0"/>
                              <a:ea typeface="Cambria Math" panose="02040503050406030204" pitchFamily="18" charset="0"/>
                            </a:rPr>
                          </m:ctrlPr>
                        </m:sSubPr>
                        <m:e>
                          <m:r>
                            <a:rPr lang="en-US" sz="1050" b="0" i="1" smtClean="0">
                              <a:latin typeface="Cambria Math" panose="02040503050406030204" pitchFamily="18" charset="0"/>
                              <a:ea typeface="Cambria Math" panose="02040503050406030204" pitchFamily="18" charset="0"/>
                            </a:rPr>
                            <m:t>𝑎</m:t>
                          </m:r>
                        </m:e>
                        <m:sub>
                          <m:r>
                            <a:rPr lang="en-US" sz="1050" b="0" i="1" smtClean="0">
                              <a:latin typeface="Cambria Math" panose="02040503050406030204" pitchFamily="18" charset="0"/>
                              <a:ea typeface="Cambria Math" panose="02040503050406030204" pitchFamily="18" charset="0"/>
                            </a:rPr>
                            <m:t>𝑖</m:t>
                          </m:r>
                        </m:sub>
                      </m:sSub>
                      <m:sSub>
                        <m:sSubPr>
                          <m:ctrlPr>
                            <a:rPr lang="en-US" sz="1050" b="0" i="1" smtClean="0">
                              <a:latin typeface="Cambria Math" panose="02040503050406030204" pitchFamily="18" charset="0"/>
                              <a:ea typeface="Cambria Math" panose="02040503050406030204" pitchFamily="18" charset="0"/>
                            </a:rPr>
                          </m:ctrlPr>
                        </m:sSubPr>
                        <m:e>
                          <m:r>
                            <a:rPr lang="en-US" sz="1050" b="0" i="1" smtClean="0">
                              <a:latin typeface="Cambria Math" panose="02040503050406030204" pitchFamily="18" charset="0"/>
                              <a:ea typeface="Cambria Math" panose="02040503050406030204" pitchFamily="18" charset="0"/>
                            </a:rPr>
                            <m:t>𝜔</m:t>
                          </m:r>
                        </m:e>
                        <m:sub>
                          <m:r>
                            <a:rPr lang="en-US" sz="1050" b="0" i="1" smtClean="0">
                              <a:latin typeface="Cambria Math" panose="02040503050406030204" pitchFamily="18" charset="0"/>
                              <a:ea typeface="Cambria Math" panose="02040503050406030204" pitchFamily="18" charset="0"/>
                            </a:rPr>
                            <m:t>𝑖</m:t>
                          </m:r>
                        </m:sub>
                      </m:sSub>
                      <m:r>
                        <a:rPr lang="en-US" sz="1050" b="0" i="1" smtClean="0">
                          <a:latin typeface="Cambria Math" panose="02040503050406030204" pitchFamily="18" charset="0"/>
                          <a:ea typeface="Cambria Math" panose="02040503050406030204" pitchFamily="18" charset="0"/>
                        </a:rPr>
                        <m:t>+</m:t>
                      </m:r>
                      <m:sSub>
                        <m:sSubPr>
                          <m:ctrlPr>
                            <a:rPr lang="en-US" sz="1050" b="0" i="1" smtClean="0">
                              <a:latin typeface="Cambria Math" panose="02040503050406030204" pitchFamily="18" charset="0"/>
                              <a:ea typeface="Cambria Math" panose="02040503050406030204" pitchFamily="18" charset="0"/>
                            </a:rPr>
                          </m:ctrlPr>
                        </m:sSubPr>
                        <m:e>
                          <m:r>
                            <a:rPr lang="en-US" sz="1050" b="0" i="1" smtClean="0">
                              <a:latin typeface="Cambria Math" panose="02040503050406030204" pitchFamily="18" charset="0"/>
                              <a:ea typeface="Cambria Math" panose="02040503050406030204" pitchFamily="18" charset="0"/>
                            </a:rPr>
                            <m:t>𝑎</m:t>
                          </m:r>
                        </m:e>
                        <m:sub>
                          <m:r>
                            <a:rPr lang="en-US" sz="1050" b="0" i="1" smtClean="0">
                              <a:latin typeface="Cambria Math" panose="02040503050406030204" pitchFamily="18" charset="0"/>
                              <a:ea typeface="Cambria Math" panose="02040503050406030204" pitchFamily="18" charset="0"/>
                            </a:rPr>
                            <m:t>𝑗</m:t>
                          </m:r>
                        </m:sub>
                      </m:sSub>
                      <m:sSub>
                        <m:sSubPr>
                          <m:ctrlPr>
                            <a:rPr lang="en-US" sz="1050" b="0" i="1" smtClean="0">
                              <a:latin typeface="Cambria Math" panose="02040503050406030204" pitchFamily="18" charset="0"/>
                              <a:ea typeface="Cambria Math" panose="02040503050406030204" pitchFamily="18" charset="0"/>
                            </a:rPr>
                          </m:ctrlPr>
                        </m:sSubPr>
                        <m:e>
                          <m:r>
                            <a:rPr lang="en-US" sz="1050" b="0" i="1" smtClean="0">
                              <a:latin typeface="Cambria Math" panose="02040503050406030204" pitchFamily="18" charset="0"/>
                              <a:ea typeface="Cambria Math" panose="02040503050406030204" pitchFamily="18" charset="0"/>
                            </a:rPr>
                            <m:t>𝜔</m:t>
                          </m:r>
                        </m:e>
                        <m:sub>
                          <m:r>
                            <a:rPr lang="en-US" sz="1050" b="0" i="1" smtClean="0">
                              <a:latin typeface="Cambria Math" panose="02040503050406030204" pitchFamily="18" charset="0"/>
                              <a:ea typeface="Cambria Math" panose="02040503050406030204" pitchFamily="18" charset="0"/>
                            </a:rPr>
                            <m:t>𝑗</m:t>
                          </m:r>
                        </m:sub>
                      </m:sSub>
                    </m:oMath>
                  </m:oMathPara>
                </a14:m>
                <a:endParaRPr lang="en-US" sz="1050" b="0">
                  <a:latin typeface="Helvetica Neue" panose="020B0604020202020204" charset="0"/>
                  <a:ea typeface="Cambria Math" panose="02040503050406030204" pitchFamily="18" charset="0"/>
                </a:endParaRPr>
              </a:p>
              <a:p>
                <a:pPr algn="ctr"/>
                <a:r>
                  <a:rPr lang="en-US" sz="800" b="0">
                    <a:latin typeface="Helvetica Neue" panose="020B0604020202020204" charset="0"/>
                    <a:ea typeface="Cambria Math" panose="02040503050406030204" pitchFamily="18" charset="0"/>
                  </a:rPr>
                  <a:t>with</a:t>
                </a:r>
                <a:r>
                  <a:rPr lang="en-US" sz="1050" b="0">
                    <a:latin typeface="Helvetica Neue" panose="020B0604020202020204" charset="0"/>
                    <a:ea typeface="Cambria Math" panose="02040503050406030204" pitchFamily="18" charset="0"/>
                  </a:rPr>
                  <a:t> </a:t>
                </a:r>
                <a14:m>
                  <m:oMath xmlns:m="http://schemas.openxmlformats.org/officeDocument/2006/math">
                    <m:sSub>
                      <m:sSubPr>
                        <m:ctrlPr>
                          <a:rPr lang="en-US" sz="1050" i="1">
                            <a:latin typeface="Cambria Math" panose="02040503050406030204" pitchFamily="18" charset="0"/>
                            <a:ea typeface="Cambria Math" panose="02040503050406030204" pitchFamily="18" charset="0"/>
                          </a:rPr>
                        </m:ctrlPr>
                      </m:sSubPr>
                      <m:e>
                        <m:r>
                          <a:rPr lang="en-US" sz="1050" i="1">
                            <a:latin typeface="Cambria Math" panose="02040503050406030204" pitchFamily="18" charset="0"/>
                            <a:ea typeface="Cambria Math" panose="02040503050406030204" pitchFamily="18" charset="0"/>
                          </a:rPr>
                          <m:t>𝑎</m:t>
                        </m:r>
                      </m:e>
                      <m:sub>
                        <m:r>
                          <a:rPr lang="en-US" sz="1050" i="1">
                            <a:latin typeface="Cambria Math" panose="02040503050406030204" pitchFamily="18" charset="0"/>
                            <a:ea typeface="Cambria Math" panose="02040503050406030204" pitchFamily="18" charset="0"/>
                          </a:rPr>
                          <m:t>𝑖</m:t>
                        </m:r>
                      </m:sub>
                    </m:sSub>
                    <m:r>
                      <a:rPr lang="en-US" sz="1050" b="0" i="1" smtClean="0">
                        <a:latin typeface="Cambria Math" panose="02040503050406030204" pitchFamily="18" charset="0"/>
                        <a:ea typeface="Cambria Math" panose="02040503050406030204" pitchFamily="18" charset="0"/>
                      </a:rPr>
                      <m:t>,</m:t>
                    </m:r>
                    <m:sSub>
                      <m:sSubPr>
                        <m:ctrlPr>
                          <a:rPr lang="en-US" sz="1050" b="0" i="1" smtClean="0">
                            <a:latin typeface="Cambria Math" panose="02040503050406030204" pitchFamily="18" charset="0"/>
                            <a:ea typeface="Cambria Math" panose="02040503050406030204" pitchFamily="18" charset="0"/>
                          </a:rPr>
                        </m:ctrlPr>
                      </m:sSubPr>
                      <m:e>
                        <m:r>
                          <a:rPr lang="en-US" sz="1050" b="0" i="1" smtClean="0">
                            <a:latin typeface="Cambria Math" panose="02040503050406030204" pitchFamily="18" charset="0"/>
                            <a:ea typeface="Cambria Math" panose="02040503050406030204" pitchFamily="18" charset="0"/>
                          </a:rPr>
                          <m:t>𝑎</m:t>
                        </m:r>
                      </m:e>
                      <m:sub>
                        <m:r>
                          <a:rPr lang="en-US" sz="1050" b="0" i="1" smtClean="0">
                            <a:latin typeface="Cambria Math" panose="02040503050406030204" pitchFamily="18" charset="0"/>
                            <a:ea typeface="Cambria Math" panose="02040503050406030204" pitchFamily="18" charset="0"/>
                          </a:rPr>
                          <m:t>𝑗</m:t>
                        </m:r>
                      </m:sub>
                    </m:sSub>
                    <m:r>
                      <a:rPr lang="en-US" sz="1050" b="0" i="1" smtClean="0">
                        <a:latin typeface="Cambria Math" panose="02040503050406030204" pitchFamily="18" charset="0"/>
                        <a:ea typeface="Cambria Math" panose="02040503050406030204" pitchFamily="18" charset="0"/>
                      </a:rPr>
                      <m:t> </m:t>
                    </m:r>
                    <m:r>
                      <a:rPr lang="en-US" sz="1050" b="0" i="1" smtClean="0">
                        <a:latin typeface="Cambria Math" panose="02040503050406030204" pitchFamily="18" charset="0"/>
                        <a:ea typeface="Cambria Math" panose="02040503050406030204" pitchFamily="18" charset="0"/>
                      </a:rPr>
                      <m:t>𝜖</m:t>
                    </m:r>
                    <m:r>
                      <a:rPr lang="en-US" sz="1050" b="0" i="1" smtClean="0">
                        <a:latin typeface="Cambria Math" panose="02040503050406030204" pitchFamily="18" charset="0"/>
                        <a:ea typeface="Cambria Math" panose="02040503050406030204" pitchFamily="18" charset="0"/>
                      </a:rPr>
                      <m:t> </m:t>
                    </m:r>
                    <m:r>
                      <a:rPr lang="en-US" sz="1050" b="0" i="1" smtClean="0">
                        <a:latin typeface="Cambria Math" panose="02040503050406030204" pitchFamily="18" charset="0"/>
                        <a:ea typeface="Cambria Math" panose="02040503050406030204" pitchFamily="18" charset="0"/>
                      </a:rPr>
                      <m:t>ℤ</m:t>
                    </m:r>
                    <m:r>
                      <a:rPr lang="en-US" sz="1050" b="0" i="1" smtClean="0">
                        <a:latin typeface="Cambria Math" panose="02040503050406030204" pitchFamily="18" charset="0"/>
                        <a:ea typeface="Cambria Math" panose="02040503050406030204" pitchFamily="18" charset="0"/>
                      </a:rPr>
                      <m:t> </m:t>
                    </m:r>
                  </m:oMath>
                </a14:m>
                <a:r>
                  <a:rPr lang="en-US" sz="800">
                    <a:latin typeface="Helvetica Neue" panose="020B0604020202020204" charset="0"/>
                    <a:ea typeface="Cambria Math" panose="02040503050406030204" pitchFamily="18" charset="0"/>
                  </a:rPr>
                  <a:t>and</a:t>
                </a:r>
                <a:r>
                  <a:rPr lang="en-US" sz="1050">
                    <a:latin typeface="Helvetica Neue" panose="020B0604020202020204" charset="0"/>
                    <a:ea typeface="Cambria Math" panose="02040503050406030204" pitchFamily="18" charset="0"/>
                  </a:rPr>
                  <a:t> </a:t>
                </a:r>
                <a14:m>
                  <m:oMath xmlns:m="http://schemas.openxmlformats.org/officeDocument/2006/math">
                    <m:d>
                      <m:dPr>
                        <m:begChr m:val="|"/>
                        <m:endChr m:val="|"/>
                        <m:ctrlPr>
                          <a:rPr lang="en-US" sz="1050" b="0" i="1" smtClean="0">
                            <a:latin typeface="Cambria Math" panose="02040503050406030204" pitchFamily="18" charset="0"/>
                          </a:rPr>
                        </m:ctrlPr>
                      </m:dPr>
                      <m:e>
                        <m:sSub>
                          <m:sSubPr>
                            <m:ctrlPr>
                              <a:rPr lang="en-US" sz="1050" b="0" i="1" smtClean="0">
                                <a:latin typeface="Cambria Math" panose="02040503050406030204" pitchFamily="18" charset="0"/>
                              </a:rPr>
                            </m:ctrlPr>
                          </m:sSubPr>
                          <m:e>
                            <m:r>
                              <a:rPr lang="en-US" sz="1050" b="0" i="1" smtClean="0">
                                <a:latin typeface="Cambria Math" panose="02040503050406030204" pitchFamily="18" charset="0"/>
                              </a:rPr>
                              <m:t>𝑎</m:t>
                            </m:r>
                          </m:e>
                          <m:sub>
                            <m:r>
                              <a:rPr lang="en-US" sz="1050" b="0" i="1" smtClean="0">
                                <a:latin typeface="Cambria Math" panose="02040503050406030204" pitchFamily="18" charset="0"/>
                              </a:rPr>
                              <m:t>𝑖</m:t>
                            </m:r>
                          </m:sub>
                        </m:sSub>
                      </m:e>
                    </m:d>
                    <m:r>
                      <a:rPr lang="en-US" sz="1050" b="0" i="0" smtClean="0">
                        <a:latin typeface="Cambria Math" panose="02040503050406030204" pitchFamily="18" charset="0"/>
                      </a:rPr>
                      <m:t>+</m:t>
                    </m:r>
                    <m:r>
                      <a:rPr lang="en-US" sz="1050">
                        <a:latin typeface="Cambria Math" panose="02040503050406030204" pitchFamily="18" charset="0"/>
                      </a:rPr>
                      <m:t>|</m:t>
                    </m:r>
                    <m:sSub>
                      <m:sSubPr>
                        <m:ctrlPr>
                          <a:rPr lang="en-US" sz="1050" i="1">
                            <a:latin typeface="Cambria Math" panose="02040503050406030204" pitchFamily="18" charset="0"/>
                          </a:rPr>
                        </m:ctrlPr>
                      </m:sSubPr>
                      <m:e>
                        <m:r>
                          <a:rPr lang="en-US" sz="1050" i="1">
                            <a:latin typeface="Cambria Math" panose="02040503050406030204" pitchFamily="18" charset="0"/>
                          </a:rPr>
                          <m:t>𝑎</m:t>
                        </m:r>
                      </m:e>
                      <m:sub>
                        <m:r>
                          <a:rPr lang="en-US" sz="1050" b="0" i="1" smtClean="0">
                            <a:latin typeface="Cambria Math" panose="02040503050406030204" pitchFamily="18" charset="0"/>
                          </a:rPr>
                          <m:t>𝑗</m:t>
                        </m:r>
                      </m:sub>
                    </m:sSub>
                    <m:r>
                      <a:rPr lang="en-US" sz="1050" i="1">
                        <a:latin typeface="Cambria Math" panose="02040503050406030204" pitchFamily="18" charset="0"/>
                      </a:rPr>
                      <m:t>|</m:t>
                    </m:r>
                    <m:r>
                      <a:rPr lang="en-US" sz="1050" i="1">
                        <a:latin typeface="Cambria Math" panose="02040503050406030204" pitchFamily="18" charset="0"/>
                        <a:ea typeface="Cambria Math" panose="02040503050406030204" pitchFamily="18" charset="0"/>
                      </a:rPr>
                      <m:t>=</m:t>
                    </m:r>
                    <m:r>
                      <a:rPr lang="en-US" sz="1050" b="0" i="1" smtClean="0">
                        <a:latin typeface="Cambria Math" panose="02040503050406030204" pitchFamily="18" charset="0"/>
                        <a:ea typeface="Cambria Math" panose="02040503050406030204" pitchFamily="18" charset="0"/>
                      </a:rPr>
                      <m:t>2</m:t>
                    </m:r>
                  </m:oMath>
                </a14:m>
                <a:endParaRPr lang="en-US" sz="1050">
                  <a:latin typeface="Helvetica Neue" panose="020B0604020202020204" charset="0"/>
                  <a:ea typeface="Cambria Math" panose="02040503050406030204" pitchFamily="18" charset="0"/>
                </a:endParaRPr>
              </a:p>
              <a:p>
                <a:endParaRPr lang="en-US" sz="70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700" i="1">
                          <a:latin typeface="Cambria Math" panose="02040503050406030204" pitchFamily="18" charset="0"/>
                        </a:rPr>
                        <m:t>𝑝</m:t>
                      </m:r>
                      <m:r>
                        <a:rPr lang="en-US" sz="700" b="0" i="1" smtClean="0">
                          <a:latin typeface="Cambria Math" panose="02040503050406030204" pitchFamily="18" charset="0"/>
                        </a:rPr>
                        <m:t>=</m:t>
                      </m:r>
                      <m:r>
                        <a:rPr lang="en-US" sz="700" b="0" i="1" smtClean="0">
                          <a:latin typeface="Cambria Math" panose="02040503050406030204" pitchFamily="18" charset="0"/>
                        </a:rPr>
                        <m:t>h</m:t>
                      </m:r>
                      <m:r>
                        <a:rPr lang="en-US" sz="700" b="0" i="1" smtClean="0">
                          <a:latin typeface="Cambria Math" panose="02040503050406030204" pitchFamily="18" charset="0"/>
                        </a:rPr>
                        <m:t>𝑎𝑟𝑚𝑜𝑛𝑖𝑐𝑖𝑡𝑦</m:t>
                      </m:r>
                      <m:r>
                        <a:rPr lang="en-US" sz="700" b="0" i="1" smtClean="0">
                          <a:latin typeface="Cambria Math" panose="02040503050406030204" pitchFamily="18" charset="0"/>
                        </a:rPr>
                        <m:t> </m:t>
                      </m:r>
                      <m:r>
                        <a:rPr lang="en-US" sz="700" b="0" i="1" smtClean="0">
                          <a:latin typeface="Cambria Math" panose="02040503050406030204" pitchFamily="18" charset="0"/>
                        </a:rPr>
                        <m:t>𝑜𝑟𝑑𝑒𝑟</m:t>
                      </m:r>
                      <m:r>
                        <a:rPr lang="en-US" sz="700" b="0" i="1" smtClean="0">
                          <a:latin typeface="Cambria Math" panose="02040503050406030204" pitchFamily="18" charset="0"/>
                        </a:rPr>
                        <m:t> </m:t>
                      </m:r>
                      <m:r>
                        <a:rPr lang="en-US" sz="700" b="0" i="1" smtClean="0">
                          <a:latin typeface="Cambria Math" panose="02040503050406030204" pitchFamily="18" charset="0"/>
                        </a:rPr>
                        <m:t>𝑜𝑓</m:t>
                      </m:r>
                      <m:r>
                        <a:rPr lang="en-US" sz="700" b="0" i="1" smtClean="0">
                          <a:latin typeface="Cambria Math" panose="02040503050406030204" pitchFamily="18" charset="0"/>
                        </a:rPr>
                        <m:t> </m:t>
                      </m:r>
                      <m:r>
                        <a:rPr lang="en-US" sz="700" b="0" i="1" smtClean="0">
                          <a:latin typeface="Cambria Math" panose="02040503050406030204" pitchFamily="18" charset="0"/>
                        </a:rPr>
                        <m:t>𝑡</m:t>
                      </m:r>
                      <m:r>
                        <a:rPr lang="en-US" sz="700" b="0" i="1" smtClean="0">
                          <a:latin typeface="Cambria Math" panose="02040503050406030204" pitchFamily="18" charset="0"/>
                        </a:rPr>
                        <m:t>h</m:t>
                      </m:r>
                      <m:r>
                        <a:rPr lang="en-US" sz="700" b="0" i="1" smtClean="0">
                          <a:latin typeface="Cambria Math" panose="02040503050406030204" pitchFamily="18" charset="0"/>
                        </a:rPr>
                        <m:t>𝑒</m:t>
                      </m:r>
                      <m:r>
                        <a:rPr lang="en-US" sz="700" b="0" i="1" smtClean="0">
                          <a:latin typeface="Cambria Math" panose="02040503050406030204" pitchFamily="18" charset="0"/>
                        </a:rPr>
                        <m:t> </m:t>
                      </m:r>
                      <m:r>
                        <a:rPr lang="en-US" sz="700" b="0" i="1" smtClean="0">
                          <a:latin typeface="Cambria Math" panose="02040503050406030204" pitchFamily="18" charset="0"/>
                        </a:rPr>
                        <m:t>𝑒𝑥𝑐𝑖𝑡𝑎𝑡𝑖𝑜𝑛</m:t>
                      </m:r>
                    </m:oMath>
                  </m:oMathPara>
                </a14:m>
                <a:endParaRPr lang="en-US" sz="1050">
                  <a:latin typeface="Helvetica Neue" panose="020B0604020202020204"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𝑤</m:t>
                          </m:r>
                        </m:e>
                        <m:sub>
                          <m:r>
                            <a:rPr lang="en-US" sz="800" b="0" i="1" smtClean="0">
                              <a:latin typeface="Cambria Math" panose="02040503050406030204" pitchFamily="18" charset="0"/>
                            </a:rPr>
                            <m:t>𝑖</m:t>
                          </m:r>
                        </m:sub>
                      </m:sSub>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𝑤</m:t>
                          </m:r>
                        </m:e>
                        <m:sub>
                          <m:r>
                            <a:rPr lang="en-US" sz="800" b="0" i="1" smtClean="0">
                              <a:latin typeface="Cambria Math" panose="02040503050406030204" pitchFamily="18" charset="0"/>
                            </a:rPr>
                            <m:t>𝑗</m:t>
                          </m:r>
                        </m:sub>
                      </m:sSub>
                      <m:r>
                        <a:rPr lang="en-US" sz="800" i="1">
                          <a:latin typeface="Cambria Math" panose="02040503050406030204" pitchFamily="18" charset="0"/>
                        </a:rPr>
                        <m:t>=</m:t>
                      </m:r>
                      <m:r>
                        <a:rPr lang="en-US" sz="800" b="0" i="1" smtClean="0">
                          <a:latin typeface="Cambria Math" panose="02040503050406030204" pitchFamily="18" charset="0"/>
                        </a:rPr>
                        <m:t>𝑜𝑡</m:t>
                      </m:r>
                      <m:r>
                        <a:rPr lang="en-US" sz="800" b="0" i="1" smtClean="0">
                          <a:latin typeface="Cambria Math" panose="02040503050406030204" pitchFamily="18" charset="0"/>
                        </a:rPr>
                        <m:t>h</m:t>
                      </m:r>
                      <m:r>
                        <a:rPr lang="en-US" sz="800" b="0" i="1" smtClean="0">
                          <a:latin typeface="Cambria Math" panose="02040503050406030204" pitchFamily="18" charset="0"/>
                        </a:rPr>
                        <m:t>𝑒𝑟</m:t>
                      </m:r>
                      <m:r>
                        <a:rPr lang="en-US" sz="800" b="0" i="1" smtClean="0">
                          <a:latin typeface="Cambria Math" panose="02040503050406030204" pitchFamily="18" charset="0"/>
                        </a:rPr>
                        <m:t> </m:t>
                      </m:r>
                      <m:r>
                        <a:rPr lang="en-US" sz="800" b="0" i="1" smtClean="0">
                          <a:latin typeface="Cambria Math" panose="02040503050406030204" pitchFamily="18" charset="0"/>
                        </a:rPr>
                        <m:t>𝑒𝑖𝑔𝑒𝑛𝑓𝑟𝑒𝑞𝑢𝑒𝑛𝑐𝑖𝑒𝑠</m:t>
                      </m:r>
                      <m:r>
                        <a:rPr lang="en-US" sz="800" b="0" i="1" smtClean="0">
                          <a:latin typeface="Cambria Math" panose="02040503050406030204" pitchFamily="18" charset="0"/>
                        </a:rPr>
                        <m:t> </m:t>
                      </m:r>
                      <m:r>
                        <a:rPr lang="en-US" sz="800" b="0" i="1" smtClean="0">
                          <a:latin typeface="Cambria Math" panose="02040503050406030204" pitchFamily="18" charset="0"/>
                        </a:rPr>
                        <m:t>𝑜𝑓</m:t>
                      </m:r>
                      <m:r>
                        <a:rPr lang="en-US" sz="800" b="0" i="1" smtClean="0">
                          <a:latin typeface="Cambria Math" panose="02040503050406030204" pitchFamily="18" charset="0"/>
                        </a:rPr>
                        <m:t> </m:t>
                      </m:r>
                      <m:r>
                        <a:rPr lang="en-US" sz="800" b="0" i="1" smtClean="0">
                          <a:latin typeface="Cambria Math" panose="02040503050406030204" pitchFamily="18" charset="0"/>
                        </a:rPr>
                        <m:t>𝑡</m:t>
                      </m:r>
                      <m:r>
                        <a:rPr lang="en-US" sz="800" b="0" i="1" smtClean="0">
                          <a:latin typeface="Cambria Math" panose="02040503050406030204" pitchFamily="18" charset="0"/>
                        </a:rPr>
                        <m:t>h</m:t>
                      </m:r>
                      <m:r>
                        <a:rPr lang="en-US" sz="800" b="0" i="1" smtClean="0">
                          <a:latin typeface="Cambria Math" panose="02040503050406030204" pitchFamily="18" charset="0"/>
                        </a:rPr>
                        <m:t>𝑒</m:t>
                      </m:r>
                      <m:r>
                        <a:rPr lang="en-US" sz="800" b="0" i="1" smtClean="0">
                          <a:latin typeface="Cambria Math" panose="02040503050406030204" pitchFamily="18" charset="0"/>
                        </a:rPr>
                        <m:t> </m:t>
                      </m:r>
                      <m:r>
                        <a:rPr lang="en-US" sz="800" b="0" i="1" smtClean="0">
                          <a:latin typeface="Cambria Math" panose="02040503050406030204" pitchFamily="18" charset="0"/>
                        </a:rPr>
                        <m:t>𝑠𝑡𝑟𝑢𝑐𝑡𝑢𝑟𝑒𝑠</m:t>
                      </m:r>
                    </m:oMath>
                  </m:oMathPara>
                </a14:m>
                <a:endParaRPr lang="en-US" sz="800">
                  <a:latin typeface="Helvetica Neue" panose="020B0604020202020204" charset="0"/>
                </a:endParaRPr>
              </a:p>
              <a:p>
                <a:endParaRPr lang="en-US" sz="1050">
                  <a:latin typeface="Helvetica Neue" panose="020B0604020202020204" charset="0"/>
                  <a:ea typeface="Cambria Math" panose="02040503050406030204" pitchFamily="18" charset="0"/>
                </a:endParaRPr>
              </a:p>
              <a:p>
                <a:endParaRPr lang="en-US" sz="1050" b="0">
                  <a:latin typeface="Helvetica Neue" panose="020B0604020202020204" charset="0"/>
                  <a:ea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F45D41F2-1258-9CF4-F254-540924EBD385}"/>
                  </a:ext>
                </a:extLst>
              </p:cNvPr>
              <p:cNvSpPr txBox="1">
                <a:spLocks noRot="1" noChangeAspect="1" noMove="1" noResize="1" noEditPoints="1" noAdjustHandles="1" noChangeArrowheads="1" noChangeShapeType="1" noTextEdit="1"/>
              </p:cNvSpPr>
              <p:nvPr/>
            </p:nvSpPr>
            <p:spPr>
              <a:xfrm>
                <a:off x="5593807" y="3199525"/>
                <a:ext cx="2856500" cy="1020921"/>
              </a:xfrm>
              <a:prstGeom prst="rect">
                <a:avLst/>
              </a:prstGeom>
              <a:blipFill>
                <a:blip r:embed="rId6"/>
                <a:stretch>
                  <a:fillRect/>
                </a:stretch>
              </a:blipFill>
            </p:spPr>
            <p:txBody>
              <a:bodyPr/>
              <a:lstStyle/>
              <a:p>
                <a:r>
                  <a:rPr lang="en-AU">
                    <a:noFill/>
                  </a:rPr>
                  <a:t> </a:t>
                </a:r>
              </a:p>
            </p:txBody>
          </p:sp>
        </mc:Fallback>
      </mc:AlternateContent>
      <p:sp>
        <p:nvSpPr>
          <p:cNvPr id="32" name="Google Shape;230;p20">
            <a:extLst>
              <a:ext uri="{FF2B5EF4-FFF2-40B4-BE49-F238E27FC236}">
                <a16:creationId xmlns:a16="http://schemas.microsoft.com/office/drawing/2014/main" id="{F5392743-B833-2041-F3BC-5D07FC2E847E}"/>
              </a:ext>
            </a:extLst>
          </p:cNvPr>
          <p:cNvSpPr/>
          <p:nvPr/>
        </p:nvSpPr>
        <p:spPr>
          <a:xfrm flipH="1">
            <a:off x="5414442" y="3961618"/>
            <a:ext cx="297810" cy="265178"/>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4</a:t>
            </a:r>
            <a:endParaRPr sz="1200" b="1">
              <a:solidFill>
                <a:srgbClr val="FFFFFF"/>
              </a:solidFill>
              <a:latin typeface="Helvetica Neue"/>
              <a:ea typeface="Helvetica Neue"/>
              <a:cs typeface="Helvetica Neue"/>
              <a:sym typeface="Helvetica Neue"/>
            </a:endParaRPr>
          </a:p>
        </p:txBody>
      </p:sp>
      <p:sp>
        <p:nvSpPr>
          <p:cNvPr id="33" name="Google Shape;227;p20">
            <a:extLst>
              <a:ext uri="{FF2B5EF4-FFF2-40B4-BE49-F238E27FC236}">
                <a16:creationId xmlns:a16="http://schemas.microsoft.com/office/drawing/2014/main" id="{DC4822DE-F936-A309-9B32-75FE6876EAE7}"/>
              </a:ext>
            </a:extLst>
          </p:cNvPr>
          <p:cNvSpPr/>
          <p:nvPr/>
        </p:nvSpPr>
        <p:spPr>
          <a:xfrm flipH="1">
            <a:off x="5712252" y="3960071"/>
            <a:ext cx="2979790" cy="265178"/>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just"/>
            <a:r>
              <a:rPr lang="en-US" sz="900">
                <a:latin typeface="Helvetica Neue"/>
                <a:sym typeface="Helvetica Neue"/>
              </a:rPr>
              <a:t>Second Bifurcation</a:t>
            </a:r>
            <a:endParaRPr sz="900">
              <a:latin typeface="Helvetica Neue"/>
              <a:sym typeface="Helvetica Neue"/>
            </a:endParaRPr>
          </a:p>
        </p:txBody>
      </p:sp>
      <p:sp>
        <p:nvSpPr>
          <p:cNvPr id="34" name="Rectangle 2">
            <a:extLst>
              <a:ext uri="{FF2B5EF4-FFF2-40B4-BE49-F238E27FC236}">
                <a16:creationId xmlns:a16="http://schemas.microsoft.com/office/drawing/2014/main" id="{9BEF1047-CE35-BFED-4A39-A61230641763}"/>
              </a:ext>
            </a:extLst>
          </p:cNvPr>
          <p:cNvSpPr>
            <a:spLocks noChangeArrowheads="1"/>
          </p:cNvSpPr>
          <p:nvPr/>
        </p:nvSpPr>
        <p:spPr bwMode="auto">
          <a:xfrm>
            <a:off x="5414441" y="4289764"/>
            <a:ext cx="2657327"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just" eaLnBrk="0" fontAlgn="base" hangingPunct="0"/>
            <a:r>
              <a:rPr lang="en-US" sz="800">
                <a:latin typeface="Helvetica Neue" panose="020B0604020202020204" charset="0"/>
              </a:rPr>
              <a:t>The motion becomes </a:t>
            </a:r>
            <a:r>
              <a:rPr lang="en-US" sz="800" b="1">
                <a:latin typeface="Helvetica Neue" panose="020B0604020202020204" charset="0"/>
              </a:rPr>
              <a:t>chaotic</a:t>
            </a:r>
            <a:r>
              <a:rPr lang="en-US" sz="800">
                <a:latin typeface="Helvetica Neue" panose="020B0604020202020204" charset="0"/>
              </a:rPr>
              <a:t> (broadband spectrum)</a:t>
            </a:r>
            <a:endParaRPr lang="en-US" altLang="en-US" sz="800">
              <a:solidFill>
                <a:schemeClr val="tx1"/>
              </a:solidFill>
              <a:latin typeface="Helvetica Neue" panose="020B0604020202020204" charset="0"/>
            </a:endParaRPr>
          </a:p>
        </p:txBody>
      </p:sp>
    </p:spTree>
    <p:extLst>
      <p:ext uri="{BB962C8B-B14F-4D97-AF65-F5344CB8AC3E}">
        <p14:creationId xmlns:p14="http://schemas.microsoft.com/office/powerpoint/2010/main" val="444208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AB00469-EE63-00E1-E900-17303D493365}"/>
            </a:ext>
          </a:extLst>
        </p:cNvPr>
        <p:cNvGrpSpPr/>
        <p:nvPr/>
      </p:nvGrpSpPr>
      <p:grpSpPr>
        <a:xfrm>
          <a:off x="0" y="0"/>
          <a:ext cx="0" cy="0"/>
          <a:chOff x="0" y="0"/>
          <a:chExt cx="0" cy="0"/>
        </a:xfrm>
      </p:grpSpPr>
      <p:sp>
        <p:nvSpPr>
          <p:cNvPr id="97" name="Google Shape;97;p14">
            <a:extLst>
              <a:ext uri="{FF2B5EF4-FFF2-40B4-BE49-F238E27FC236}">
                <a16:creationId xmlns:a16="http://schemas.microsoft.com/office/drawing/2014/main" id="{69EE5340-D408-9E2B-C440-BB5D591EA092}"/>
              </a:ext>
            </a:extLst>
          </p:cNvPr>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dirty="0">
                <a:solidFill>
                  <a:srgbClr val="666666"/>
                </a:solidFill>
                <a:latin typeface="Helvetica Neue"/>
                <a:ea typeface="Helvetica Neue"/>
                <a:cs typeface="Helvetica Neue"/>
                <a:sym typeface="Helvetica Neue"/>
              </a:rPr>
              <a:t>3/10</a:t>
            </a:r>
            <a:br>
              <a:rPr lang="en" sz="800" dirty="0">
                <a:solidFill>
                  <a:srgbClr val="666666"/>
                </a:solidFill>
                <a:latin typeface="Helvetica Neue"/>
                <a:ea typeface="Helvetica Neue"/>
                <a:cs typeface="Helvetica Neue"/>
                <a:sym typeface="Helvetica Neue"/>
              </a:rPr>
            </a:br>
            <a:r>
              <a:rPr lang="en-US" sz="800" dirty="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dirty="0">
              <a:solidFill>
                <a:srgbClr val="666666"/>
              </a:solidFill>
              <a:latin typeface="Helvetica Neue"/>
              <a:ea typeface="Helvetica Neue"/>
              <a:cs typeface="Helvetica Neue"/>
              <a:sym typeface="Helvetica Neue"/>
            </a:endParaRPr>
          </a:p>
        </p:txBody>
      </p:sp>
      <p:sp>
        <p:nvSpPr>
          <p:cNvPr id="7" name="Google Shape;164;p17">
            <a:extLst>
              <a:ext uri="{FF2B5EF4-FFF2-40B4-BE49-F238E27FC236}">
                <a16:creationId xmlns:a16="http://schemas.microsoft.com/office/drawing/2014/main" id="{7E028D68-79EF-25EC-BEF8-4A3EDD22783F}"/>
              </a:ext>
            </a:extLst>
          </p:cNvPr>
          <p:cNvSpPr txBox="1"/>
          <p:nvPr/>
        </p:nvSpPr>
        <p:spPr>
          <a:xfrm>
            <a:off x="264325" y="641670"/>
            <a:ext cx="8631000" cy="62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b="1" u="sng">
                <a:solidFill>
                  <a:srgbClr val="980000"/>
                </a:solidFill>
                <a:latin typeface="Helvetica Neue"/>
                <a:ea typeface="Helvetica Neue"/>
                <a:cs typeface="Helvetica Neue"/>
                <a:sym typeface="Helvetica Neue"/>
              </a:rPr>
              <a:t>Theoretical Model &amp; Formulation: </a:t>
            </a:r>
          </a:p>
          <a:p>
            <a:pPr marL="0" lvl="0" indent="0" algn="l" rtl="0">
              <a:spcBef>
                <a:spcPts val="0"/>
              </a:spcBef>
              <a:spcAft>
                <a:spcPts val="0"/>
              </a:spcAft>
              <a:buNone/>
            </a:pPr>
            <a:endParaRPr b="1" u="sng">
              <a:solidFill>
                <a:srgbClr val="980000"/>
              </a:solidFill>
              <a:latin typeface="Helvetica Neue"/>
              <a:ea typeface="Helvetica Neue"/>
              <a:cs typeface="Helvetica Neue"/>
              <a:sym typeface="Helvetica Neue"/>
            </a:endParaRPr>
          </a:p>
        </p:txBody>
      </p:sp>
      <p:sp>
        <p:nvSpPr>
          <p:cNvPr id="6" name="Google Shape;174;p18">
            <a:extLst>
              <a:ext uri="{FF2B5EF4-FFF2-40B4-BE49-F238E27FC236}">
                <a16:creationId xmlns:a16="http://schemas.microsoft.com/office/drawing/2014/main" id="{724CAA48-2FEA-B817-CBD7-543807D51728}"/>
              </a:ext>
            </a:extLst>
          </p:cNvPr>
          <p:cNvSpPr/>
          <p:nvPr/>
        </p:nvSpPr>
        <p:spPr>
          <a:xfrm>
            <a:off x="270150" y="984250"/>
            <a:ext cx="8540100" cy="3594099"/>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pic>
        <p:nvPicPr>
          <p:cNvPr id="12" name="Picture 11">
            <a:extLst>
              <a:ext uri="{FF2B5EF4-FFF2-40B4-BE49-F238E27FC236}">
                <a16:creationId xmlns:a16="http://schemas.microsoft.com/office/drawing/2014/main" id="{F94FA6E8-F8D6-50A0-1283-6BDACD31ED7F}"/>
              </a:ext>
            </a:extLst>
          </p:cNvPr>
          <p:cNvPicPr>
            <a:picLocks noChangeAspect="1"/>
          </p:cNvPicPr>
          <p:nvPr/>
        </p:nvPicPr>
        <p:blipFill>
          <a:blip r:embed="rId3"/>
          <a:stretch>
            <a:fillRect/>
          </a:stretch>
        </p:blipFill>
        <p:spPr>
          <a:xfrm>
            <a:off x="358851" y="2235580"/>
            <a:ext cx="3659695" cy="2307916"/>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7D2F490-B46F-5DD0-A964-DACEE8AC9BA7}"/>
                  </a:ext>
                </a:extLst>
              </p:cNvPr>
              <p:cNvSpPr txBox="1"/>
              <p:nvPr/>
            </p:nvSpPr>
            <p:spPr>
              <a:xfrm>
                <a:off x="4338975" y="1214748"/>
                <a:ext cx="4572000" cy="2983124"/>
              </a:xfrm>
              <a:prstGeom prst="rect">
                <a:avLst/>
              </a:prstGeom>
              <a:noFill/>
            </p:spPr>
            <p:txBody>
              <a:bodyPr wrap="square">
                <a:spAutoFit/>
              </a:bodyPr>
              <a:lstStyle/>
              <a:p>
                <a:pPr>
                  <a:buNone/>
                </a:pPr>
                <a:r>
                  <a:rPr lang="en-US" sz="1100" b="1"/>
                  <a:t>Why Quadratic (2) Dominates over Cubic (3)?</a:t>
                </a:r>
              </a:p>
              <a:p>
                <a:pPr>
                  <a:buNone/>
                </a:pPr>
                <a:endParaRPr lang="en-US" sz="1100" b="1"/>
              </a:p>
              <a:p>
                <a:pPr marL="171450" indent="-171450">
                  <a:buFont typeface="Arial" panose="020B0604020202020204" pitchFamily="34" charset="0"/>
                  <a:buChar char="•"/>
                </a:pPr>
                <a:r>
                  <a:rPr lang="en-US" sz="1100" b="1"/>
                  <a:t>Flat Plates:</a:t>
                </a:r>
                <a:r>
                  <a:rPr lang="en-US" sz="1100"/>
                  <a:t> Ideally, flat structures possess symmetry. This symmetry leads to </a:t>
                </a:r>
                <a:r>
                  <a:rPr lang="en-US" sz="1100" b="1"/>
                  <a:t>Cubic nonlinearity </a:t>
                </a:r>
                <a14:m>
                  <m:oMath xmlns:m="http://schemas.openxmlformats.org/officeDocument/2006/math">
                    <m:sSup>
                      <m:sSupPr>
                        <m:ctrlPr>
                          <a:rPr lang="ar-AE" sz="1100" i="1">
                            <a:latin typeface="Cambria Math" panose="02040503050406030204" pitchFamily="18" charset="0"/>
                          </a:rPr>
                        </m:ctrlPr>
                      </m:sSupPr>
                      <m:e>
                        <m:r>
                          <a:rPr lang="ar-AE" sz="1100" i="1">
                            <a:latin typeface="Cambria Math" panose="02040503050406030204" pitchFamily="18" charset="0"/>
                          </a:rPr>
                          <m:t>𝑢</m:t>
                        </m:r>
                      </m:e>
                      <m:sup>
                        <m:r>
                          <a:rPr lang="ar-AE" sz="1100" i="0">
                            <a:latin typeface="Cambria Math" panose="02040503050406030204" pitchFamily="18" charset="0"/>
                          </a:rPr>
                          <m:t>3</m:t>
                        </m:r>
                      </m:sup>
                    </m:sSup>
                  </m:oMath>
                </a14:m>
                <a:endParaRPr lang="en-US" sz="1100"/>
              </a:p>
              <a:p>
                <a:pPr marL="171450" indent="-171450">
                  <a:buFont typeface="Arial" panose="020B0604020202020204" pitchFamily="34" charset="0"/>
                  <a:buChar char="•"/>
                </a:pPr>
                <a:endParaRPr lang="ar-AE" sz="1100"/>
              </a:p>
              <a:p>
                <a:pPr marL="171450" indent="-171450">
                  <a:buFont typeface="Arial" panose="020B0604020202020204" pitchFamily="34" charset="0"/>
                  <a:buChar char="•"/>
                </a:pPr>
                <a:r>
                  <a:rPr lang="en-US" sz="1100" b="1"/>
                  <a:t>Gongs/Cymbals:</a:t>
                </a:r>
                <a:r>
                  <a:rPr lang="en-US" sz="1100"/>
                  <a:t> These are </a:t>
                </a:r>
                <a:r>
                  <a:rPr lang="en-US" sz="1100" b="1"/>
                  <a:t>Shallow Spherical Shells</a:t>
                </a:r>
                <a:r>
                  <a:rPr lang="en-US" sz="1100"/>
                  <a:t>. The curvature breaks the symmetry of the vibration.</a:t>
                </a:r>
              </a:p>
              <a:p>
                <a:endParaRPr lang="en-US" sz="1100"/>
              </a:p>
              <a:p>
                <a:pPr marL="171450" indent="-171450">
                  <a:buFont typeface="Arial" panose="020B0604020202020204" pitchFamily="34" charset="0"/>
                  <a:buChar char="•"/>
                </a:pPr>
                <a:r>
                  <a:rPr lang="en-US" sz="1100" b="1"/>
                  <a:t>Result:</a:t>
                </a:r>
                <a:r>
                  <a:rPr lang="en-US" sz="1100"/>
                  <a:t> This asymmetry activates the </a:t>
                </a:r>
                <a:r>
                  <a:rPr lang="en-US" sz="1100" b="1"/>
                  <a:t>Quadratic nonlinearity </a:t>
                </a:r>
                <a14:m>
                  <m:oMath xmlns:m="http://schemas.openxmlformats.org/officeDocument/2006/math">
                    <m:sSup>
                      <m:sSupPr>
                        <m:ctrlPr>
                          <a:rPr lang="ar-AE" sz="1100" i="1">
                            <a:latin typeface="Cambria Math" panose="02040503050406030204" pitchFamily="18" charset="0"/>
                          </a:rPr>
                        </m:ctrlPr>
                      </m:sSupPr>
                      <m:e>
                        <m:r>
                          <a:rPr lang="ar-AE" sz="1100" i="1">
                            <a:latin typeface="Cambria Math" panose="02040503050406030204" pitchFamily="18" charset="0"/>
                          </a:rPr>
                          <m:t>𝑢</m:t>
                        </m:r>
                      </m:e>
                      <m:sup>
                        <m:r>
                          <a:rPr lang="ar-AE" sz="1100" i="0">
                            <a:latin typeface="Cambria Math" panose="02040503050406030204" pitchFamily="18" charset="0"/>
                          </a:rPr>
                          <m:t>2</m:t>
                        </m:r>
                      </m:sup>
                    </m:sSup>
                  </m:oMath>
                </a14:m>
                <a:endParaRPr lang="ar-AE" sz="1100"/>
              </a:p>
              <a:p>
                <a:pPr>
                  <a:buNone/>
                </a:pPr>
                <a:endParaRPr lang="en-US" sz="1100" b="1"/>
              </a:p>
              <a:p>
                <a:pPr marL="171450" indent="-171450">
                  <a:buFont typeface="Arial" panose="020B0604020202020204" pitchFamily="34" charset="0"/>
                  <a:buChar char="•"/>
                </a:pPr>
                <a:r>
                  <a:rPr lang="en-US" sz="1100" b="1"/>
                  <a:t>Mathematical Magnitude </a:t>
                </a:r>
                <a14:m>
                  <m:oMath xmlns:m="http://schemas.openxmlformats.org/officeDocument/2006/math">
                    <m:sSub>
                      <m:sSubPr>
                        <m:ctrlPr>
                          <a:rPr lang="ar-AE" sz="1100" i="1">
                            <a:latin typeface="Cambria Math" panose="02040503050406030204" pitchFamily="18" charset="0"/>
                          </a:rPr>
                        </m:ctrlPr>
                      </m:sSubPr>
                      <m:e>
                        <m:r>
                          <a:rPr lang="ar-AE" sz="1100" i="1">
                            <a:latin typeface="Cambria Math" panose="02040503050406030204" pitchFamily="18" charset="0"/>
                          </a:rPr>
                          <m:t>𝜖</m:t>
                        </m:r>
                      </m:e>
                      <m:sub>
                        <m:r>
                          <a:rPr lang="ar-AE" sz="1100" i="1">
                            <a:latin typeface="Cambria Math" panose="02040503050406030204" pitchFamily="18" charset="0"/>
                          </a:rPr>
                          <m:t>𝑞</m:t>
                        </m:r>
                      </m:sub>
                    </m:sSub>
                  </m:oMath>
                </a14:m>
                <a:r>
                  <a:rPr lang="ar-AE" sz="1100" b="1"/>
                  <a:t> </a:t>
                </a:r>
                <a:r>
                  <a:rPr lang="en-US" sz="1100" b="1"/>
                  <a:t>vs. </a:t>
                </a:r>
                <a14:m>
                  <m:oMath xmlns:m="http://schemas.openxmlformats.org/officeDocument/2006/math">
                    <m:sSub>
                      <m:sSubPr>
                        <m:ctrlPr>
                          <a:rPr lang="ar-AE" sz="1100" i="1">
                            <a:latin typeface="Cambria Math" panose="02040503050406030204" pitchFamily="18" charset="0"/>
                          </a:rPr>
                        </m:ctrlPr>
                      </m:sSubPr>
                      <m:e>
                        <m:r>
                          <a:rPr lang="ar-AE" sz="1100" i="1">
                            <a:latin typeface="Cambria Math" panose="02040503050406030204" pitchFamily="18" charset="0"/>
                          </a:rPr>
                          <m:t>𝜖</m:t>
                        </m:r>
                      </m:e>
                      <m:sub>
                        <m:r>
                          <a:rPr lang="ar-AE" sz="1100" i="1">
                            <a:latin typeface="Cambria Math" panose="02040503050406030204" pitchFamily="18" charset="0"/>
                          </a:rPr>
                          <m:t>𝑐</m:t>
                        </m:r>
                      </m:sub>
                    </m:sSub>
                  </m:oMath>
                </a14:m>
                <a:endParaRPr lang="ar-AE" sz="1100" b="1"/>
              </a:p>
              <a:p>
                <a:pPr>
                  <a:buNone/>
                </a:pPr>
                <a:r>
                  <a:rPr lang="en-US" sz="1100"/>
                  <a:t>The relative strength of the nonlinear terms depends on the shell’s geometry:</a:t>
                </a:r>
              </a:p>
              <a:p>
                <a:pPr>
                  <a:buNone/>
                </a:pPr>
                <a:endParaRPr lang="en-US" sz="1100"/>
              </a:p>
              <a:p>
                <a:pPr marL="171450" indent="-171450">
                  <a:buFont typeface="Arial" panose="020B0604020202020204" pitchFamily="34" charset="0"/>
                  <a:buChar char="•"/>
                </a:pPr>
                <a:r>
                  <a:rPr lang="en-US" sz="1100" b="1"/>
                  <a:t>Quadratic parameter:</a:t>
                </a:r>
                <a:endParaRPr lang="en-US" sz="1100"/>
              </a:p>
              <a:p>
                <a:pPr>
                  <a:buNone/>
                </a:pPr>
                <a14:m>
                  <m:oMathPara xmlns:m="http://schemas.openxmlformats.org/officeDocument/2006/math">
                    <m:oMathParaPr>
                      <m:jc m:val="centerGroup"/>
                    </m:oMathParaPr>
                    <m:oMath xmlns:m="http://schemas.openxmlformats.org/officeDocument/2006/math">
                      <m:sSub>
                        <m:sSubPr>
                          <m:ctrlPr>
                            <a:rPr lang="ar-AE" sz="1100" i="1">
                              <a:latin typeface="Cambria Math" panose="02040503050406030204" pitchFamily="18" charset="0"/>
                            </a:rPr>
                          </m:ctrlPr>
                        </m:sSubPr>
                        <m:e>
                          <m:r>
                            <a:rPr lang="ar-AE" sz="1100" i="1">
                              <a:latin typeface="Cambria Math" panose="02040503050406030204" pitchFamily="18" charset="0"/>
                            </a:rPr>
                            <m:t>𝜖</m:t>
                          </m:r>
                        </m:e>
                        <m:sub>
                          <m:r>
                            <a:rPr lang="ar-AE" sz="1100" i="1">
                              <a:latin typeface="Cambria Math" panose="02040503050406030204" pitchFamily="18" charset="0"/>
                            </a:rPr>
                            <m:t>𝑞</m:t>
                          </m:r>
                        </m:sub>
                      </m:sSub>
                      <m:r>
                        <a:rPr lang="ar-AE" sz="1100" i="0">
                          <a:latin typeface="Cambria Math" panose="02040503050406030204" pitchFamily="18" charset="0"/>
                        </a:rPr>
                        <m:t>≈</m:t>
                      </m:r>
                      <m:f>
                        <m:fPr>
                          <m:ctrlPr>
                            <a:rPr lang="ar-AE" sz="1100" i="1">
                              <a:latin typeface="Cambria Math" panose="02040503050406030204" pitchFamily="18" charset="0"/>
                            </a:rPr>
                          </m:ctrlPr>
                        </m:fPr>
                        <m:num>
                          <m:sSup>
                            <m:sSupPr>
                              <m:ctrlPr>
                                <a:rPr lang="ar-AE" sz="1100" i="1">
                                  <a:latin typeface="Cambria Math" panose="02040503050406030204" pitchFamily="18" charset="0"/>
                                </a:rPr>
                              </m:ctrlPr>
                            </m:sSupPr>
                            <m:e>
                              <m:r>
                                <a:rPr lang="ar-AE" sz="1100" i="1">
                                  <a:latin typeface="Cambria Math" panose="02040503050406030204" pitchFamily="18" charset="0"/>
                                </a:rPr>
                                <m:t>𝑎</m:t>
                              </m:r>
                            </m:e>
                            <m:sup>
                              <m:r>
                                <a:rPr lang="ar-AE" sz="1100" i="0">
                                  <a:latin typeface="Cambria Math" panose="02040503050406030204" pitchFamily="18" charset="0"/>
                                </a:rPr>
                                <m:t>2</m:t>
                              </m:r>
                            </m:sup>
                          </m:sSup>
                        </m:num>
                        <m:den>
                          <m:r>
                            <a:rPr lang="ar-AE" sz="1100" i="1">
                              <a:latin typeface="Cambria Math" panose="02040503050406030204" pitchFamily="18" charset="0"/>
                            </a:rPr>
                            <m:t>𝑅</m:t>
                          </m:r>
                        </m:den>
                      </m:f>
                      <m:r>
                        <a:rPr lang="ar-AE" sz="1100" i="0">
                          <a:latin typeface="Cambria Math" panose="02040503050406030204" pitchFamily="18" charset="0"/>
                        </a:rPr>
                        <m:t> </m:t>
                      </m:r>
                      <m:r>
                        <m:rPr>
                          <m:nor/>
                        </m:rPr>
                        <a:rPr lang="ar-AE" sz="1100" b="0" i="1">
                          <a:latin typeface="Cambria Math" panose="02040503050406030204" pitchFamily="18" charset="0"/>
                        </a:rPr>
                        <m:t>(</m:t>
                      </m:r>
                      <m:r>
                        <m:rPr>
                          <m:nor/>
                        </m:rPr>
                        <a:rPr lang="en-US" sz="1100" b="0" i="1">
                          <a:latin typeface="Cambria Math" panose="02040503050406030204" pitchFamily="18" charset="0"/>
                        </a:rPr>
                        <m:t>Radius</m:t>
                      </m:r>
                      <m:r>
                        <m:rPr>
                          <m:nor/>
                        </m:rPr>
                        <a:rPr lang="en-US" sz="1100" b="0" i="1">
                          <a:latin typeface="Cambria Math" panose="02040503050406030204" pitchFamily="18" charset="0"/>
                        </a:rPr>
                        <m:t> </m:t>
                      </m:r>
                      <m:r>
                        <m:rPr>
                          <m:nor/>
                        </m:rPr>
                        <a:rPr lang="en-US" sz="1100" b="0" i="1">
                          <a:latin typeface="Cambria Math" panose="02040503050406030204" pitchFamily="18" charset="0"/>
                        </a:rPr>
                        <m:t>vs</m:t>
                      </m:r>
                      <m:r>
                        <m:rPr>
                          <m:nor/>
                        </m:rPr>
                        <a:rPr lang="en-US" sz="1100" b="0" i="1">
                          <a:latin typeface="Cambria Math" panose="02040503050406030204" pitchFamily="18" charset="0"/>
                        </a:rPr>
                        <m:t>. </m:t>
                      </m:r>
                      <m:r>
                        <m:rPr>
                          <m:nor/>
                        </m:rPr>
                        <a:rPr lang="en-US" sz="1100" b="0" i="1">
                          <a:latin typeface="Cambria Math" panose="02040503050406030204" pitchFamily="18" charset="0"/>
                        </a:rPr>
                        <m:t>Curvature</m:t>
                      </m:r>
                      <m:r>
                        <m:rPr>
                          <m:nor/>
                        </m:rPr>
                        <a:rPr lang="en-US" sz="1100" b="0" i="1">
                          <a:latin typeface="Cambria Math" panose="02040503050406030204" pitchFamily="18" charset="0"/>
                        </a:rPr>
                        <m:t>)</m:t>
                      </m:r>
                    </m:oMath>
                  </m:oMathPara>
                </a14:m>
                <a:endParaRPr lang="en-US" sz="1100" b="0"/>
              </a:p>
            </p:txBody>
          </p:sp>
        </mc:Choice>
        <mc:Fallback xmlns="">
          <p:sp>
            <p:nvSpPr>
              <p:cNvPr id="8" name="TextBox 7">
                <a:extLst>
                  <a:ext uri="{FF2B5EF4-FFF2-40B4-BE49-F238E27FC236}">
                    <a16:creationId xmlns:a16="http://schemas.microsoft.com/office/drawing/2014/main" id="{97D2F490-B46F-5DD0-A964-DACEE8AC9BA7}"/>
                  </a:ext>
                </a:extLst>
              </p:cNvPr>
              <p:cNvSpPr txBox="1">
                <a:spLocks noRot="1" noChangeAspect="1" noMove="1" noResize="1" noEditPoints="1" noAdjustHandles="1" noChangeArrowheads="1" noChangeShapeType="1" noTextEdit="1"/>
              </p:cNvSpPr>
              <p:nvPr/>
            </p:nvSpPr>
            <p:spPr>
              <a:xfrm>
                <a:off x="4338975" y="1214748"/>
                <a:ext cx="4572000" cy="2983124"/>
              </a:xfrm>
              <a:prstGeom prst="rect">
                <a:avLst/>
              </a:prstGeom>
              <a:blipFill>
                <a:blip r:embed="rId4"/>
                <a:stretch>
                  <a:fillRect t="-20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12D0E41-3C2E-EBCB-0864-A7DED1F554AD}"/>
                  </a:ext>
                </a:extLst>
              </p:cNvPr>
              <p:cNvSpPr txBox="1"/>
              <p:nvPr/>
            </p:nvSpPr>
            <p:spPr>
              <a:xfrm>
                <a:off x="309372" y="1106161"/>
                <a:ext cx="3928878" cy="1280607"/>
              </a:xfrm>
              <a:prstGeom prst="rect">
                <a:avLst/>
              </a:prstGeom>
              <a:noFill/>
            </p:spPr>
            <p:txBody>
              <a:bodyPr wrap="square">
                <a:spAutoFit/>
              </a:bodyPr>
              <a:lstStyle/>
              <a:p>
                <a:pPr>
                  <a:buNone/>
                </a:pPr>
                <a:r>
                  <a:rPr lang="en-US" sz="1100" b="1"/>
                  <a:t>Governing Equation &amp; Nonlinear Effects</a:t>
                </a:r>
              </a:p>
              <a:p>
                <a:pPr>
                  <a:buNone/>
                </a:pPr>
                <a:r>
                  <a:rPr lang="en-US" sz="1100"/>
                  <a:t>The response to sinusoidal excitation with linear viscous damping is:</a:t>
                </a:r>
              </a:p>
              <a:p>
                <a:pPr>
                  <a:buNone/>
                </a:pPr>
                <a:endParaRPr lang="en-US" sz="1100"/>
              </a:p>
              <a:p>
                <a:pPr>
                  <a:buNone/>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ar-AE" sz="1100" i="1" smtClean="0">
                              <a:latin typeface="Cambria Math" panose="02040503050406030204" pitchFamily="18" charset="0"/>
                            </a:rPr>
                          </m:ctrlPr>
                        </m:mPr>
                        <m:mr>
                          <m:e/>
                          <m:e>
                            <m:acc>
                              <m:accPr>
                                <m:chr m:val="̈"/>
                                <m:ctrlPr>
                                  <a:rPr lang="ar-AE" sz="1100" i="1">
                                    <a:latin typeface="Cambria Math" panose="02040503050406030204" pitchFamily="18" charset="0"/>
                                  </a:rPr>
                                </m:ctrlPr>
                              </m:accPr>
                              <m:e>
                                <m:r>
                                  <a:rPr lang="ar-AE" sz="1100" i="1">
                                    <a:latin typeface="Cambria Math" panose="02040503050406030204" pitchFamily="18" charset="0"/>
                                  </a:rPr>
                                  <m:t>𝑢</m:t>
                                </m:r>
                              </m:e>
                            </m:acc>
                            <m:r>
                              <a:rPr lang="ar-AE" sz="1100" i="0">
                                <a:latin typeface="Cambria Math" panose="02040503050406030204" pitchFamily="18" charset="0"/>
                              </a:rPr>
                              <m:t>+</m:t>
                            </m:r>
                            <m:sSubSup>
                              <m:sSubSupPr>
                                <m:ctrlPr>
                                  <a:rPr lang="ar-AE" sz="1100" i="1">
                                    <a:latin typeface="Cambria Math" panose="02040503050406030204" pitchFamily="18" charset="0"/>
                                  </a:rPr>
                                </m:ctrlPr>
                              </m:sSubSupPr>
                              <m:e>
                                <m:r>
                                  <a:rPr lang="ar-AE" sz="1100" i="1">
                                    <a:latin typeface="Cambria Math" panose="02040503050406030204" pitchFamily="18" charset="0"/>
                                  </a:rPr>
                                  <m:t>𝜔</m:t>
                                </m:r>
                              </m:e>
                              <m:sub>
                                <m:r>
                                  <a:rPr lang="ar-AE" sz="1100" i="0">
                                    <a:latin typeface="Cambria Math" panose="02040503050406030204" pitchFamily="18" charset="0"/>
                                  </a:rPr>
                                  <m:t>0</m:t>
                                </m:r>
                              </m:sub>
                              <m:sup>
                                <m:r>
                                  <a:rPr lang="ar-AE" sz="1100" i="0">
                                    <a:latin typeface="Cambria Math" panose="02040503050406030204" pitchFamily="18" charset="0"/>
                                  </a:rPr>
                                  <m:t>2</m:t>
                                </m:r>
                              </m:sup>
                            </m:sSubSup>
                            <m:r>
                              <a:rPr lang="ar-AE" sz="1100" i="1">
                                <a:latin typeface="Cambria Math" panose="02040503050406030204" pitchFamily="18" charset="0"/>
                              </a:rPr>
                              <m:t>𝑢</m:t>
                            </m:r>
                            <m:r>
                              <a:rPr lang="ar-AE" sz="1100" i="0">
                                <a:latin typeface="Cambria Math" panose="02040503050406030204" pitchFamily="18" charset="0"/>
                              </a:rPr>
                              <m:t>=−</m:t>
                            </m:r>
                            <m:r>
                              <a:rPr lang="ar-AE" sz="1100" i="0">
                                <a:latin typeface="Cambria Math" panose="02040503050406030204" pitchFamily="18" charset="0"/>
                              </a:rPr>
                              <m:t>2</m:t>
                            </m:r>
                            <m:r>
                              <a:rPr lang="ar-AE" sz="1100" i="1">
                                <a:latin typeface="Cambria Math" panose="02040503050406030204" pitchFamily="18" charset="0"/>
                              </a:rPr>
                              <m:t>𝜖𝜇</m:t>
                            </m:r>
                            <m:acc>
                              <m:accPr>
                                <m:chr m:val="̇"/>
                                <m:ctrlPr>
                                  <a:rPr lang="ar-AE" sz="1100" i="1">
                                    <a:latin typeface="Cambria Math" panose="02040503050406030204" pitchFamily="18" charset="0"/>
                                  </a:rPr>
                                </m:ctrlPr>
                              </m:accPr>
                              <m:e>
                                <m:r>
                                  <a:rPr lang="ar-AE" sz="1100" i="1">
                                    <a:latin typeface="Cambria Math" panose="02040503050406030204" pitchFamily="18" charset="0"/>
                                  </a:rPr>
                                  <m:t>𝑢</m:t>
                                </m:r>
                              </m:e>
                            </m:acc>
                            <m:r>
                              <m:rPr>
                                <m:nor/>
                              </m:rPr>
                              <a:rPr lang="ar-AE" sz="1100" b="0" i="1">
                                <a:latin typeface="Cambria Math" panose="02040503050406030204" pitchFamily="18" charset="0"/>
                              </a:rPr>
                              <m:t>  </m:t>
                            </m:r>
                            <m:r>
                              <a:rPr lang="ar-AE" sz="1100" b="0" i="0">
                                <a:latin typeface="Cambria Math" panose="02040503050406030204" pitchFamily="18" charset="0"/>
                              </a:rPr>
                              <m:t>−</m:t>
                            </m:r>
                            <m:r>
                              <m:rPr>
                                <m:nor/>
                              </m:rPr>
                              <a:rPr lang="ar-AE" sz="1100" b="0" i="1">
                                <a:latin typeface="Cambria Math" panose="02040503050406030204" pitchFamily="18" charset="0"/>
                              </a:rPr>
                              <m:t>  </m:t>
                            </m:r>
                            <m:r>
                              <a:rPr lang="ar-AE" sz="1100" b="0" i="1">
                                <a:latin typeface="Cambria Math" panose="02040503050406030204" pitchFamily="18" charset="0"/>
                              </a:rPr>
                              <m:t>𝜖</m:t>
                            </m:r>
                            <m:sSub>
                              <m:sSubPr>
                                <m:ctrlPr>
                                  <a:rPr lang="ar-AE" sz="1100" b="0" i="1">
                                    <a:latin typeface="Cambria Math" panose="02040503050406030204" pitchFamily="18" charset="0"/>
                                  </a:rPr>
                                </m:ctrlPr>
                              </m:sSubPr>
                              <m:e>
                                <m:r>
                                  <a:rPr lang="ar-AE" sz="1100" b="0" i="1">
                                    <a:latin typeface="Cambria Math" panose="02040503050406030204" pitchFamily="18" charset="0"/>
                                  </a:rPr>
                                  <m:t>𝛼</m:t>
                                </m:r>
                              </m:e>
                              <m:sub>
                                <m:r>
                                  <a:rPr lang="ar-AE" sz="1100" b="0" i="0">
                                    <a:latin typeface="Cambria Math" panose="02040503050406030204" pitchFamily="18" charset="0"/>
                                  </a:rPr>
                                  <m:t>2</m:t>
                                </m:r>
                              </m:sub>
                            </m:sSub>
                            <m:sSup>
                              <m:sSupPr>
                                <m:ctrlPr>
                                  <a:rPr lang="ar-AE" sz="1100" b="0" i="1">
                                    <a:latin typeface="Cambria Math" panose="02040503050406030204" pitchFamily="18" charset="0"/>
                                  </a:rPr>
                                </m:ctrlPr>
                              </m:sSupPr>
                              <m:e>
                                <m:r>
                                  <a:rPr lang="ar-AE" sz="1100" b="0" i="1">
                                    <a:latin typeface="Cambria Math" panose="02040503050406030204" pitchFamily="18" charset="0"/>
                                  </a:rPr>
                                  <m:t>𝑢</m:t>
                                </m:r>
                              </m:e>
                              <m:sup>
                                <m:r>
                                  <a:rPr lang="ar-AE" sz="1100" b="0" i="0">
                                    <a:latin typeface="Cambria Math" panose="02040503050406030204" pitchFamily="18" charset="0"/>
                                  </a:rPr>
                                  <m:t>2</m:t>
                                </m:r>
                              </m:sup>
                            </m:sSup>
                            <m:r>
                              <m:rPr>
                                <m:nor/>
                              </m:rPr>
                              <a:rPr lang="ar-AE" sz="1100" b="0" i="1">
                                <a:latin typeface="Cambria Math" panose="02040503050406030204" pitchFamily="18" charset="0"/>
                              </a:rPr>
                              <m:t>  </m:t>
                            </m:r>
                            <m:r>
                              <a:rPr lang="ar-AE" sz="1100" b="0" i="0">
                                <a:latin typeface="Cambria Math" panose="02040503050406030204" pitchFamily="18" charset="0"/>
                              </a:rPr>
                              <m:t>−</m:t>
                            </m:r>
                            <m:r>
                              <m:rPr>
                                <m:nor/>
                              </m:rPr>
                              <a:rPr lang="ar-AE" sz="1100" b="0" i="1">
                                <a:latin typeface="Cambria Math" panose="02040503050406030204" pitchFamily="18" charset="0"/>
                              </a:rPr>
                              <m:t>  </m:t>
                            </m:r>
                            <m:sSup>
                              <m:sSupPr>
                                <m:ctrlPr>
                                  <a:rPr lang="ar-AE" sz="1100" b="0" i="1">
                                    <a:latin typeface="Cambria Math" panose="02040503050406030204" pitchFamily="18" charset="0"/>
                                  </a:rPr>
                                </m:ctrlPr>
                              </m:sSupPr>
                              <m:e>
                                <m:r>
                                  <a:rPr lang="ar-AE" sz="1100" b="0" i="1">
                                    <a:latin typeface="Cambria Math" panose="02040503050406030204" pitchFamily="18" charset="0"/>
                                  </a:rPr>
                                  <m:t>𝜖</m:t>
                                </m:r>
                              </m:e>
                              <m:sup>
                                <m:r>
                                  <a:rPr lang="ar-AE" sz="1100" b="0" i="0">
                                    <a:latin typeface="Cambria Math" panose="02040503050406030204" pitchFamily="18" charset="0"/>
                                  </a:rPr>
                                  <m:t>2</m:t>
                                </m:r>
                              </m:sup>
                            </m:sSup>
                            <m:sSub>
                              <m:sSubPr>
                                <m:ctrlPr>
                                  <a:rPr lang="ar-AE" sz="1100" b="0" i="1">
                                    <a:latin typeface="Cambria Math" panose="02040503050406030204" pitchFamily="18" charset="0"/>
                                  </a:rPr>
                                </m:ctrlPr>
                              </m:sSubPr>
                              <m:e>
                                <m:r>
                                  <a:rPr lang="ar-AE" sz="1100" b="0" i="1">
                                    <a:latin typeface="Cambria Math" panose="02040503050406030204" pitchFamily="18" charset="0"/>
                                  </a:rPr>
                                  <m:t>𝛼</m:t>
                                </m:r>
                              </m:e>
                              <m:sub>
                                <m:r>
                                  <a:rPr lang="ar-AE" sz="1100" b="0" i="0">
                                    <a:latin typeface="Cambria Math" panose="02040503050406030204" pitchFamily="18" charset="0"/>
                                  </a:rPr>
                                  <m:t>3</m:t>
                                </m:r>
                              </m:sub>
                            </m:sSub>
                            <m:sSup>
                              <m:sSupPr>
                                <m:ctrlPr>
                                  <a:rPr lang="ar-AE" sz="1100" b="0" i="1">
                                    <a:latin typeface="Cambria Math" panose="02040503050406030204" pitchFamily="18" charset="0"/>
                                  </a:rPr>
                                </m:ctrlPr>
                              </m:sSupPr>
                              <m:e>
                                <m:r>
                                  <a:rPr lang="ar-AE" sz="1100" b="0" i="1">
                                    <a:latin typeface="Cambria Math" panose="02040503050406030204" pitchFamily="18" charset="0"/>
                                  </a:rPr>
                                  <m:t>𝑢</m:t>
                                </m:r>
                              </m:e>
                              <m:sup>
                                <m:r>
                                  <a:rPr lang="ar-AE" sz="1100" b="0" i="0">
                                    <a:latin typeface="Cambria Math" panose="02040503050406030204" pitchFamily="18" charset="0"/>
                                  </a:rPr>
                                  <m:t>3</m:t>
                                </m:r>
                              </m:sup>
                            </m:sSup>
                            <m:r>
                              <m:rPr>
                                <m:nor/>
                              </m:rPr>
                              <a:rPr lang="ar-AE" sz="1100" b="0" i="1">
                                <a:latin typeface="Cambria Math" panose="02040503050406030204" pitchFamily="18" charset="0"/>
                              </a:rPr>
                              <m:t>  </m:t>
                            </m:r>
                            <m:r>
                              <a:rPr lang="ar-AE" sz="1100" b="0" i="0">
                                <a:latin typeface="Cambria Math" panose="02040503050406030204" pitchFamily="18" charset="0"/>
                              </a:rPr>
                              <m:t>+</m:t>
                            </m:r>
                            <m:r>
                              <m:rPr>
                                <m:nor/>
                              </m:rPr>
                              <a:rPr lang="ar-AE" sz="1100" b="0" i="1">
                                <a:latin typeface="Cambria Math" panose="02040503050406030204" pitchFamily="18" charset="0"/>
                              </a:rPr>
                              <m:t>  </m:t>
                            </m:r>
                            <m:r>
                              <a:rPr lang="ar-AE" sz="1100" b="0" i="1">
                                <a:latin typeface="Cambria Math" panose="02040503050406030204" pitchFamily="18" charset="0"/>
                              </a:rPr>
                              <m:t>𝐾</m:t>
                            </m:r>
                            <m:func>
                              <m:funcPr>
                                <m:ctrlPr>
                                  <a:rPr lang="ar-AE" sz="1100" b="0" i="1">
                                    <a:latin typeface="Cambria Math" panose="02040503050406030204" pitchFamily="18" charset="0"/>
                                  </a:rPr>
                                </m:ctrlPr>
                              </m:funcPr>
                              <m:fName>
                                <m:r>
                                  <m:rPr>
                                    <m:sty m:val="p"/>
                                  </m:rPr>
                                  <a:rPr lang="en-US" sz="1100" b="0" i="0">
                                    <a:latin typeface="Cambria Math" panose="02040503050406030204" pitchFamily="18" charset="0"/>
                                  </a:rPr>
                                  <m:t>cos</m:t>
                                </m:r>
                              </m:fName>
                              <m:e>
                                <m:r>
                                  <m:rPr>
                                    <m:sty m:val="p"/>
                                  </m:rPr>
                                  <a:rPr lang="el-GR" sz="1100" b="0" i="0">
                                    <a:latin typeface="Cambria Math" panose="02040503050406030204" pitchFamily="18" charset="0"/>
                                  </a:rPr>
                                  <m:t>Ω</m:t>
                                </m:r>
                              </m:e>
                            </m:func>
                            <m:r>
                              <a:rPr lang="ar-AE" sz="1100" b="0" i="1">
                                <a:latin typeface="Cambria Math" panose="02040503050406030204" pitchFamily="18" charset="0"/>
                              </a:rPr>
                              <m:t>𝑡</m:t>
                            </m:r>
                          </m:e>
                          <m:e/>
                          <m:e/>
                        </m:mr>
                      </m:m>
                    </m:oMath>
                  </m:oMathPara>
                </a14:m>
                <a:endParaRPr lang="en-US" sz="1100" b="0"/>
              </a:p>
              <a:p>
                <a:pPr>
                  <a:buNone/>
                </a:pPr>
                <a:endParaRPr lang="en-US" sz="1100" b="0"/>
              </a:p>
              <a:p>
                <a:pPr>
                  <a:buNone/>
                </a:pPr>
                <a:endParaRPr lang="ar-AE" sz="1100" b="0"/>
              </a:p>
            </p:txBody>
          </p:sp>
        </mc:Choice>
        <mc:Fallback xmlns="">
          <p:sp>
            <p:nvSpPr>
              <p:cNvPr id="13" name="TextBox 12">
                <a:extLst>
                  <a:ext uri="{FF2B5EF4-FFF2-40B4-BE49-F238E27FC236}">
                    <a16:creationId xmlns:a16="http://schemas.microsoft.com/office/drawing/2014/main" id="{912D0E41-3C2E-EBCB-0864-A7DED1F554AD}"/>
                  </a:ext>
                </a:extLst>
              </p:cNvPr>
              <p:cNvSpPr txBox="1">
                <a:spLocks noRot="1" noChangeAspect="1" noMove="1" noResize="1" noEditPoints="1" noAdjustHandles="1" noChangeArrowheads="1" noChangeShapeType="1" noTextEdit="1"/>
              </p:cNvSpPr>
              <p:nvPr/>
            </p:nvSpPr>
            <p:spPr>
              <a:xfrm>
                <a:off x="309372" y="1106161"/>
                <a:ext cx="3928878" cy="1280607"/>
              </a:xfrm>
              <a:prstGeom prst="rect">
                <a:avLst/>
              </a:prstGeom>
              <a:blipFill>
                <a:blip r:embed="rId5"/>
                <a:stretch>
                  <a:fillRect t="-474"/>
                </a:stretch>
              </a:blipFill>
            </p:spPr>
            <p:txBody>
              <a:bodyPr/>
              <a:lstStyle/>
              <a:p>
                <a:r>
                  <a:rPr lang="en-AU">
                    <a:noFill/>
                  </a:rPr>
                  <a:t> </a:t>
                </a:r>
              </a:p>
            </p:txBody>
          </p:sp>
        </mc:Fallback>
      </mc:AlternateContent>
      <p:grpSp>
        <p:nvGrpSpPr>
          <p:cNvPr id="15" name="Group 14">
            <a:extLst>
              <a:ext uri="{FF2B5EF4-FFF2-40B4-BE49-F238E27FC236}">
                <a16:creationId xmlns:a16="http://schemas.microsoft.com/office/drawing/2014/main" id="{E647C935-4406-D361-82F4-4EAF95B9B342}"/>
              </a:ext>
            </a:extLst>
          </p:cNvPr>
          <p:cNvGrpSpPr/>
          <p:nvPr/>
        </p:nvGrpSpPr>
        <p:grpSpPr>
          <a:xfrm>
            <a:off x="1610670" y="2011047"/>
            <a:ext cx="980392" cy="304702"/>
            <a:chOff x="1610670" y="2199470"/>
            <a:chExt cx="980392" cy="304702"/>
          </a:xfrm>
        </p:grpSpPr>
        <p:sp>
          <p:nvSpPr>
            <p:cNvPr id="5" name="Left Brace 4">
              <a:extLst>
                <a:ext uri="{FF2B5EF4-FFF2-40B4-BE49-F238E27FC236}">
                  <a16:creationId xmlns:a16="http://schemas.microsoft.com/office/drawing/2014/main" id="{D86D31BB-A9F5-8322-5D15-D18D9E1B552D}"/>
                </a:ext>
              </a:extLst>
            </p:cNvPr>
            <p:cNvSpPr/>
            <p:nvPr/>
          </p:nvSpPr>
          <p:spPr>
            <a:xfrm rot="16200000">
              <a:off x="2047942" y="2073695"/>
              <a:ext cx="105848" cy="357398"/>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a:p>
          </p:txBody>
        </p:sp>
        <p:sp>
          <p:nvSpPr>
            <p:cNvPr id="9" name="Rectangle 2">
              <a:extLst>
                <a:ext uri="{FF2B5EF4-FFF2-40B4-BE49-F238E27FC236}">
                  <a16:creationId xmlns:a16="http://schemas.microsoft.com/office/drawing/2014/main" id="{9B25470A-8A54-55F9-5621-A439FFDA70D2}"/>
                </a:ext>
              </a:extLst>
            </p:cNvPr>
            <p:cNvSpPr>
              <a:spLocks noChangeArrowheads="1"/>
            </p:cNvSpPr>
            <p:nvPr/>
          </p:nvSpPr>
          <p:spPr bwMode="auto">
            <a:xfrm>
              <a:off x="1610670" y="2350284"/>
              <a:ext cx="98039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algn="ctr" eaLnBrk="0" fontAlgn="base" hangingPunct="0">
                <a:spcBef>
                  <a:spcPct val="0"/>
                </a:spcBef>
                <a:spcAft>
                  <a:spcPct val="0"/>
                </a:spcAft>
                <a:buClrTx/>
              </a:pPr>
              <a:r>
                <a:rPr kumimoji="0" lang="en-US" altLang="en-US" sz="700" b="0" i="0" u="none" strike="noStrike" cap="none" normalizeH="0" baseline="0">
                  <a:ln>
                    <a:noFill/>
                  </a:ln>
                  <a:solidFill>
                    <a:schemeClr val="tx1"/>
                  </a:solidFill>
                  <a:effectLst/>
                  <a:latin typeface="Helvetica Neue" panose="020B0604020202020204" charset="0"/>
                </a:rPr>
                <a:t>Quadratic Term</a:t>
              </a:r>
            </a:p>
          </p:txBody>
        </p:sp>
      </p:grpSp>
      <p:grpSp>
        <p:nvGrpSpPr>
          <p:cNvPr id="14" name="Group 13">
            <a:extLst>
              <a:ext uri="{FF2B5EF4-FFF2-40B4-BE49-F238E27FC236}">
                <a16:creationId xmlns:a16="http://schemas.microsoft.com/office/drawing/2014/main" id="{84159466-2045-6C61-9600-FA5759B6C36A}"/>
              </a:ext>
            </a:extLst>
          </p:cNvPr>
          <p:cNvGrpSpPr/>
          <p:nvPr/>
        </p:nvGrpSpPr>
        <p:grpSpPr>
          <a:xfrm>
            <a:off x="2286337" y="2011734"/>
            <a:ext cx="980392" cy="304702"/>
            <a:chOff x="1763070" y="2351870"/>
            <a:chExt cx="980392" cy="304702"/>
          </a:xfrm>
        </p:grpSpPr>
        <p:sp>
          <p:nvSpPr>
            <p:cNvPr id="10" name="Left Brace 9">
              <a:extLst>
                <a:ext uri="{FF2B5EF4-FFF2-40B4-BE49-F238E27FC236}">
                  <a16:creationId xmlns:a16="http://schemas.microsoft.com/office/drawing/2014/main" id="{E700020F-99FA-D05C-A7F3-CAC1C0AE63FB}"/>
                </a:ext>
              </a:extLst>
            </p:cNvPr>
            <p:cNvSpPr/>
            <p:nvPr/>
          </p:nvSpPr>
          <p:spPr>
            <a:xfrm rot="16200000">
              <a:off x="2200342" y="2226095"/>
              <a:ext cx="105848" cy="357398"/>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sz="1200"/>
            </a:p>
          </p:txBody>
        </p:sp>
        <p:sp>
          <p:nvSpPr>
            <p:cNvPr id="11" name="Rectangle 2">
              <a:extLst>
                <a:ext uri="{FF2B5EF4-FFF2-40B4-BE49-F238E27FC236}">
                  <a16:creationId xmlns:a16="http://schemas.microsoft.com/office/drawing/2014/main" id="{EB7840BC-42AA-7BD3-5B28-6A2B616155E9}"/>
                </a:ext>
              </a:extLst>
            </p:cNvPr>
            <p:cNvSpPr>
              <a:spLocks noChangeArrowheads="1"/>
            </p:cNvSpPr>
            <p:nvPr/>
          </p:nvSpPr>
          <p:spPr bwMode="auto">
            <a:xfrm>
              <a:off x="1763070" y="2502684"/>
              <a:ext cx="98039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algn="ctr" eaLnBrk="0" fontAlgn="base" hangingPunct="0">
                <a:spcBef>
                  <a:spcPct val="0"/>
                </a:spcBef>
                <a:spcAft>
                  <a:spcPct val="0"/>
                </a:spcAft>
                <a:buClrTx/>
              </a:pPr>
              <a:r>
                <a:rPr kumimoji="0" lang="en-US" altLang="en-US" sz="700" b="0" i="0" u="none" strike="noStrike" cap="none" normalizeH="0" baseline="0">
                  <a:ln>
                    <a:noFill/>
                  </a:ln>
                  <a:solidFill>
                    <a:schemeClr val="tx1"/>
                  </a:solidFill>
                  <a:effectLst/>
                  <a:latin typeface="Helvetica Neue" panose="020B0604020202020204" charset="0"/>
                </a:rPr>
                <a:t>Cubic Term</a:t>
              </a:r>
            </a:p>
          </p:txBody>
        </p:sp>
      </p:grpSp>
      <p:grpSp>
        <p:nvGrpSpPr>
          <p:cNvPr id="19" name="Group 18">
            <a:extLst>
              <a:ext uri="{FF2B5EF4-FFF2-40B4-BE49-F238E27FC236}">
                <a16:creationId xmlns:a16="http://schemas.microsoft.com/office/drawing/2014/main" id="{74956DB5-04C8-43D0-7B9E-0C8D731E7A90}"/>
              </a:ext>
            </a:extLst>
          </p:cNvPr>
          <p:cNvGrpSpPr/>
          <p:nvPr/>
        </p:nvGrpSpPr>
        <p:grpSpPr>
          <a:xfrm>
            <a:off x="106313" y="4795750"/>
            <a:ext cx="8931378" cy="267000"/>
            <a:chOff x="106313" y="4795750"/>
            <a:chExt cx="8931378" cy="267000"/>
          </a:xfrm>
        </p:grpSpPr>
        <p:sp>
          <p:nvSpPr>
            <p:cNvPr id="16" name="Google Shape;106;p15">
              <a:extLst>
                <a:ext uri="{FF2B5EF4-FFF2-40B4-BE49-F238E27FC236}">
                  <a16:creationId xmlns:a16="http://schemas.microsoft.com/office/drawing/2014/main" id="{F8E09AE6-0ECF-3D12-090C-2E53CEEB57ED}"/>
                </a:ext>
              </a:extLst>
            </p:cNvPr>
            <p:cNvSpPr/>
            <p:nvPr/>
          </p:nvSpPr>
          <p:spPr>
            <a:xfrm>
              <a:off x="106313"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 sz="900" b="1">
                  <a:solidFill>
                    <a:schemeClr val="dk1"/>
                  </a:solidFill>
                  <a:latin typeface="Helvetica Neue"/>
                  <a:sym typeface="Helvetica Neue"/>
                </a:rPr>
                <a:t>Introduction</a:t>
              </a:r>
              <a:endParaRPr sz="900" b="1">
                <a:solidFill>
                  <a:schemeClr val="dk1"/>
                </a:solidFill>
                <a:latin typeface="Helvetica Neue"/>
                <a:sym typeface="Helvetica Neue"/>
              </a:endParaRPr>
            </a:p>
          </p:txBody>
        </p:sp>
        <p:sp>
          <p:nvSpPr>
            <p:cNvPr id="17" name="Google Shape;107;p15">
              <a:extLst>
                <a:ext uri="{FF2B5EF4-FFF2-40B4-BE49-F238E27FC236}">
                  <a16:creationId xmlns:a16="http://schemas.microsoft.com/office/drawing/2014/main" id="{57E16D9A-0A39-540B-6DE6-6A34C587A7A9}"/>
                </a:ext>
              </a:extLst>
            </p:cNvPr>
            <p:cNvSpPr/>
            <p:nvPr/>
          </p:nvSpPr>
          <p:spPr>
            <a:xfrm>
              <a:off x="3111004"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ID" sz="900" b="1">
                  <a:solidFill>
                    <a:schemeClr val="dk1"/>
                  </a:solidFill>
                  <a:latin typeface="Helvetica Neue"/>
                  <a:sym typeface="Helvetica Neue"/>
                </a:rPr>
                <a:t>Summary of Experiments</a:t>
              </a:r>
            </a:p>
          </p:txBody>
        </p:sp>
        <p:sp>
          <p:nvSpPr>
            <p:cNvPr id="18" name="Google Shape;108;p15">
              <a:extLst>
                <a:ext uri="{FF2B5EF4-FFF2-40B4-BE49-F238E27FC236}">
                  <a16:creationId xmlns:a16="http://schemas.microsoft.com/office/drawing/2014/main" id="{CA66CE43-8FC8-FC4C-66AE-D2AB35707D45}"/>
                </a:ext>
              </a:extLst>
            </p:cNvPr>
            <p:cNvSpPr/>
            <p:nvPr/>
          </p:nvSpPr>
          <p:spPr>
            <a:xfrm>
              <a:off x="6115691" y="4795750"/>
              <a:ext cx="2922000" cy="267000"/>
            </a:xfrm>
            <a:prstGeom prst="roundRect">
              <a:avLst>
                <a:gd name="adj" fmla="val 16667"/>
              </a:avLst>
            </a:prstGeom>
            <a:solidFill>
              <a:srgbClr val="980000"/>
            </a:solidFill>
            <a:ln>
              <a:noFill/>
            </a:ln>
          </p:spPr>
          <p:txBody>
            <a:bodyPr spcFirstLastPara="1" wrap="square" lIns="45725" tIns="45725" rIns="45725" bIns="45725" anchor="ctr" anchorCtr="0">
              <a:noAutofit/>
            </a:bodyPr>
            <a:lstStyle/>
            <a:p>
              <a:pPr algn="ctr"/>
              <a:r>
                <a:rPr lang="en" sz="900" b="1">
                  <a:solidFill>
                    <a:schemeClr val="lt1"/>
                  </a:solidFill>
                  <a:latin typeface="Helvetica Neue"/>
                  <a:sym typeface="Helvetica Neue"/>
                </a:rPr>
                <a:t>Analysis &amp; Discussion</a:t>
              </a:r>
              <a:endParaRPr sz="900" b="1">
                <a:solidFill>
                  <a:schemeClr val="lt1"/>
                </a:solidFill>
                <a:latin typeface="Helvetica Neue"/>
                <a:sym typeface="Helvetica Neue"/>
              </a:endParaRPr>
            </a:p>
          </p:txBody>
        </p:sp>
      </p:grpSp>
    </p:spTree>
    <p:extLst>
      <p:ext uri="{BB962C8B-B14F-4D97-AF65-F5344CB8AC3E}">
        <p14:creationId xmlns:p14="http://schemas.microsoft.com/office/powerpoint/2010/main" val="3880430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73ECC52-F71A-B6F2-C5FC-CF5710C0A9CE}"/>
            </a:ext>
          </a:extLst>
        </p:cNvPr>
        <p:cNvGrpSpPr/>
        <p:nvPr/>
      </p:nvGrpSpPr>
      <p:grpSpPr>
        <a:xfrm>
          <a:off x="0" y="0"/>
          <a:ext cx="0" cy="0"/>
          <a:chOff x="0" y="0"/>
          <a:chExt cx="0" cy="0"/>
        </a:xfrm>
      </p:grpSpPr>
      <p:sp>
        <p:nvSpPr>
          <p:cNvPr id="97" name="Google Shape;97;p14">
            <a:extLst>
              <a:ext uri="{FF2B5EF4-FFF2-40B4-BE49-F238E27FC236}">
                <a16:creationId xmlns:a16="http://schemas.microsoft.com/office/drawing/2014/main" id="{588EAE59-376B-DFD8-7B9C-DF5BB902DCF1}"/>
              </a:ext>
            </a:extLst>
          </p:cNvPr>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dirty="0">
                <a:solidFill>
                  <a:srgbClr val="666666"/>
                </a:solidFill>
                <a:latin typeface="Helvetica Neue"/>
                <a:ea typeface="Helvetica Neue"/>
                <a:cs typeface="Helvetica Neue"/>
                <a:sym typeface="Helvetica Neue"/>
              </a:rPr>
              <a:t>4/10</a:t>
            </a:r>
            <a:br>
              <a:rPr lang="en" sz="800" dirty="0">
                <a:solidFill>
                  <a:srgbClr val="666666"/>
                </a:solidFill>
                <a:latin typeface="Helvetica Neue"/>
                <a:ea typeface="Helvetica Neue"/>
                <a:cs typeface="Helvetica Neue"/>
                <a:sym typeface="Helvetica Neue"/>
              </a:rPr>
            </a:br>
            <a:r>
              <a:rPr lang="en-US" sz="800" dirty="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dirty="0">
              <a:solidFill>
                <a:srgbClr val="666666"/>
              </a:solidFill>
              <a:latin typeface="Helvetica Neue"/>
              <a:ea typeface="Helvetica Neue"/>
              <a:cs typeface="Helvetica Neue"/>
              <a:sym typeface="Helvetica Neue"/>
            </a:endParaRPr>
          </a:p>
        </p:txBody>
      </p:sp>
      <p:sp>
        <p:nvSpPr>
          <p:cNvPr id="7" name="Google Shape;164;p17">
            <a:extLst>
              <a:ext uri="{FF2B5EF4-FFF2-40B4-BE49-F238E27FC236}">
                <a16:creationId xmlns:a16="http://schemas.microsoft.com/office/drawing/2014/main" id="{86547702-9796-40EF-F60B-AFBF3D602180}"/>
              </a:ext>
            </a:extLst>
          </p:cNvPr>
          <p:cNvSpPr txBox="1"/>
          <p:nvPr/>
        </p:nvSpPr>
        <p:spPr>
          <a:xfrm>
            <a:off x="268466" y="542279"/>
            <a:ext cx="8631000" cy="62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b="1" u="sng">
                <a:solidFill>
                  <a:srgbClr val="980000"/>
                </a:solidFill>
                <a:latin typeface="Helvetica Neue"/>
                <a:ea typeface="Helvetica Neue"/>
                <a:cs typeface="Helvetica Neue"/>
                <a:sym typeface="Helvetica Neue"/>
              </a:rPr>
              <a:t>Theoretical Model &amp; Formulation: </a:t>
            </a:r>
          </a:p>
          <a:p>
            <a:pPr marL="0" lvl="0" indent="0" algn="l" rtl="0">
              <a:spcBef>
                <a:spcPts val="0"/>
              </a:spcBef>
              <a:spcAft>
                <a:spcPts val="0"/>
              </a:spcAft>
              <a:buNone/>
            </a:pPr>
            <a:endParaRPr b="1" u="sng">
              <a:solidFill>
                <a:srgbClr val="980000"/>
              </a:solidFill>
              <a:latin typeface="Helvetica Neue"/>
              <a:ea typeface="Helvetica Neue"/>
              <a:cs typeface="Helvetica Neue"/>
              <a:sym typeface="Helvetica Neue"/>
            </a:endParaRPr>
          </a:p>
        </p:txBody>
      </p:sp>
      <p:sp>
        <p:nvSpPr>
          <p:cNvPr id="6" name="Google Shape;174;p18">
            <a:extLst>
              <a:ext uri="{FF2B5EF4-FFF2-40B4-BE49-F238E27FC236}">
                <a16:creationId xmlns:a16="http://schemas.microsoft.com/office/drawing/2014/main" id="{1745AEDD-C421-B0A2-23E4-4BF53FBC03DF}"/>
              </a:ext>
            </a:extLst>
          </p:cNvPr>
          <p:cNvSpPr/>
          <p:nvPr/>
        </p:nvSpPr>
        <p:spPr>
          <a:xfrm>
            <a:off x="270150" y="768903"/>
            <a:ext cx="8548382" cy="3809446"/>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403796F-1263-3003-6AB2-A37EC5FF1E37}"/>
                  </a:ext>
                </a:extLst>
              </p:cNvPr>
              <p:cNvSpPr txBox="1"/>
              <p:nvPr/>
            </p:nvSpPr>
            <p:spPr>
              <a:xfrm>
                <a:off x="3110240" y="775605"/>
                <a:ext cx="2936686" cy="3857916"/>
              </a:xfrm>
              <a:prstGeom prst="rect">
                <a:avLst/>
              </a:prstGeom>
              <a:noFill/>
            </p:spPr>
            <p:txBody>
              <a:bodyPr wrap="square" rtlCol="0">
                <a:spAutoFit/>
              </a:bodyPr>
              <a:lstStyle/>
              <a:p>
                <a:pPr marL="342900" indent="-342900">
                  <a:buFont typeface="+mj-lt"/>
                  <a:buAutoNum type="arabicPeriod" startAt="3"/>
                </a:pPr>
                <a:r>
                  <a:rPr lang="en-US" sz="1100">
                    <a:solidFill>
                      <a:schemeClr val="bg1"/>
                    </a:solidFill>
                    <a:highlight>
                      <a:srgbClr val="800000"/>
                    </a:highlight>
                  </a:rPr>
                  <a:t>MMS Setup</a:t>
                </a:r>
              </a:p>
              <a:p>
                <a:pPr marL="285750" lvl="2" indent="-285750">
                  <a:buFont typeface="Arial" panose="020B0604020202020204" pitchFamily="34" charset="0"/>
                  <a:buChar char="•"/>
                </a:pPr>
                <a:r>
                  <a:rPr lang="en-AU" sz="1100" dirty="0"/>
                  <a:t>Time scale </a:t>
                </a:r>
                <a:br>
                  <a:rPr lang="en-AU" sz="1100" dirty="0"/>
                </a:br>
                <a:r>
                  <a:rPr lang="en-AU" sz="1100" dirty="0"/>
                  <a:t>	</a:t>
                </a:r>
                <a14:m>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𝑇</m:t>
                        </m:r>
                      </m:e>
                      <m:sub>
                        <m:r>
                          <a:rPr lang="en-US" sz="1100" b="0" i="1" smtClean="0">
                            <a:latin typeface="Cambria Math" panose="02040503050406030204" pitchFamily="18" charset="0"/>
                          </a:rPr>
                          <m:t>0</m:t>
                        </m:r>
                      </m:sub>
                    </m:sSub>
                    <m:r>
                      <a:rPr lang="en-US" sz="1100" b="0" i="1" smtClean="0">
                        <a:latin typeface="Cambria Math" panose="02040503050406030204" pitchFamily="18" charset="0"/>
                      </a:rPr>
                      <m:t>=</m:t>
                    </m:r>
                    <m:r>
                      <a:rPr lang="en-US" sz="1100" b="0" i="1" smtClean="0">
                        <a:latin typeface="Cambria Math" panose="02040503050406030204" pitchFamily="18" charset="0"/>
                      </a:rPr>
                      <m:t>𝑡</m:t>
                    </m:r>
                    <m:r>
                      <a:rPr lang="en-US" sz="1100" b="0" i="1" smtClean="0">
                        <a:latin typeface="Cambria Math" panose="02040503050406030204" pitchFamily="18" charset="0"/>
                      </a:rPr>
                      <m:t>(</m:t>
                    </m:r>
                    <m:r>
                      <a:rPr lang="en-US" sz="1100" b="0" i="1" smtClean="0">
                        <a:latin typeface="Cambria Math" panose="02040503050406030204" pitchFamily="18" charset="0"/>
                      </a:rPr>
                      <m:t>𝑓𝑎𝑠𝑡</m:t>
                    </m:r>
                    <m:r>
                      <a:rPr lang="en-US" sz="1100" b="0" i="1" smtClean="0">
                        <a:latin typeface="Cambria Math" panose="02040503050406030204" pitchFamily="18" charset="0"/>
                      </a:rPr>
                      <m:t>)</m:t>
                    </m:r>
                  </m:oMath>
                </a14:m>
                <a:r>
                  <a:rPr lang="en-AU" sz="1100" dirty="0"/>
                  <a:t>, </a:t>
                </a:r>
                <a14:m>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𝑇</m:t>
                        </m:r>
                      </m:e>
                      <m:sub>
                        <m:r>
                          <a:rPr lang="en-US" sz="1100" b="0" i="1" smtClean="0">
                            <a:latin typeface="Cambria Math" panose="02040503050406030204" pitchFamily="18" charset="0"/>
                          </a:rPr>
                          <m:t>1</m:t>
                        </m:r>
                      </m:sub>
                    </m:sSub>
                    <m:r>
                      <a:rPr lang="en-US" sz="1100" b="0" i="1" smtClean="0">
                        <a:latin typeface="Cambria Math" panose="02040503050406030204" pitchFamily="18" charset="0"/>
                      </a:rPr>
                      <m:t>=</m:t>
                    </m:r>
                    <m:r>
                      <a:rPr lang="en-US" sz="1100" b="0" i="1" smtClean="0">
                        <a:latin typeface="Cambria Math" panose="02040503050406030204" pitchFamily="18" charset="0"/>
                      </a:rPr>
                      <m:t>𝜖</m:t>
                    </m:r>
                    <m:r>
                      <a:rPr lang="en-US" sz="1100" b="0" i="1" smtClean="0">
                        <a:latin typeface="Cambria Math" panose="02040503050406030204" pitchFamily="18" charset="0"/>
                      </a:rPr>
                      <m:t>𝑡</m:t>
                    </m:r>
                  </m:oMath>
                </a14:m>
                <a:r>
                  <a:rPr lang="en-AU" sz="1100" dirty="0"/>
                  <a:t> (slow)</a:t>
                </a:r>
              </a:p>
              <a:p>
                <a:pPr marL="285750" lvl="2" indent="-285750">
                  <a:buFont typeface="Arial" panose="020B0604020202020204" pitchFamily="34" charset="0"/>
                  <a:buChar char="•"/>
                </a:pPr>
                <a:r>
                  <a:rPr lang="en-US" sz="1100" dirty="0"/>
                  <a:t>Expansions:</a:t>
                </a:r>
              </a:p>
              <a:p>
                <a:pPr lvl="2"/>
                <a14:m>
                  <m:oMathPara xmlns:m="http://schemas.openxmlformats.org/officeDocument/2006/math">
                    <m:oMathParaPr>
                      <m:jc m:val="centerGroup"/>
                    </m:oMathParaPr>
                    <m:oMath xmlns:m="http://schemas.openxmlformats.org/officeDocument/2006/math">
                      <m:r>
                        <a:rPr lang="fr-FR" sz="1100" i="1">
                          <a:latin typeface="Cambria Math" panose="02040503050406030204" pitchFamily="18" charset="0"/>
                        </a:rPr>
                        <m:t>𝑞</m:t>
                      </m:r>
                      <m:d>
                        <m:dPr>
                          <m:ctrlPr>
                            <a:rPr lang="fr-FR" sz="1100" i="1">
                              <a:latin typeface="Cambria Math" panose="02040503050406030204" pitchFamily="18" charset="0"/>
                            </a:rPr>
                          </m:ctrlPr>
                        </m:dPr>
                        <m:e>
                          <m:r>
                            <a:rPr lang="fr-FR" sz="1100" i="1">
                              <a:latin typeface="Cambria Math" panose="02040503050406030204" pitchFamily="18" charset="0"/>
                            </a:rPr>
                            <m:t>𝑡</m:t>
                          </m:r>
                        </m:e>
                      </m:d>
                      <m:r>
                        <a:rPr lang="fr-FR" sz="1100" i="1">
                          <a:latin typeface="Cambria Math" panose="02040503050406030204" pitchFamily="18" charset="0"/>
                        </a:rPr>
                        <m:t> = </m:t>
                      </m:r>
                      <m:sSub>
                        <m:sSubPr>
                          <m:ctrlPr>
                            <a:rPr lang="fr-FR" sz="1100" i="1">
                              <a:latin typeface="Cambria Math" panose="02040503050406030204" pitchFamily="18" charset="0"/>
                            </a:rPr>
                          </m:ctrlPr>
                        </m:sSubPr>
                        <m:e>
                          <m:r>
                            <a:rPr lang="fr-FR" sz="1100" i="1">
                              <a:latin typeface="Cambria Math" panose="02040503050406030204" pitchFamily="18" charset="0"/>
                            </a:rPr>
                            <m:t>𝑞</m:t>
                          </m:r>
                        </m:e>
                        <m:sub>
                          <m:r>
                            <a:rPr lang="fr-FR" sz="1100" i="1">
                              <a:latin typeface="Cambria Math" panose="02040503050406030204" pitchFamily="18" charset="0"/>
                            </a:rPr>
                            <m:t>0</m:t>
                          </m:r>
                        </m:sub>
                      </m:sSub>
                      <m:d>
                        <m:dPr>
                          <m:ctrlPr>
                            <a:rPr lang="fr-FR" sz="1100" i="1">
                              <a:latin typeface="Cambria Math" panose="02040503050406030204" pitchFamily="18" charset="0"/>
                            </a:rPr>
                          </m:ctrlPr>
                        </m:dPr>
                        <m:e>
                          <m:sSub>
                            <m:sSubPr>
                              <m:ctrlPr>
                                <a:rPr lang="fr-FR" sz="1100" i="1">
                                  <a:latin typeface="Cambria Math" panose="02040503050406030204" pitchFamily="18" charset="0"/>
                                </a:rPr>
                              </m:ctrlPr>
                            </m:sSubPr>
                            <m:e>
                              <m:r>
                                <a:rPr lang="fr-FR" sz="1100" i="1">
                                  <a:latin typeface="Cambria Math" panose="02040503050406030204" pitchFamily="18" charset="0"/>
                                </a:rPr>
                                <m:t>𝑇</m:t>
                              </m:r>
                            </m:e>
                            <m:sub>
                              <m:r>
                                <a:rPr lang="fr-FR" sz="1100" i="1">
                                  <a:latin typeface="Cambria Math" panose="02040503050406030204" pitchFamily="18" charset="0"/>
                                </a:rPr>
                                <m:t>0</m:t>
                              </m:r>
                            </m:sub>
                          </m:sSub>
                          <m:r>
                            <a:rPr lang="fr-FR" sz="1100" i="1">
                              <a:latin typeface="Cambria Math" panose="02040503050406030204" pitchFamily="18" charset="0"/>
                            </a:rPr>
                            <m:t>, </m:t>
                          </m:r>
                          <m:sSub>
                            <m:sSubPr>
                              <m:ctrlPr>
                                <a:rPr lang="fr-FR" sz="1100" i="1">
                                  <a:latin typeface="Cambria Math" panose="02040503050406030204" pitchFamily="18" charset="0"/>
                                </a:rPr>
                              </m:ctrlPr>
                            </m:sSubPr>
                            <m:e>
                              <m:r>
                                <a:rPr lang="fr-FR" sz="1100" i="1">
                                  <a:latin typeface="Cambria Math" panose="02040503050406030204" pitchFamily="18" charset="0"/>
                                </a:rPr>
                                <m:t>𝑇</m:t>
                              </m:r>
                            </m:e>
                            <m:sub>
                              <m:r>
                                <a:rPr lang="fr-FR" sz="1100" i="1">
                                  <a:latin typeface="Cambria Math" panose="02040503050406030204" pitchFamily="18" charset="0"/>
                                </a:rPr>
                                <m:t>1</m:t>
                              </m:r>
                            </m:sub>
                          </m:sSub>
                        </m:e>
                      </m:d>
                      <m:r>
                        <a:rPr lang="fr-FR" sz="1100" i="1">
                          <a:latin typeface="Cambria Math" panose="02040503050406030204" pitchFamily="18" charset="0"/>
                        </a:rPr>
                        <m:t>+</m:t>
                      </m:r>
                      <m:r>
                        <a:rPr lang="fr-FR" sz="1100" i="1" smtClean="0">
                          <a:latin typeface="Cambria Math" panose="02040503050406030204" pitchFamily="18" charset="0"/>
                        </a:rPr>
                        <m:t>𝜖</m:t>
                      </m:r>
                      <m:r>
                        <a:rPr lang="fr-FR" sz="1100" i="1">
                          <a:latin typeface="Cambria Math" panose="02040503050406030204" pitchFamily="18" charset="0"/>
                        </a:rPr>
                        <m:t> </m:t>
                      </m:r>
                      <m:sSub>
                        <m:sSubPr>
                          <m:ctrlPr>
                            <a:rPr lang="fr-FR" sz="1100" i="1" smtClean="0">
                              <a:latin typeface="Cambria Math" panose="02040503050406030204" pitchFamily="18" charset="0"/>
                            </a:rPr>
                          </m:ctrlPr>
                        </m:sSubPr>
                        <m:e>
                          <m:r>
                            <a:rPr lang="fr-FR" sz="1100" i="1">
                              <a:latin typeface="Cambria Math" panose="02040503050406030204" pitchFamily="18" charset="0"/>
                            </a:rPr>
                            <m:t>𝑞</m:t>
                          </m:r>
                        </m:e>
                        <m:sub>
                          <m:r>
                            <a:rPr lang="fr-FR" sz="1100" i="1">
                              <a:latin typeface="Cambria Math" panose="02040503050406030204" pitchFamily="18" charset="0"/>
                            </a:rPr>
                            <m:t>1</m:t>
                          </m:r>
                        </m:sub>
                      </m:sSub>
                      <m:d>
                        <m:dPr>
                          <m:ctrlPr>
                            <a:rPr lang="fr-FR" sz="1100" i="1">
                              <a:latin typeface="Cambria Math" panose="02040503050406030204" pitchFamily="18" charset="0"/>
                            </a:rPr>
                          </m:ctrlPr>
                        </m:dPr>
                        <m:e>
                          <m:sSub>
                            <m:sSubPr>
                              <m:ctrlPr>
                                <a:rPr lang="fr-FR" sz="1100" i="1">
                                  <a:latin typeface="Cambria Math" panose="02040503050406030204" pitchFamily="18" charset="0"/>
                                </a:rPr>
                              </m:ctrlPr>
                            </m:sSubPr>
                            <m:e>
                              <m:r>
                                <a:rPr lang="fr-FR" sz="1100" i="1">
                                  <a:latin typeface="Cambria Math" panose="02040503050406030204" pitchFamily="18" charset="0"/>
                                </a:rPr>
                                <m:t>𝑇</m:t>
                              </m:r>
                            </m:e>
                            <m:sub>
                              <m:r>
                                <a:rPr lang="fr-FR" sz="1100" i="1">
                                  <a:latin typeface="Cambria Math" panose="02040503050406030204" pitchFamily="18" charset="0"/>
                                </a:rPr>
                                <m:t>0</m:t>
                              </m:r>
                            </m:sub>
                          </m:sSub>
                          <m:r>
                            <a:rPr lang="fr-FR" sz="1100" i="1">
                              <a:latin typeface="Cambria Math" panose="02040503050406030204" pitchFamily="18" charset="0"/>
                            </a:rPr>
                            <m:t>, </m:t>
                          </m:r>
                          <m:sSub>
                            <m:sSubPr>
                              <m:ctrlPr>
                                <a:rPr lang="fr-FR" sz="1100" i="1">
                                  <a:latin typeface="Cambria Math" panose="02040503050406030204" pitchFamily="18" charset="0"/>
                                </a:rPr>
                              </m:ctrlPr>
                            </m:sSubPr>
                            <m:e>
                              <m:r>
                                <a:rPr lang="fr-FR" sz="1100" i="1">
                                  <a:latin typeface="Cambria Math" panose="02040503050406030204" pitchFamily="18" charset="0"/>
                                </a:rPr>
                                <m:t>𝑇</m:t>
                              </m:r>
                            </m:e>
                            <m:sub>
                              <m:r>
                                <a:rPr lang="fr-FR" sz="1100" i="1">
                                  <a:latin typeface="Cambria Math" panose="02040503050406030204" pitchFamily="18" charset="0"/>
                                </a:rPr>
                                <m:t>1</m:t>
                              </m:r>
                            </m:sub>
                          </m:sSub>
                        </m:e>
                      </m:d>
                      <m:r>
                        <a:rPr lang="en-US" sz="1100" b="0" i="1" smtClean="0">
                          <a:latin typeface="Cambria Math" panose="02040503050406030204" pitchFamily="18" charset="0"/>
                        </a:rPr>
                        <m:t>…</m:t>
                      </m:r>
                    </m:oMath>
                  </m:oMathPara>
                </a14:m>
                <a:endParaRPr lang="en-US" sz="1100" b="0" i="1" dirty="0">
                  <a:latin typeface="Cambria Math" panose="02040503050406030204" pitchFamily="18" charset="0"/>
                </a:endParaRPr>
              </a:p>
              <a:p>
                <a:pPr lvl="2"/>
                <a14:m>
                  <m:oMathPara xmlns:m="http://schemas.openxmlformats.org/officeDocument/2006/math">
                    <m:oMathParaPr>
                      <m:jc m:val="centerGroup"/>
                    </m:oMathParaPr>
                    <m:oMath xmlns:m="http://schemas.openxmlformats.org/officeDocument/2006/math">
                      <m:f>
                        <m:fPr>
                          <m:ctrlPr>
                            <a:rPr lang="en-US" sz="1100" b="0" i="1" smtClean="0">
                              <a:latin typeface="Cambria Math" panose="02040503050406030204" pitchFamily="18" charset="0"/>
                            </a:rPr>
                          </m:ctrlPr>
                        </m:fPr>
                        <m:num>
                          <m:r>
                            <a:rPr lang="fr-FR" sz="1100" i="1">
                              <a:latin typeface="Cambria Math" panose="02040503050406030204" pitchFamily="18" charset="0"/>
                            </a:rPr>
                            <m:t>𝑑</m:t>
                          </m:r>
                        </m:num>
                        <m:den>
                          <m:r>
                            <a:rPr lang="fr-FR" sz="1100" i="1">
                              <a:latin typeface="Cambria Math" panose="02040503050406030204" pitchFamily="18" charset="0"/>
                            </a:rPr>
                            <m:t>𝑑𝑡</m:t>
                          </m:r>
                        </m:den>
                      </m:f>
                      <m:r>
                        <a:rPr lang="fr-FR" sz="1100" i="1">
                          <a:latin typeface="Cambria Math" panose="02040503050406030204" pitchFamily="18" charset="0"/>
                        </a:rPr>
                        <m:t>= </m:t>
                      </m:r>
                      <m:sSub>
                        <m:sSubPr>
                          <m:ctrlPr>
                            <a:rPr lang="fr-FR" sz="1100" i="1">
                              <a:latin typeface="Cambria Math" panose="02040503050406030204" pitchFamily="18" charset="0"/>
                            </a:rPr>
                          </m:ctrlPr>
                        </m:sSubPr>
                        <m:e>
                          <m:r>
                            <a:rPr lang="fr-FR" sz="1100" i="1">
                              <a:latin typeface="Cambria Math" panose="02040503050406030204" pitchFamily="18" charset="0"/>
                            </a:rPr>
                            <m:t>𝐷</m:t>
                          </m:r>
                        </m:e>
                        <m:sub>
                          <m:r>
                            <a:rPr lang="fr-FR" sz="1100" i="1">
                              <a:latin typeface="Cambria Math" panose="02040503050406030204" pitchFamily="18" charset="0"/>
                            </a:rPr>
                            <m:t>0</m:t>
                          </m:r>
                        </m:sub>
                      </m:sSub>
                      <m:r>
                        <a:rPr lang="fr-FR" sz="1100" i="1">
                          <a:latin typeface="Cambria Math" panose="02040503050406030204" pitchFamily="18" charset="0"/>
                        </a:rPr>
                        <m:t>+</m:t>
                      </m:r>
                      <m:r>
                        <a:rPr lang="fr-FR" sz="1100" i="1" smtClean="0">
                          <a:latin typeface="Cambria Math" panose="02040503050406030204" pitchFamily="18" charset="0"/>
                        </a:rPr>
                        <m:t>𝜖</m:t>
                      </m:r>
                      <m:sSub>
                        <m:sSubPr>
                          <m:ctrlPr>
                            <a:rPr lang="fr-FR" sz="1100" i="1">
                              <a:latin typeface="Cambria Math" panose="02040503050406030204" pitchFamily="18" charset="0"/>
                            </a:rPr>
                          </m:ctrlPr>
                        </m:sSubPr>
                        <m:e>
                          <m:r>
                            <a:rPr lang="fr-FR" sz="1100" i="1">
                              <a:latin typeface="Cambria Math" panose="02040503050406030204" pitchFamily="18" charset="0"/>
                            </a:rPr>
                            <m:t>𝐷</m:t>
                          </m:r>
                        </m:e>
                        <m:sub>
                          <m:r>
                            <a:rPr lang="fr-FR" sz="1100" i="1">
                              <a:latin typeface="Cambria Math" panose="02040503050406030204" pitchFamily="18" charset="0"/>
                            </a:rPr>
                            <m:t>1</m:t>
                          </m:r>
                        </m:sub>
                      </m:sSub>
                      <m:r>
                        <a:rPr lang="fr-FR" sz="1100" i="1">
                          <a:latin typeface="Cambria Math" panose="02040503050406030204" pitchFamily="18" charset="0"/>
                        </a:rPr>
                        <m:t>+</m:t>
                      </m:r>
                      <m:r>
                        <a:rPr lang="en-US" sz="1100" b="0" i="1" smtClean="0">
                          <a:latin typeface="Cambria Math" panose="02040503050406030204" pitchFamily="18" charset="0"/>
                        </a:rPr>
                        <m:t>…</m:t>
                      </m:r>
                    </m:oMath>
                  </m:oMathPara>
                </a14:m>
                <a:endParaRPr lang="en-AU" sz="1100" dirty="0"/>
              </a:p>
              <a:p>
                <a:pPr marL="171450" lvl="2" indent="-171450">
                  <a:buFont typeface="Arial" panose="020B0604020202020204" pitchFamily="34" charset="0"/>
                  <a:buChar char="•"/>
                </a:pPr>
                <a:r>
                  <a:rPr lang="en-AU" sz="1100" dirty="0"/>
                  <a:t>Substitute &amp; Separate:</a:t>
                </a:r>
              </a:p>
              <a:p>
                <a:pPr lvl="4"/>
                <a14:m>
                  <m:oMath xmlns:m="http://schemas.openxmlformats.org/officeDocument/2006/math">
                    <m:r>
                      <a:rPr lang="en-AU" sz="1100" i="1" dirty="0" smtClean="0">
                        <a:latin typeface="Cambria Math" panose="02040503050406030204" pitchFamily="18" charset="0"/>
                      </a:rPr>
                      <m:t> </m:t>
                    </m:r>
                    <m:sSup>
                      <m:sSupPr>
                        <m:ctrlPr>
                          <a:rPr lang="en-AU" sz="1100" i="1" dirty="0" smtClean="0">
                            <a:latin typeface="Cambria Math" panose="02040503050406030204" pitchFamily="18" charset="0"/>
                          </a:rPr>
                        </m:ctrlPr>
                      </m:sSupPr>
                      <m:e>
                        <m:r>
                          <a:rPr lang="en-AU" sz="1100" i="1" dirty="0" smtClean="0">
                            <a:latin typeface="Cambria Math" panose="02040503050406030204" pitchFamily="18" charset="0"/>
                          </a:rPr>
                          <m:t>𝜖</m:t>
                        </m:r>
                      </m:e>
                      <m:sup>
                        <m:r>
                          <a:rPr lang="en-AU" sz="1100" i="1" dirty="0" smtClean="0">
                            <a:latin typeface="Cambria Math" panose="02040503050406030204" pitchFamily="18" charset="0"/>
                          </a:rPr>
                          <m:t>0</m:t>
                        </m:r>
                      </m:sup>
                    </m:sSup>
                    <m:r>
                      <a:rPr lang="en-AU" sz="1100" i="1" dirty="0" smtClean="0">
                        <a:latin typeface="Cambria Math" panose="02040503050406030204" pitchFamily="18" charset="0"/>
                      </a:rPr>
                      <m:t>: </m:t>
                    </m:r>
                    <m:sSubSup>
                      <m:sSubSupPr>
                        <m:ctrlPr>
                          <a:rPr lang="en-AU" sz="1100" i="1" dirty="0" smtClean="0">
                            <a:latin typeface="Cambria Math" panose="02040503050406030204" pitchFamily="18" charset="0"/>
                          </a:rPr>
                        </m:ctrlPr>
                      </m:sSubSupPr>
                      <m:e>
                        <m:r>
                          <a:rPr lang="en-AU" sz="1100" i="1" dirty="0" smtClean="0">
                            <a:latin typeface="Cambria Math" panose="02040503050406030204" pitchFamily="18" charset="0"/>
                          </a:rPr>
                          <m:t>𝐷</m:t>
                        </m:r>
                      </m:e>
                      <m:sub>
                        <m:r>
                          <a:rPr lang="en-AU" sz="1100" i="1" dirty="0" smtClean="0">
                            <a:latin typeface="Cambria Math" panose="02040503050406030204" pitchFamily="18" charset="0"/>
                          </a:rPr>
                          <m:t>0</m:t>
                        </m:r>
                      </m:sub>
                      <m:sup>
                        <m:r>
                          <a:rPr lang="en-AU" sz="1100" i="1" dirty="0" smtClean="0">
                            <a:latin typeface="Cambria Math" panose="02040503050406030204" pitchFamily="18" charset="0"/>
                          </a:rPr>
                          <m:t>2</m:t>
                        </m:r>
                      </m:sup>
                    </m:sSubSup>
                    <m:r>
                      <a:rPr lang="en-AU" sz="1100" i="1" dirty="0" smtClean="0">
                        <a:latin typeface="Cambria Math" panose="02040503050406030204" pitchFamily="18" charset="0"/>
                      </a:rPr>
                      <m:t> </m:t>
                    </m:r>
                    <m:sSub>
                      <m:sSubPr>
                        <m:ctrlPr>
                          <a:rPr lang="en-AU" sz="1100" i="1" dirty="0" smtClean="0">
                            <a:latin typeface="Cambria Math" panose="02040503050406030204" pitchFamily="18" charset="0"/>
                          </a:rPr>
                        </m:ctrlPr>
                      </m:sSubPr>
                      <m:e>
                        <m:r>
                          <a:rPr lang="en-AU" sz="1100" i="1" dirty="0" smtClean="0">
                            <a:latin typeface="Cambria Math" panose="02040503050406030204" pitchFamily="18" charset="0"/>
                          </a:rPr>
                          <m:t>𝑞</m:t>
                        </m:r>
                      </m:e>
                      <m:sub>
                        <m:r>
                          <a:rPr lang="en-AU" sz="1100" i="1" dirty="0" smtClean="0">
                            <a:latin typeface="Cambria Math" panose="02040503050406030204" pitchFamily="18" charset="0"/>
                          </a:rPr>
                          <m:t>0</m:t>
                        </m:r>
                      </m:sub>
                    </m:sSub>
                    <m:r>
                      <a:rPr lang="en-AU" sz="1100" i="1" dirty="0" smtClean="0">
                        <a:latin typeface="Cambria Math" panose="02040503050406030204" pitchFamily="18" charset="0"/>
                      </a:rPr>
                      <m:t> +</m:t>
                    </m:r>
                    <m:sSubSup>
                      <m:sSubSupPr>
                        <m:ctrlPr>
                          <a:rPr lang="en-AU" sz="1100" i="1" dirty="0" smtClean="0">
                            <a:latin typeface="Cambria Math" panose="02040503050406030204" pitchFamily="18" charset="0"/>
                          </a:rPr>
                        </m:ctrlPr>
                      </m:sSubSupPr>
                      <m:e>
                        <m:r>
                          <a:rPr lang="en-AU" sz="1100" i="1" dirty="0" smtClean="0">
                            <a:latin typeface="Cambria Math" panose="02040503050406030204" pitchFamily="18" charset="0"/>
                          </a:rPr>
                          <m:t>𝜔</m:t>
                        </m:r>
                      </m:e>
                      <m:sub>
                        <m:r>
                          <a:rPr lang="en-AU" sz="1100" i="1" dirty="0" smtClean="0">
                            <a:latin typeface="Cambria Math" panose="02040503050406030204" pitchFamily="18" charset="0"/>
                          </a:rPr>
                          <m:t>0</m:t>
                        </m:r>
                      </m:sub>
                      <m:sup>
                        <m:r>
                          <a:rPr lang="en-AU" sz="1100" i="1" dirty="0" smtClean="0">
                            <a:latin typeface="Cambria Math" panose="02040503050406030204" pitchFamily="18" charset="0"/>
                          </a:rPr>
                          <m:t>2</m:t>
                        </m:r>
                      </m:sup>
                    </m:sSubSup>
                    <m:r>
                      <a:rPr lang="en-AU" sz="1100" i="1" dirty="0" smtClean="0">
                        <a:latin typeface="Cambria Math" panose="02040503050406030204" pitchFamily="18" charset="0"/>
                      </a:rPr>
                      <m:t> </m:t>
                    </m:r>
                    <m:sSub>
                      <m:sSubPr>
                        <m:ctrlPr>
                          <a:rPr lang="en-AU" sz="1100" i="1" dirty="0" smtClean="0">
                            <a:latin typeface="Cambria Math" panose="02040503050406030204" pitchFamily="18" charset="0"/>
                          </a:rPr>
                        </m:ctrlPr>
                      </m:sSubPr>
                      <m:e>
                        <m:r>
                          <a:rPr lang="en-AU" sz="1100" i="1" dirty="0" smtClean="0">
                            <a:latin typeface="Cambria Math" panose="02040503050406030204" pitchFamily="18" charset="0"/>
                          </a:rPr>
                          <m:t>𝑞</m:t>
                        </m:r>
                      </m:e>
                      <m:sub>
                        <m:r>
                          <a:rPr lang="en-AU" sz="1100" i="1" dirty="0" smtClean="0">
                            <a:latin typeface="Cambria Math" panose="02040503050406030204" pitchFamily="18" charset="0"/>
                          </a:rPr>
                          <m:t>0</m:t>
                        </m:r>
                      </m:sub>
                    </m:sSub>
                    <m:r>
                      <a:rPr lang="en-AU" sz="1100" i="1" dirty="0" smtClean="0">
                        <a:latin typeface="Cambria Math" panose="02040503050406030204" pitchFamily="18" charset="0"/>
                      </a:rPr>
                      <m:t> =</m:t>
                    </m:r>
                    <m:r>
                      <a:rPr lang="en-AU" sz="1100" i="1" dirty="0" smtClean="0">
                        <a:latin typeface="Cambria Math" panose="02040503050406030204" pitchFamily="18" charset="0"/>
                      </a:rPr>
                      <m:t>0</m:t>
                    </m:r>
                  </m:oMath>
                </a14:m>
                <a:r>
                  <a:rPr lang="en-US" sz="1100" i="1" dirty="0">
                    <a:latin typeface="Cambria Math" panose="02040503050406030204" pitchFamily="18" charset="0"/>
                  </a:rPr>
                  <a:t> </a:t>
                </a:r>
              </a:p>
              <a:p>
                <a:pPr lvl="4"/>
                <a14:m>
                  <m:oMath xmlns:m="http://schemas.openxmlformats.org/officeDocument/2006/math">
                    <m:r>
                      <a:rPr lang="en-AU" sz="1100" i="1" dirty="0" smtClean="0">
                        <a:latin typeface="Cambria Math" panose="02040503050406030204" pitchFamily="18" charset="0"/>
                      </a:rPr>
                      <m:t> </m:t>
                    </m:r>
                    <m:sSup>
                      <m:sSupPr>
                        <m:ctrlPr>
                          <a:rPr lang="en-AU" sz="1100" i="1" dirty="0" smtClean="0">
                            <a:latin typeface="Cambria Math" panose="02040503050406030204" pitchFamily="18" charset="0"/>
                          </a:rPr>
                        </m:ctrlPr>
                      </m:sSupPr>
                      <m:e>
                        <m:r>
                          <a:rPr lang="en-AU" sz="1100" i="1" dirty="0" smtClean="0">
                            <a:latin typeface="Cambria Math" panose="02040503050406030204" pitchFamily="18" charset="0"/>
                          </a:rPr>
                          <m:t>𝜖</m:t>
                        </m:r>
                      </m:e>
                      <m:sup>
                        <m:r>
                          <a:rPr lang="en-AU" sz="1100" i="1" dirty="0" smtClean="0">
                            <a:latin typeface="Cambria Math" panose="02040503050406030204" pitchFamily="18" charset="0"/>
                          </a:rPr>
                          <m:t>1</m:t>
                        </m:r>
                      </m:sup>
                    </m:sSup>
                    <m:r>
                      <a:rPr lang="en-AU" sz="1100" i="1" dirty="0" smtClean="0">
                        <a:latin typeface="Cambria Math" panose="02040503050406030204" pitchFamily="18" charset="0"/>
                      </a:rPr>
                      <m:t>: </m:t>
                    </m:r>
                    <m:sSubSup>
                      <m:sSubSupPr>
                        <m:ctrlPr>
                          <a:rPr lang="en-AU" sz="1100" i="1" dirty="0" smtClean="0">
                            <a:latin typeface="Cambria Math" panose="02040503050406030204" pitchFamily="18" charset="0"/>
                          </a:rPr>
                        </m:ctrlPr>
                      </m:sSubSupPr>
                      <m:e>
                        <m:r>
                          <a:rPr lang="en-AU" sz="1100" i="1" dirty="0" smtClean="0">
                            <a:latin typeface="Cambria Math" panose="02040503050406030204" pitchFamily="18" charset="0"/>
                          </a:rPr>
                          <m:t>𝐷</m:t>
                        </m:r>
                      </m:e>
                      <m:sub>
                        <m:r>
                          <a:rPr lang="en-AU" sz="1100" i="1" dirty="0" smtClean="0">
                            <a:latin typeface="Cambria Math" panose="02040503050406030204" pitchFamily="18" charset="0"/>
                          </a:rPr>
                          <m:t>0</m:t>
                        </m:r>
                      </m:sub>
                      <m:sup>
                        <m:r>
                          <a:rPr lang="en-AU" sz="1100" i="1" dirty="0" smtClean="0">
                            <a:latin typeface="Cambria Math" panose="02040503050406030204" pitchFamily="18" charset="0"/>
                          </a:rPr>
                          <m:t>2</m:t>
                        </m:r>
                      </m:sup>
                    </m:sSubSup>
                    <m:r>
                      <a:rPr lang="en-AU" sz="1100" i="1" dirty="0" smtClean="0">
                        <a:latin typeface="Cambria Math" panose="02040503050406030204" pitchFamily="18" charset="0"/>
                      </a:rPr>
                      <m:t> </m:t>
                    </m:r>
                    <m:sSub>
                      <m:sSubPr>
                        <m:ctrlPr>
                          <a:rPr lang="en-AU" sz="1100" i="1" dirty="0" smtClean="0">
                            <a:latin typeface="Cambria Math" panose="02040503050406030204" pitchFamily="18" charset="0"/>
                          </a:rPr>
                        </m:ctrlPr>
                      </m:sSubPr>
                      <m:e>
                        <m:r>
                          <a:rPr lang="en-AU" sz="1100" i="1" dirty="0" smtClean="0">
                            <a:latin typeface="Cambria Math" panose="02040503050406030204" pitchFamily="18" charset="0"/>
                          </a:rPr>
                          <m:t>𝑞</m:t>
                        </m:r>
                      </m:e>
                      <m:sub>
                        <m:r>
                          <a:rPr lang="en-AU" sz="1100" i="1" dirty="0" smtClean="0">
                            <a:latin typeface="Cambria Math" panose="02040503050406030204" pitchFamily="18" charset="0"/>
                          </a:rPr>
                          <m:t>1</m:t>
                        </m:r>
                      </m:sub>
                    </m:sSub>
                    <m:r>
                      <a:rPr lang="en-AU" sz="1100" i="1" dirty="0" smtClean="0">
                        <a:latin typeface="Cambria Math" panose="02040503050406030204" pitchFamily="18" charset="0"/>
                      </a:rPr>
                      <m:t>+</m:t>
                    </m:r>
                    <m:sSubSup>
                      <m:sSubSupPr>
                        <m:ctrlPr>
                          <a:rPr lang="en-AU" sz="1100" i="1" dirty="0" smtClean="0">
                            <a:latin typeface="Cambria Math" panose="02040503050406030204" pitchFamily="18" charset="0"/>
                          </a:rPr>
                        </m:ctrlPr>
                      </m:sSubSupPr>
                      <m:e>
                        <m:r>
                          <a:rPr lang="en-AU" sz="1100" i="1" dirty="0" smtClean="0">
                            <a:latin typeface="Cambria Math" panose="02040503050406030204" pitchFamily="18" charset="0"/>
                          </a:rPr>
                          <m:t>𝜔</m:t>
                        </m:r>
                      </m:e>
                      <m:sub>
                        <m:r>
                          <a:rPr lang="en-AU" sz="1100" i="1" dirty="0" smtClean="0">
                            <a:latin typeface="Cambria Math" panose="02040503050406030204" pitchFamily="18" charset="0"/>
                          </a:rPr>
                          <m:t>0</m:t>
                        </m:r>
                      </m:sub>
                      <m:sup>
                        <m:r>
                          <a:rPr lang="en-AU" sz="1100" i="1" dirty="0" smtClean="0">
                            <a:latin typeface="Cambria Math" panose="02040503050406030204" pitchFamily="18" charset="0"/>
                          </a:rPr>
                          <m:t>2</m:t>
                        </m:r>
                      </m:sup>
                    </m:sSubSup>
                    <m:r>
                      <a:rPr lang="en-AU" sz="1100" i="1" dirty="0" smtClean="0">
                        <a:latin typeface="Cambria Math" panose="02040503050406030204" pitchFamily="18" charset="0"/>
                      </a:rPr>
                      <m:t> </m:t>
                    </m:r>
                    <m:sSub>
                      <m:sSubPr>
                        <m:ctrlPr>
                          <a:rPr lang="en-AU" sz="1100" i="1" dirty="0" smtClean="0">
                            <a:latin typeface="Cambria Math" panose="02040503050406030204" pitchFamily="18" charset="0"/>
                          </a:rPr>
                        </m:ctrlPr>
                      </m:sSubPr>
                      <m:e>
                        <m:r>
                          <a:rPr lang="en-AU" sz="1100" i="1" dirty="0" smtClean="0">
                            <a:latin typeface="Cambria Math" panose="02040503050406030204" pitchFamily="18" charset="0"/>
                          </a:rPr>
                          <m:t>𝑞</m:t>
                        </m:r>
                      </m:e>
                      <m:sub>
                        <m:r>
                          <a:rPr lang="en-AU" sz="1100" i="1" dirty="0" smtClean="0">
                            <a:latin typeface="Cambria Math" panose="02040503050406030204" pitchFamily="18" charset="0"/>
                          </a:rPr>
                          <m:t>1</m:t>
                        </m:r>
                      </m:sub>
                    </m:sSub>
                    <m:r>
                      <a:rPr lang="en-AU" sz="1100" i="1" dirty="0" smtClean="0">
                        <a:latin typeface="Cambria Math" panose="02040503050406030204" pitchFamily="18" charset="0"/>
                      </a:rPr>
                      <m:t>=−</m:t>
                    </m:r>
                    <m:r>
                      <a:rPr lang="en-AU" sz="1100" i="1" dirty="0" smtClean="0">
                        <a:latin typeface="Cambria Math" panose="02040503050406030204" pitchFamily="18" charset="0"/>
                      </a:rPr>
                      <m:t>2</m:t>
                    </m:r>
                    <m:sSub>
                      <m:sSubPr>
                        <m:ctrlPr>
                          <a:rPr lang="en-AU" sz="1100" i="1" dirty="0" smtClean="0">
                            <a:latin typeface="Cambria Math" panose="02040503050406030204" pitchFamily="18" charset="0"/>
                          </a:rPr>
                        </m:ctrlPr>
                      </m:sSubPr>
                      <m:e>
                        <m:r>
                          <a:rPr lang="en-AU" sz="1100" i="1" dirty="0" smtClean="0">
                            <a:latin typeface="Cambria Math" panose="02040503050406030204" pitchFamily="18" charset="0"/>
                          </a:rPr>
                          <m:t>𝐷</m:t>
                        </m:r>
                      </m:e>
                      <m:sub>
                        <m:r>
                          <a:rPr lang="en-AU" sz="1100" i="1" dirty="0" smtClean="0">
                            <a:latin typeface="Cambria Math" panose="02040503050406030204" pitchFamily="18" charset="0"/>
                          </a:rPr>
                          <m:t>0</m:t>
                        </m:r>
                      </m:sub>
                    </m:sSub>
                    <m:sSub>
                      <m:sSubPr>
                        <m:ctrlPr>
                          <a:rPr lang="en-AU" sz="1100" i="1" dirty="0" smtClean="0">
                            <a:latin typeface="Cambria Math" panose="02040503050406030204" pitchFamily="18" charset="0"/>
                          </a:rPr>
                        </m:ctrlPr>
                      </m:sSubPr>
                      <m:e>
                        <m:r>
                          <a:rPr lang="en-AU" sz="1100" i="1" dirty="0" smtClean="0">
                            <a:latin typeface="Cambria Math" panose="02040503050406030204" pitchFamily="18" charset="0"/>
                          </a:rPr>
                          <m:t>𝐷</m:t>
                        </m:r>
                      </m:e>
                      <m:sub>
                        <m:r>
                          <a:rPr lang="en-AU" sz="1100" i="1" dirty="0" smtClean="0">
                            <a:latin typeface="Cambria Math" panose="02040503050406030204" pitchFamily="18" charset="0"/>
                          </a:rPr>
                          <m:t>1</m:t>
                        </m:r>
                      </m:sub>
                    </m:sSub>
                    <m:r>
                      <a:rPr lang="en-AU" sz="1100" i="1" dirty="0" smtClean="0">
                        <a:latin typeface="Cambria Math" panose="02040503050406030204" pitchFamily="18" charset="0"/>
                      </a:rPr>
                      <m:t> </m:t>
                    </m:r>
                    <m:sSub>
                      <m:sSubPr>
                        <m:ctrlPr>
                          <a:rPr lang="en-AU" sz="1100" i="1" dirty="0" smtClean="0">
                            <a:latin typeface="Cambria Math" panose="02040503050406030204" pitchFamily="18" charset="0"/>
                          </a:rPr>
                        </m:ctrlPr>
                      </m:sSubPr>
                      <m:e>
                        <m:r>
                          <a:rPr lang="en-AU" sz="1100" i="1" dirty="0" smtClean="0">
                            <a:latin typeface="Cambria Math" panose="02040503050406030204" pitchFamily="18" charset="0"/>
                          </a:rPr>
                          <m:t>𝑞</m:t>
                        </m:r>
                      </m:e>
                      <m:sub>
                        <m:r>
                          <a:rPr lang="en-AU" sz="1100" i="1" dirty="0" smtClean="0">
                            <a:latin typeface="Cambria Math" panose="02040503050406030204" pitchFamily="18" charset="0"/>
                          </a:rPr>
                          <m:t>0</m:t>
                        </m:r>
                      </m:sub>
                    </m:sSub>
                    <m:r>
                      <a:rPr lang="en-AU" sz="1100" i="1" dirty="0" smtClean="0">
                        <a:latin typeface="Cambria Math" panose="02040503050406030204" pitchFamily="18" charset="0"/>
                      </a:rPr>
                      <m:t>− </m:t>
                    </m:r>
                    <m:sSubSup>
                      <m:sSubSupPr>
                        <m:ctrlPr>
                          <a:rPr lang="en-AU" sz="1100" i="1" dirty="0" smtClean="0">
                            <a:latin typeface="Cambria Math" panose="02040503050406030204" pitchFamily="18" charset="0"/>
                          </a:rPr>
                        </m:ctrlPr>
                      </m:sSubSupPr>
                      <m:e>
                        <m:r>
                          <a:rPr lang="en-AU" sz="1100" i="1" dirty="0" smtClean="0">
                            <a:latin typeface="Cambria Math" panose="02040503050406030204" pitchFamily="18" charset="0"/>
                          </a:rPr>
                          <m:t>𝑞</m:t>
                        </m:r>
                      </m:e>
                      <m:sub>
                        <m:r>
                          <a:rPr lang="en-AU" sz="1100" i="1" dirty="0" smtClean="0">
                            <a:latin typeface="Cambria Math" panose="02040503050406030204" pitchFamily="18" charset="0"/>
                          </a:rPr>
                          <m:t>0</m:t>
                        </m:r>
                      </m:sub>
                      <m:sup>
                        <m:r>
                          <a:rPr lang="en-AU" sz="1100" i="1" dirty="0" smtClean="0">
                            <a:latin typeface="Cambria Math" panose="02040503050406030204" pitchFamily="18" charset="0"/>
                          </a:rPr>
                          <m:t>3</m:t>
                        </m:r>
                      </m:sup>
                    </m:sSubSup>
                  </m:oMath>
                </a14:m>
                <a:r>
                  <a:rPr lang="en-AU" sz="1100" dirty="0"/>
                  <a:t> </a:t>
                </a:r>
              </a:p>
              <a:p>
                <a:pPr lvl="2"/>
                <a:endParaRPr lang="en-AU" sz="1100" dirty="0"/>
              </a:p>
              <a:p>
                <a:pPr lvl="2"/>
                <a:endParaRPr lang="en-AU" sz="1100"/>
              </a:p>
              <a:p>
                <a:pPr marL="228600" lvl="2" indent="-228600">
                  <a:buFont typeface="+mj-lt"/>
                  <a:buAutoNum type="arabicPeriod" startAt="4"/>
                </a:pPr>
                <a:r>
                  <a:rPr lang="en-AU" sz="1100">
                    <a:solidFill>
                      <a:schemeClr val="bg1"/>
                    </a:solidFill>
                    <a:highlight>
                      <a:srgbClr val="800000"/>
                    </a:highlight>
                  </a:rPr>
                  <a:t>Removing Scaler Term</a:t>
                </a:r>
              </a:p>
              <a:p>
                <a:pPr marL="171450" lvl="2" indent="-171450">
                  <a:buFont typeface="Arial" panose="020B0604020202020204" pitchFamily="34" charset="0"/>
                  <a:buChar char="•"/>
                </a:pPr>
                <a14:m>
                  <m:oMath xmlns:m="http://schemas.openxmlformats.org/officeDocument/2006/math">
                    <m:sSup>
                      <m:sSupPr>
                        <m:ctrlPr>
                          <a:rPr lang="en-AU" sz="1100" b="1" i="1" dirty="0">
                            <a:latin typeface="Cambria Math" panose="02040503050406030204" pitchFamily="18" charset="0"/>
                          </a:rPr>
                        </m:ctrlPr>
                      </m:sSupPr>
                      <m:e>
                        <m:r>
                          <a:rPr lang="en-AU" sz="1100" b="1" i="1" dirty="0">
                            <a:latin typeface="Cambria Math" panose="02040503050406030204" pitchFamily="18" charset="0"/>
                          </a:rPr>
                          <m:t>𝝐</m:t>
                        </m:r>
                      </m:e>
                      <m:sup>
                        <m:r>
                          <a:rPr lang="en-AU" sz="1100" b="1" i="1" dirty="0">
                            <a:latin typeface="Cambria Math" panose="02040503050406030204" pitchFamily="18" charset="0"/>
                          </a:rPr>
                          <m:t>𝟎</m:t>
                        </m:r>
                      </m:sup>
                    </m:sSup>
                    <m:r>
                      <a:rPr lang="en-AU" sz="1100" b="1" i="1" dirty="0">
                        <a:latin typeface="Cambria Math" panose="02040503050406030204" pitchFamily="18" charset="0"/>
                      </a:rPr>
                      <m:t> </m:t>
                    </m:r>
                  </m:oMath>
                </a14:m>
                <a:r>
                  <a:rPr lang="en-US" sz="1100" b="1" dirty="0">
                    <a:solidFill>
                      <a:schemeClr val="tx1"/>
                    </a:solidFill>
                  </a:rPr>
                  <a:t>Solution</a:t>
                </a:r>
                <a:br>
                  <a:rPr lang="en-US" sz="1100" b="1" dirty="0">
                    <a:solidFill>
                      <a:schemeClr val="tx1"/>
                    </a:solidFill>
                  </a:rPr>
                </a:br>
                <a14:m>
                  <m:oMath xmlns:m="http://schemas.openxmlformats.org/officeDocument/2006/math">
                    <m:sSub>
                      <m:sSubPr>
                        <m:ctrlPr>
                          <a:rPr lang="it-IT" sz="1100" b="0" i="1">
                            <a:solidFill>
                              <a:schemeClr val="tx1"/>
                            </a:solidFill>
                            <a:latin typeface="Cambria Math" panose="02040503050406030204" pitchFamily="18" charset="0"/>
                          </a:rPr>
                        </m:ctrlPr>
                      </m:sSubPr>
                      <m:e>
                        <m:r>
                          <a:rPr lang="it-IT" sz="1100" b="0" i="1">
                            <a:solidFill>
                              <a:schemeClr val="tx1"/>
                            </a:solidFill>
                            <a:latin typeface="Cambria Math" panose="02040503050406030204" pitchFamily="18" charset="0"/>
                          </a:rPr>
                          <m:t>𝑞</m:t>
                        </m:r>
                      </m:e>
                      <m:sub>
                        <m:r>
                          <a:rPr lang="it-IT" sz="1100" b="0" i="1">
                            <a:solidFill>
                              <a:schemeClr val="tx1"/>
                            </a:solidFill>
                            <a:latin typeface="Cambria Math" panose="02040503050406030204" pitchFamily="18" charset="0"/>
                          </a:rPr>
                          <m:t>0</m:t>
                        </m:r>
                      </m:sub>
                    </m:sSub>
                    <m:r>
                      <a:rPr lang="it-IT" sz="1100" b="0" i="1">
                        <a:solidFill>
                          <a:schemeClr val="tx1"/>
                        </a:solidFill>
                        <a:latin typeface="Cambria Math" panose="02040503050406030204" pitchFamily="18" charset="0"/>
                      </a:rPr>
                      <m:t> = </m:t>
                    </m:r>
                    <m:r>
                      <a:rPr lang="it-IT" sz="1100" b="0" i="1">
                        <a:solidFill>
                          <a:schemeClr val="tx1"/>
                        </a:solidFill>
                        <a:latin typeface="Cambria Math" panose="02040503050406030204" pitchFamily="18" charset="0"/>
                      </a:rPr>
                      <m:t>𝐴</m:t>
                    </m:r>
                    <m:sSub>
                      <m:sSubPr>
                        <m:ctrlPr>
                          <a:rPr lang="it-IT" sz="1100" i="1">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m:t>
                        </m:r>
                        <m:r>
                          <a:rPr lang="it-IT" sz="1100" i="1">
                            <a:solidFill>
                              <a:schemeClr val="tx1"/>
                            </a:solidFill>
                            <a:latin typeface="Cambria Math" panose="02040503050406030204" pitchFamily="18" charset="0"/>
                          </a:rPr>
                          <m:t>𝑇</m:t>
                        </m:r>
                      </m:e>
                      <m:sub>
                        <m:r>
                          <a:rPr lang="it-IT" sz="1100" i="1">
                            <a:solidFill>
                              <a:schemeClr val="tx1"/>
                            </a:solidFill>
                            <a:latin typeface="Cambria Math" panose="02040503050406030204" pitchFamily="18" charset="0"/>
                          </a:rPr>
                          <m:t>1</m:t>
                        </m:r>
                      </m:sub>
                    </m:sSub>
                    <m:r>
                      <a:rPr lang="en-US" sz="1100" b="0" i="1" smtClean="0">
                        <a:solidFill>
                          <a:schemeClr val="tx1"/>
                        </a:solidFill>
                        <a:latin typeface="Cambria Math" panose="02040503050406030204" pitchFamily="18" charset="0"/>
                      </a:rPr>
                      <m:t>)</m:t>
                    </m:r>
                    <m:sSup>
                      <m:sSupPr>
                        <m:ctrlPr>
                          <a:rPr lang="it-IT" sz="1100" b="0" i="1">
                            <a:solidFill>
                              <a:schemeClr val="tx1"/>
                            </a:solidFill>
                            <a:latin typeface="Cambria Math" panose="02040503050406030204" pitchFamily="18" charset="0"/>
                          </a:rPr>
                        </m:ctrlPr>
                      </m:sSupPr>
                      <m:e>
                        <m:r>
                          <a:rPr lang="it-IT" sz="1100" b="0" i="1">
                            <a:solidFill>
                              <a:schemeClr val="tx1"/>
                            </a:solidFill>
                            <a:latin typeface="Cambria Math" panose="02040503050406030204" pitchFamily="18" charset="0"/>
                          </a:rPr>
                          <m:t>𝑒</m:t>
                        </m:r>
                      </m:e>
                      <m:sup>
                        <m:r>
                          <a:rPr lang="it-IT" sz="1100" i="1">
                            <a:solidFill>
                              <a:schemeClr val="tx1"/>
                            </a:solidFill>
                            <a:latin typeface="Cambria Math" panose="02040503050406030204" pitchFamily="18" charset="0"/>
                          </a:rPr>
                          <m:t>𝑖</m:t>
                        </m:r>
                        <m:r>
                          <a:rPr lang="it-IT" sz="1100" i="1">
                            <a:solidFill>
                              <a:schemeClr val="tx1"/>
                            </a:solidFill>
                            <a:latin typeface="Cambria Math" panose="02040503050406030204" pitchFamily="18" charset="0"/>
                          </a:rPr>
                          <m:t> </m:t>
                        </m:r>
                        <m:sSub>
                          <m:sSubPr>
                            <m:ctrlPr>
                              <a:rPr lang="it-IT" sz="1100" i="1">
                                <a:solidFill>
                                  <a:schemeClr val="tx1"/>
                                </a:solidFill>
                                <a:latin typeface="Cambria Math" panose="02040503050406030204" pitchFamily="18" charset="0"/>
                              </a:rPr>
                            </m:ctrlPr>
                          </m:sSubPr>
                          <m:e>
                            <m:r>
                              <a:rPr lang="it-IT" sz="1100" i="1">
                                <a:solidFill>
                                  <a:schemeClr val="tx1"/>
                                </a:solidFill>
                                <a:latin typeface="Cambria Math" panose="02040503050406030204" pitchFamily="18" charset="0"/>
                              </a:rPr>
                              <m:t>𝜔</m:t>
                            </m:r>
                          </m:e>
                          <m:sub>
                            <m:r>
                              <a:rPr lang="it-IT" sz="1100" i="1">
                                <a:solidFill>
                                  <a:schemeClr val="tx1"/>
                                </a:solidFill>
                                <a:latin typeface="Cambria Math" panose="02040503050406030204" pitchFamily="18" charset="0"/>
                              </a:rPr>
                              <m:t>0</m:t>
                            </m:r>
                          </m:sub>
                        </m:sSub>
                        <m:sSub>
                          <m:sSubPr>
                            <m:ctrlPr>
                              <a:rPr lang="it-IT" sz="1100" i="1">
                                <a:solidFill>
                                  <a:schemeClr val="tx1"/>
                                </a:solidFill>
                                <a:latin typeface="Cambria Math" panose="02040503050406030204" pitchFamily="18" charset="0"/>
                              </a:rPr>
                            </m:ctrlPr>
                          </m:sSubPr>
                          <m:e>
                            <m:r>
                              <a:rPr lang="it-IT" sz="1100" i="1">
                                <a:solidFill>
                                  <a:schemeClr val="tx1"/>
                                </a:solidFill>
                                <a:latin typeface="Cambria Math" panose="02040503050406030204" pitchFamily="18" charset="0"/>
                              </a:rPr>
                              <m:t>𝑇</m:t>
                            </m:r>
                          </m:e>
                          <m:sub>
                            <m:r>
                              <a:rPr lang="it-IT" sz="1100" i="1">
                                <a:solidFill>
                                  <a:schemeClr val="tx1"/>
                                </a:solidFill>
                                <a:latin typeface="Cambria Math" panose="02040503050406030204" pitchFamily="18" charset="0"/>
                              </a:rPr>
                              <m:t>0</m:t>
                            </m:r>
                          </m:sub>
                        </m:sSub>
                      </m:sup>
                    </m:sSup>
                    <m:r>
                      <a:rPr lang="it-IT" sz="1100" b="0" i="1">
                        <a:solidFill>
                          <a:schemeClr val="tx1"/>
                        </a:solidFill>
                        <a:latin typeface="Cambria Math" panose="02040503050406030204" pitchFamily="18" charset="0"/>
                      </a:rPr>
                      <m:t> +</m:t>
                    </m:r>
                    <m:r>
                      <a:rPr lang="en-US" sz="1100" b="0" i="1" smtClean="0">
                        <a:solidFill>
                          <a:schemeClr val="tx1"/>
                        </a:solidFill>
                        <a:latin typeface="Cambria Math" panose="02040503050406030204" pitchFamily="18" charset="0"/>
                      </a:rPr>
                      <m:t>𝐵</m:t>
                    </m:r>
                    <m:d>
                      <m:dPr>
                        <m:ctrlPr>
                          <a:rPr lang="en-US" sz="1100" b="0" i="1" smtClean="0">
                            <a:solidFill>
                              <a:schemeClr val="tx1"/>
                            </a:solidFill>
                            <a:latin typeface="Cambria Math" panose="02040503050406030204" pitchFamily="18" charset="0"/>
                          </a:rPr>
                        </m:ctrlPr>
                      </m:dPr>
                      <m:e>
                        <m:sSub>
                          <m:sSubPr>
                            <m:ctrlPr>
                              <a:rPr lang="it-IT" sz="1100" i="1">
                                <a:solidFill>
                                  <a:schemeClr val="tx1"/>
                                </a:solidFill>
                                <a:latin typeface="Cambria Math" panose="02040503050406030204" pitchFamily="18" charset="0"/>
                              </a:rPr>
                            </m:ctrlPr>
                          </m:sSubPr>
                          <m:e>
                            <m:r>
                              <a:rPr lang="it-IT" sz="1100" i="1">
                                <a:solidFill>
                                  <a:schemeClr val="tx1"/>
                                </a:solidFill>
                                <a:latin typeface="Cambria Math" panose="02040503050406030204" pitchFamily="18" charset="0"/>
                              </a:rPr>
                              <m:t>𝑇</m:t>
                            </m:r>
                          </m:e>
                          <m:sub>
                            <m:r>
                              <a:rPr lang="it-IT" sz="1100" i="1">
                                <a:solidFill>
                                  <a:schemeClr val="tx1"/>
                                </a:solidFill>
                                <a:latin typeface="Cambria Math" panose="02040503050406030204" pitchFamily="18" charset="0"/>
                              </a:rPr>
                              <m:t>1</m:t>
                            </m:r>
                          </m:sub>
                        </m:sSub>
                      </m:e>
                    </m:d>
                    <m:sSup>
                      <m:sSupPr>
                        <m:ctrlPr>
                          <a:rPr lang="it-IT" sz="1100" b="0" i="1" smtClean="0">
                            <a:solidFill>
                              <a:schemeClr val="tx1"/>
                            </a:solidFill>
                            <a:latin typeface="Cambria Math" panose="02040503050406030204" pitchFamily="18" charset="0"/>
                          </a:rPr>
                        </m:ctrlPr>
                      </m:sSupPr>
                      <m:e>
                        <m:r>
                          <a:rPr lang="it-IT" sz="1100" b="0" i="1">
                            <a:solidFill>
                              <a:schemeClr val="tx1"/>
                            </a:solidFill>
                            <a:latin typeface="Cambria Math" panose="02040503050406030204" pitchFamily="18" charset="0"/>
                          </a:rPr>
                          <m:t>𝑒</m:t>
                        </m:r>
                      </m:e>
                      <m:sup>
                        <m:r>
                          <a:rPr lang="it-IT" sz="1100" i="1">
                            <a:solidFill>
                              <a:schemeClr val="tx1"/>
                            </a:solidFill>
                            <a:latin typeface="Cambria Math" panose="02040503050406030204" pitchFamily="18" charset="0"/>
                          </a:rPr>
                          <m:t>−</m:t>
                        </m:r>
                        <m:r>
                          <a:rPr lang="it-IT" sz="1100" i="1">
                            <a:solidFill>
                              <a:schemeClr val="tx1"/>
                            </a:solidFill>
                            <a:latin typeface="Cambria Math" panose="02040503050406030204" pitchFamily="18" charset="0"/>
                          </a:rPr>
                          <m:t>𝑖</m:t>
                        </m:r>
                        <m:sSub>
                          <m:sSubPr>
                            <m:ctrlPr>
                              <a:rPr lang="it-IT" sz="1100" i="1">
                                <a:solidFill>
                                  <a:schemeClr val="tx1"/>
                                </a:solidFill>
                                <a:latin typeface="Cambria Math" panose="02040503050406030204" pitchFamily="18" charset="0"/>
                              </a:rPr>
                            </m:ctrlPr>
                          </m:sSubPr>
                          <m:e>
                            <m:r>
                              <a:rPr lang="it-IT" sz="1100" i="1" smtClean="0">
                                <a:solidFill>
                                  <a:schemeClr val="tx1"/>
                                </a:solidFill>
                                <a:latin typeface="Cambria Math" panose="02040503050406030204" pitchFamily="18" charset="0"/>
                              </a:rPr>
                              <m:t>𝜔</m:t>
                            </m:r>
                          </m:e>
                          <m:sub>
                            <m:r>
                              <a:rPr lang="it-IT" sz="1100" i="1">
                                <a:solidFill>
                                  <a:schemeClr val="tx1"/>
                                </a:solidFill>
                                <a:latin typeface="Cambria Math" panose="02040503050406030204" pitchFamily="18" charset="0"/>
                              </a:rPr>
                              <m:t>0</m:t>
                            </m:r>
                          </m:sub>
                        </m:sSub>
                        <m:sSub>
                          <m:sSubPr>
                            <m:ctrlPr>
                              <a:rPr lang="it-IT" sz="1100" i="1">
                                <a:solidFill>
                                  <a:schemeClr val="tx1"/>
                                </a:solidFill>
                                <a:latin typeface="Cambria Math" panose="02040503050406030204" pitchFamily="18" charset="0"/>
                              </a:rPr>
                            </m:ctrlPr>
                          </m:sSubPr>
                          <m:e>
                            <m:r>
                              <a:rPr lang="it-IT" sz="1100" i="1">
                                <a:solidFill>
                                  <a:schemeClr val="tx1"/>
                                </a:solidFill>
                                <a:latin typeface="Cambria Math" panose="02040503050406030204" pitchFamily="18" charset="0"/>
                              </a:rPr>
                              <m:t>𝑇</m:t>
                            </m:r>
                          </m:e>
                          <m:sub>
                            <m:r>
                              <a:rPr lang="it-IT" sz="1100" i="1">
                                <a:solidFill>
                                  <a:schemeClr val="tx1"/>
                                </a:solidFill>
                                <a:latin typeface="Cambria Math" panose="02040503050406030204" pitchFamily="18" charset="0"/>
                              </a:rPr>
                              <m:t>0</m:t>
                            </m:r>
                          </m:sub>
                        </m:sSub>
                      </m:sup>
                    </m:sSup>
                  </m:oMath>
                </a14:m>
                <a:endParaRPr lang="en-AU" sz="1100" dirty="0">
                  <a:solidFill>
                    <a:schemeClr val="tx1"/>
                  </a:solidFill>
                </a:endParaRPr>
              </a:p>
              <a:p>
                <a:pPr marL="171450" lvl="2" indent="-171450">
                  <a:buFont typeface="Arial" panose="020B0604020202020204" pitchFamily="34" charset="0"/>
                  <a:buChar char="•"/>
                </a:pPr>
                <a:r>
                  <a:rPr lang="en-AU" sz="1100" dirty="0">
                    <a:solidFill>
                      <a:schemeClr val="tx1"/>
                    </a:solidFill>
                  </a:rPr>
                  <a:t>Plug in to </a:t>
                </a:r>
                <a14:m>
                  <m:oMath xmlns:m="http://schemas.openxmlformats.org/officeDocument/2006/math">
                    <m:sSup>
                      <m:sSupPr>
                        <m:ctrlPr>
                          <a:rPr lang="en-AU" sz="1100" i="1" dirty="0">
                            <a:latin typeface="Cambria Math" panose="02040503050406030204" pitchFamily="18" charset="0"/>
                          </a:rPr>
                        </m:ctrlPr>
                      </m:sSupPr>
                      <m:e>
                        <m:r>
                          <a:rPr lang="en-AU" sz="1100" i="1" dirty="0">
                            <a:latin typeface="Cambria Math" panose="02040503050406030204" pitchFamily="18" charset="0"/>
                          </a:rPr>
                          <m:t>𝜖</m:t>
                        </m:r>
                      </m:e>
                      <m:sup>
                        <m:r>
                          <a:rPr lang="en-AU" sz="1100" i="1" dirty="0">
                            <a:latin typeface="Cambria Math" panose="02040503050406030204" pitchFamily="18" charset="0"/>
                          </a:rPr>
                          <m:t>1</m:t>
                        </m:r>
                      </m:sup>
                    </m:sSup>
                  </m:oMath>
                </a14:m>
                <a:r>
                  <a:rPr lang="en-AU" sz="1100" dirty="0">
                    <a:solidFill>
                      <a:schemeClr val="tx1"/>
                    </a:solidFill>
                  </a:rPr>
                  <a:t> , then </a:t>
                </a:r>
                <a14:m>
                  <m:oMath xmlns:m="http://schemas.openxmlformats.org/officeDocument/2006/math">
                    <m:sSup>
                      <m:sSupPr>
                        <m:ctrlPr>
                          <a:rPr lang="en-AU" sz="1100" i="1">
                            <a:solidFill>
                              <a:schemeClr val="tx1"/>
                            </a:solidFill>
                            <a:latin typeface="Cambria Math" panose="02040503050406030204" pitchFamily="18" charset="0"/>
                          </a:rPr>
                        </m:ctrlPr>
                      </m:sSupPr>
                      <m:e>
                        <m:r>
                          <a:rPr lang="en-AU" sz="1100" i="1">
                            <a:solidFill>
                              <a:schemeClr val="tx1"/>
                            </a:solidFill>
                            <a:latin typeface="Cambria Math" panose="02040503050406030204" pitchFamily="18" charset="0"/>
                          </a:rPr>
                          <m:t>𝑞</m:t>
                        </m:r>
                      </m:e>
                      <m:sup>
                        <m:r>
                          <a:rPr lang="en-AU" sz="1100" i="1">
                            <a:solidFill>
                              <a:schemeClr val="tx1"/>
                            </a:solidFill>
                            <a:latin typeface="Cambria Math" panose="02040503050406030204" pitchFamily="18" charset="0"/>
                          </a:rPr>
                          <m:t>3</m:t>
                        </m:r>
                      </m:sup>
                    </m:sSup>
                  </m:oMath>
                </a14:m>
                <a:r>
                  <a:rPr lang="en-AU" sz="1100" dirty="0">
                    <a:solidFill>
                      <a:schemeClr val="tx1"/>
                    </a:solidFill>
                  </a:rPr>
                  <a:t> create resonance</a:t>
                </a:r>
                <a:r>
                  <a:rPr lang="en-AU" sz="1100">
                    <a:solidFill>
                      <a:schemeClr val="tx1"/>
                    </a:solidFill>
                  </a:rPr>
                  <a:t>.</a:t>
                </a:r>
                <a:endParaRPr lang="en-US" sz="1100" dirty="0">
                  <a:solidFill>
                    <a:schemeClr val="tx1"/>
                  </a:solidFill>
                </a:endParaRPr>
              </a:p>
              <a:p>
                <a:pPr marL="171450" lvl="2" indent="-171450">
                  <a:buFont typeface="Arial" panose="020B0604020202020204" pitchFamily="34" charset="0"/>
                  <a:buChar char="•"/>
                </a:pPr>
                <a:r>
                  <a:rPr lang="en-US" sz="1100" b="1" dirty="0"/>
                  <a:t>Solvability Condition :</a:t>
                </a:r>
              </a:p>
              <a:p>
                <a:pPr>
                  <a:buNone/>
                </a:pPr>
                <a14:m>
                  <m:oMathPara xmlns:m="http://schemas.openxmlformats.org/officeDocument/2006/math">
                    <m:oMathParaPr>
                      <m:jc m:val="centerGroup"/>
                    </m:oMathParaPr>
                    <m:oMath xmlns:m="http://schemas.openxmlformats.org/officeDocument/2006/math">
                      <m:r>
                        <a:rPr lang="en-US" sz="1100">
                          <a:latin typeface="Cambria Math" panose="02040503050406030204" pitchFamily="18" charset="0"/>
                        </a:rPr>
                        <m:t>2</m:t>
                      </m:r>
                      <m:r>
                        <a:rPr lang="en-US" sz="1100" i="1">
                          <a:latin typeface="Cambria Math" panose="02040503050406030204" pitchFamily="18" charset="0"/>
                        </a:rPr>
                        <m:t>𝑖</m:t>
                      </m:r>
                      <m:sSub>
                        <m:sSubPr>
                          <m:ctrlPr>
                            <a:rPr lang="ar-AE" sz="1100" i="1">
                              <a:latin typeface="Cambria Math" panose="02040503050406030204" pitchFamily="18" charset="0"/>
                            </a:rPr>
                          </m:ctrlPr>
                        </m:sSubPr>
                        <m:e>
                          <m:r>
                            <a:rPr lang="ar-AE" sz="1100" i="1">
                              <a:latin typeface="Cambria Math" panose="02040503050406030204" pitchFamily="18" charset="0"/>
                            </a:rPr>
                            <m:t>𝜔</m:t>
                          </m:r>
                        </m:e>
                        <m:sub>
                          <m:r>
                            <a:rPr lang="ar-AE" sz="1100">
                              <a:latin typeface="Cambria Math" panose="02040503050406030204" pitchFamily="18" charset="0"/>
                            </a:rPr>
                            <m:t>0</m:t>
                          </m:r>
                        </m:sub>
                      </m:sSub>
                      <m:sSup>
                        <m:sSupPr>
                          <m:ctrlPr>
                            <a:rPr lang="ar-AE" sz="1100" i="1">
                              <a:latin typeface="Cambria Math" panose="02040503050406030204" pitchFamily="18" charset="0"/>
                            </a:rPr>
                          </m:ctrlPr>
                        </m:sSupPr>
                        <m:e>
                          <m:r>
                            <a:rPr lang="ar-AE" sz="1100" i="1">
                              <a:latin typeface="Cambria Math" panose="02040503050406030204" pitchFamily="18" charset="0"/>
                            </a:rPr>
                            <m:t>𝐴</m:t>
                          </m:r>
                        </m:e>
                        <m:sup>
                          <m:r>
                            <a:rPr lang="ar-AE" sz="1100">
                              <a:latin typeface="Cambria Math" panose="02040503050406030204" pitchFamily="18" charset="0"/>
                            </a:rPr>
                            <m:t>′</m:t>
                          </m:r>
                        </m:sup>
                      </m:sSup>
                      <m:r>
                        <a:rPr lang="ar-AE" sz="1100">
                          <a:latin typeface="Cambria Math" panose="02040503050406030204" pitchFamily="18" charset="0"/>
                        </a:rPr>
                        <m:t>+</m:t>
                      </m:r>
                      <m:r>
                        <a:rPr lang="ar-AE" sz="1100">
                          <a:latin typeface="Cambria Math" panose="02040503050406030204" pitchFamily="18" charset="0"/>
                        </a:rPr>
                        <m:t>3</m:t>
                      </m:r>
                      <m:r>
                        <m:rPr>
                          <m:sty m:val="p"/>
                        </m:rPr>
                        <a:rPr lang="el-GR" sz="1100">
                          <a:latin typeface="Cambria Math" panose="02040503050406030204" pitchFamily="18" charset="0"/>
                        </a:rPr>
                        <m:t>Γ</m:t>
                      </m:r>
                      <m:r>
                        <a:rPr lang="el-GR" sz="1100">
                          <a:latin typeface="Cambria Math" panose="02040503050406030204" pitchFamily="18" charset="0"/>
                        </a:rPr>
                        <m:t>∣</m:t>
                      </m:r>
                      <m:r>
                        <a:rPr lang="el-GR" sz="1100" i="1">
                          <a:latin typeface="Cambria Math" panose="02040503050406030204" pitchFamily="18" charset="0"/>
                        </a:rPr>
                        <m:t>𝐴</m:t>
                      </m:r>
                      <m:sSup>
                        <m:sSupPr>
                          <m:ctrlPr>
                            <a:rPr lang="ar-AE" sz="1100" i="1">
                              <a:latin typeface="Cambria Math" panose="02040503050406030204" pitchFamily="18" charset="0"/>
                            </a:rPr>
                          </m:ctrlPr>
                        </m:sSupPr>
                        <m:e>
                          <m:r>
                            <a:rPr lang="ar-AE" sz="1100">
                              <a:latin typeface="Cambria Math" panose="02040503050406030204" pitchFamily="18" charset="0"/>
                            </a:rPr>
                            <m:t>∣</m:t>
                          </m:r>
                        </m:e>
                        <m:sup>
                          <m:r>
                            <a:rPr lang="ar-AE" sz="1100">
                              <a:latin typeface="Cambria Math" panose="02040503050406030204" pitchFamily="18" charset="0"/>
                            </a:rPr>
                            <m:t>2</m:t>
                          </m:r>
                        </m:sup>
                      </m:sSup>
                      <m:r>
                        <a:rPr lang="ar-AE" sz="1100" i="1">
                          <a:latin typeface="Cambria Math" panose="02040503050406030204" pitchFamily="18" charset="0"/>
                        </a:rPr>
                        <m:t>𝐴</m:t>
                      </m:r>
                      <m:r>
                        <a:rPr lang="ar-AE" sz="1100">
                          <a:latin typeface="Cambria Math" panose="02040503050406030204" pitchFamily="18" charset="0"/>
                        </a:rPr>
                        <m:t>=</m:t>
                      </m:r>
                      <m:r>
                        <a:rPr lang="ar-AE" sz="1100">
                          <a:latin typeface="Cambria Math" panose="02040503050406030204" pitchFamily="18" charset="0"/>
                        </a:rPr>
                        <m:t>0</m:t>
                      </m:r>
                    </m:oMath>
                  </m:oMathPara>
                </a14:m>
                <a:endParaRPr lang="ar-AE" sz="1100" dirty="0"/>
              </a:p>
              <a:p>
                <a:pPr marL="171450" indent="-171450">
                  <a:buFont typeface="Arial" panose="020B0604020202020204" pitchFamily="34" charset="0"/>
                  <a:buChar char="•"/>
                </a:pPr>
                <a:r>
                  <a:rPr lang="en-US" sz="1100" b="1" dirty="0"/>
                  <a:t>Final Amplitude–Frequency Relation:</a:t>
                </a:r>
              </a:p>
              <a:p>
                <a:pPr>
                  <a:buNone/>
                </a:pPr>
                <a14:m>
                  <m:oMathPara xmlns:m="http://schemas.openxmlformats.org/officeDocument/2006/math">
                    <m:oMathParaPr>
                      <m:jc m:val="centerGroup"/>
                    </m:oMathParaPr>
                    <m:oMath xmlns:m="http://schemas.openxmlformats.org/officeDocument/2006/math">
                      <m:sSub>
                        <m:sSubPr>
                          <m:ctrlPr>
                            <a:rPr lang="ar-AE" sz="1100" i="1">
                              <a:latin typeface="Cambria Math" panose="02040503050406030204" pitchFamily="18" charset="0"/>
                            </a:rPr>
                          </m:ctrlPr>
                        </m:sSubPr>
                        <m:e>
                          <m:r>
                            <a:rPr lang="ar-AE" sz="1100" i="1">
                              <a:latin typeface="Cambria Math" panose="02040503050406030204" pitchFamily="18" charset="0"/>
                            </a:rPr>
                            <m:t>𝜔</m:t>
                          </m:r>
                        </m:e>
                        <m:sub>
                          <m:r>
                            <m:rPr>
                              <m:nor/>
                            </m:rPr>
                            <a:rPr lang="en-US" sz="1100" i="1">
                              <a:latin typeface="Cambria Math" panose="02040503050406030204" pitchFamily="18" charset="0"/>
                            </a:rPr>
                            <m:t>NL</m:t>
                          </m:r>
                        </m:sub>
                      </m:sSub>
                      <m:r>
                        <a:rPr lang="ar-AE" sz="1100">
                          <a:latin typeface="Cambria Math" panose="02040503050406030204" pitchFamily="18" charset="0"/>
                        </a:rPr>
                        <m:t>=</m:t>
                      </m:r>
                      <m:sSub>
                        <m:sSubPr>
                          <m:ctrlPr>
                            <a:rPr lang="ar-AE" sz="1100" i="1">
                              <a:latin typeface="Cambria Math" panose="02040503050406030204" pitchFamily="18" charset="0"/>
                            </a:rPr>
                          </m:ctrlPr>
                        </m:sSubPr>
                        <m:e>
                          <m:r>
                            <a:rPr lang="ar-AE" sz="1100" i="1">
                              <a:latin typeface="Cambria Math" panose="02040503050406030204" pitchFamily="18" charset="0"/>
                            </a:rPr>
                            <m:t>𝜔</m:t>
                          </m:r>
                        </m:e>
                        <m:sub>
                          <m:r>
                            <a:rPr lang="ar-AE" sz="1100">
                              <a:latin typeface="Cambria Math" panose="02040503050406030204" pitchFamily="18" charset="0"/>
                            </a:rPr>
                            <m:t>0</m:t>
                          </m:r>
                        </m:sub>
                      </m:sSub>
                      <m:d>
                        <m:dPr>
                          <m:ctrlPr>
                            <a:rPr lang="ar-AE" sz="1100" i="1">
                              <a:latin typeface="Cambria Math" panose="02040503050406030204" pitchFamily="18" charset="0"/>
                            </a:rPr>
                          </m:ctrlPr>
                        </m:dPr>
                        <m:e>
                          <m:r>
                            <a:rPr lang="ar-AE" sz="1100">
                              <a:latin typeface="Cambria Math" panose="02040503050406030204" pitchFamily="18" charset="0"/>
                            </a:rPr>
                            <m:t>1</m:t>
                          </m:r>
                          <m:r>
                            <a:rPr lang="ar-AE" sz="1100">
                              <a:latin typeface="Cambria Math" panose="02040503050406030204" pitchFamily="18" charset="0"/>
                            </a:rPr>
                            <m:t>+</m:t>
                          </m:r>
                          <m:f>
                            <m:fPr>
                              <m:ctrlPr>
                                <a:rPr lang="ar-AE" sz="1100" i="1">
                                  <a:latin typeface="Cambria Math" panose="02040503050406030204" pitchFamily="18" charset="0"/>
                                </a:rPr>
                              </m:ctrlPr>
                            </m:fPr>
                            <m:num>
                              <m:r>
                                <a:rPr lang="ar-AE" sz="1100">
                                  <a:latin typeface="Cambria Math" panose="02040503050406030204" pitchFamily="18" charset="0"/>
                                </a:rPr>
                                <m:t>3</m:t>
                              </m:r>
                              <m:r>
                                <m:rPr>
                                  <m:sty m:val="p"/>
                                </m:rPr>
                                <a:rPr lang="el-GR" sz="1100">
                                  <a:latin typeface="Cambria Math" panose="02040503050406030204" pitchFamily="18" charset="0"/>
                                </a:rPr>
                                <m:t>Γ</m:t>
                              </m:r>
                            </m:num>
                            <m:den>
                              <m:r>
                                <a:rPr lang="ar-AE" sz="1100">
                                  <a:latin typeface="Cambria Math" panose="02040503050406030204" pitchFamily="18" charset="0"/>
                                </a:rPr>
                                <m:t>8</m:t>
                              </m:r>
                              <m:sSubSup>
                                <m:sSubSupPr>
                                  <m:ctrlPr>
                                    <a:rPr lang="ar-AE" sz="1100" i="1">
                                      <a:latin typeface="Cambria Math" panose="02040503050406030204" pitchFamily="18" charset="0"/>
                                    </a:rPr>
                                  </m:ctrlPr>
                                </m:sSubSupPr>
                                <m:e>
                                  <m:r>
                                    <a:rPr lang="ar-AE" sz="1100" i="1">
                                      <a:latin typeface="Cambria Math" panose="02040503050406030204" pitchFamily="18" charset="0"/>
                                    </a:rPr>
                                    <m:t>𝜔</m:t>
                                  </m:r>
                                </m:e>
                                <m:sub>
                                  <m:r>
                                    <a:rPr lang="ar-AE" sz="1100">
                                      <a:latin typeface="Cambria Math" panose="02040503050406030204" pitchFamily="18" charset="0"/>
                                    </a:rPr>
                                    <m:t>0</m:t>
                                  </m:r>
                                </m:sub>
                                <m:sup>
                                  <m:r>
                                    <a:rPr lang="ar-AE" sz="1100">
                                      <a:latin typeface="Cambria Math" panose="02040503050406030204" pitchFamily="18" charset="0"/>
                                    </a:rPr>
                                    <m:t>2</m:t>
                                  </m:r>
                                </m:sup>
                              </m:sSubSup>
                            </m:den>
                          </m:f>
                          <m:sSup>
                            <m:sSupPr>
                              <m:ctrlPr>
                                <a:rPr lang="ar-AE" sz="1100" i="1">
                                  <a:latin typeface="Cambria Math" panose="02040503050406030204" pitchFamily="18" charset="0"/>
                                </a:rPr>
                              </m:ctrlPr>
                            </m:sSupPr>
                            <m:e>
                              <m:r>
                                <a:rPr lang="ar-AE" sz="1100" i="1">
                                  <a:latin typeface="Cambria Math" panose="02040503050406030204" pitchFamily="18" charset="0"/>
                                </a:rPr>
                                <m:t>𝑎</m:t>
                              </m:r>
                            </m:e>
                            <m:sup>
                              <m:r>
                                <a:rPr lang="ar-AE" sz="1100">
                                  <a:latin typeface="Cambria Math" panose="02040503050406030204" pitchFamily="18" charset="0"/>
                                </a:rPr>
                                <m:t>2</m:t>
                              </m:r>
                            </m:sup>
                          </m:sSup>
                        </m:e>
                      </m:d>
                    </m:oMath>
                  </m:oMathPara>
                </a14:m>
                <a:endParaRPr lang="en-US" sz="1100" dirty="0"/>
              </a:p>
              <a:p>
                <a:pPr marL="171450" indent="-171450">
                  <a:buFont typeface="Arial" panose="020B0604020202020204" pitchFamily="34" charset="0"/>
                  <a:buChar char="•"/>
                </a:pPr>
                <a:r>
                  <a:rPr lang="en-US" sz="1100" dirty="0"/>
                  <a:t>Frequency increases with Amplitude </a:t>
                </a:r>
                <a14:m>
                  <m:oMath xmlns:m="http://schemas.openxmlformats.org/officeDocument/2006/math">
                    <m:r>
                      <a:rPr lang="en-US" sz="1100" i="1">
                        <a:latin typeface="Cambria Math" panose="02040503050406030204" pitchFamily="18" charset="0"/>
                      </a:rPr>
                      <m:t>𝑎</m:t>
                    </m:r>
                  </m:oMath>
                </a14:m>
                <a:r>
                  <a:rPr lang="en-US" sz="1100" dirty="0"/>
                  <a:t>.</a:t>
                </a:r>
              </a:p>
            </p:txBody>
          </p:sp>
        </mc:Choice>
        <mc:Fallback xmlns="">
          <p:sp>
            <p:nvSpPr>
              <p:cNvPr id="13" name="TextBox 12">
                <a:extLst>
                  <a:ext uri="{FF2B5EF4-FFF2-40B4-BE49-F238E27FC236}">
                    <a16:creationId xmlns:a16="http://schemas.microsoft.com/office/drawing/2014/main" id="{A403796F-1263-3003-6AB2-A37EC5FF1E37}"/>
                  </a:ext>
                </a:extLst>
              </p:cNvPr>
              <p:cNvSpPr txBox="1">
                <a:spLocks noRot="1" noChangeAspect="1" noMove="1" noResize="1" noEditPoints="1" noAdjustHandles="1" noChangeArrowheads="1" noChangeShapeType="1" noTextEdit="1"/>
              </p:cNvSpPr>
              <p:nvPr/>
            </p:nvSpPr>
            <p:spPr>
              <a:xfrm>
                <a:off x="3110240" y="775605"/>
                <a:ext cx="2936686" cy="3857916"/>
              </a:xfrm>
              <a:prstGeom prst="rect">
                <a:avLst/>
              </a:prstGeom>
              <a:blipFill>
                <a:blip r:embed="rId3"/>
                <a:stretch>
                  <a:fillRect t="-158" b="-15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7D50FFE-A0B2-6CE7-42F5-DDD88F67B098}"/>
                  </a:ext>
                </a:extLst>
              </p:cNvPr>
              <p:cNvSpPr txBox="1"/>
              <p:nvPr/>
            </p:nvSpPr>
            <p:spPr>
              <a:xfrm>
                <a:off x="5890004" y="778993"/>
                <a:ext cx="2968995" cy="3616375"/>
              </a:xfrm>
              <a:prstGeom prst="rect">
                <a:avLst/>
              </a:prstGeom>
              <a:noFill/>
            </p:spPr>
            <p:txBody>
              <a:bodyPr wrap="square">
                <a:spAutoFit/>
              </a:bodyPr>
              <a:lstStyle/>
              <a:p>
                <a:r>
                  <a:rPr lang="en-US" sz="1100" dirty="0">
                    <a:solidFill>
                      <a:schemeClr val="bg1"/>
                    </a:solidFill>
                    <a:highlight>
                      <a:srgbClr val="800000"/>
                    </a:highlight>
                  </a:rPr>
                  <a:t>Nonlinear Normal Modes (NNM) Formulation</a:t>
                </a:r>
              </a:p>
              <a:p>
                <a:pPr>
                  <a:spcBef>
                    <a:spcPts val="1200"/>
                  </a:spcBef>
                  <a:buNone/>
                </a:pPr>
                <a:r>
                  <a:rPr lang="en-US" sz="1050" b="1" dirty="0"/>
                  <a:t>Concept: </a:t>
                </a:r>
                <a:r>
                  <a:rPr lang="en-US" sz="1050" dirty="0"/>
                  <a:t>Extension of linear modes to the nonlinear regime.</a:t>
                </a:r>
              </a:p>
              <a:p>
                <a:pPr marL="171450" indent="-171450">
                  <a:spcBef>
                    <a:spcPts val="1200"/>
                  </a:spcBef>
                  <a:buFont typeface="Arial" panose="020B0604020202020204" pitchFamily="34" charset="0"/>
                  <a:buChar char="•"/>
                </a:pPr>
                <a:r>
                  <a:rPr lang="en-US" sz="1050" b="1" dirty="0"/>
                  <a:t>Definition: </a:t>
                </a:r>
                <a:r>
                  <a:rPr lang="en-US" sz="1050" dirty="0"/>
                  <a:t>A synchronous periodic oscillation where all material points reach equilibrium/extremum simultaneously.</a:t>
                </a:r>
              </a:p>
              <a:p>
                <a:pPr marL="171450" indent="-171450">
                  <a:spcBef>
                    <a:spcPts val="1200"/>
                  </a:spcBef>
                  <a:buFont typeface="Arial" panose="020B0604020202020204" pitchFamily="34" charset="0"/>
                  <a:buChar char="•"/>
                </a:pPr>
                <a:r>
                  <a:rPr lang="en-US" sz="1050" b="1" dirty="0"/>
                  <a:t>Invariance Property:</a:t>
                </a:r>
                <a:br>
                  <a:rPr lang="en-US" sz="1050" dirty="0"/>
                </a:br>
                <a:r>
                  <a:rPr lang="en-US" sz="1050" dirty="0"/>
                  <a:t>Motion initiated on the NNM manifold stays on it.</a:t>
                </a:r>
              </a:p>
              <a:p>
                <a:pPr marL="171450" indent="-171450">
                  <a:spcBef>
                    <a:spcPts val="1200"/>
                  </a:spcBef>
                  <a:buFont typeface="Arial" panose="020B0604020202020204" pitchFamily="34" charset="0"/>
                  <a:buChar char="•"/>
                </a:pPr>
                <a:r>
                  <a:rPr lang="en-US" sz="1050" b="1" dirty="0"/>
                  <a:t>Energy Dependence:</a:t>
                </a:r>
                <a:br>
                  <a:rPr lang="en-US" sz="1050" dirty="0"/>
                </a:br>
                <a:r>
                  <a:rPr lang="en-US" sz="1050" dirty="0"/>
                  <a:t>Unlike linear modes, NNM frequency depends on energy </a:t>
                </a:r>
                <a:r>
                  <a:rPr lang="en-US" sz="1050" i="1" dirty="0"/>
                  <a:t>(E)</a:t>
                </a:r>
                <a:r>
                  <a:rPr lang="en-US" sz="1050" dirty="0"/>
                  <a:t>.</a:t>
                </a:r>
              </a:p>
              <a:p>
                <a:pPr>
                  <a:spcBef>
                    <a:spcPts val="1200"/>
                  </a:spcBef>
                  <a:buNone/>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𝜔</m:t>
                      </m:r>
                      <m:d>
                        <m:dPr>
                          <m:ctrlPr>
                            <a:rPr lang="ar-AE" sz="1050" i="1">
                              <a:latin typeface="Cambria Math" panose="02040503050406030204" pitchFamily="18" charset="0"/>
                            </a:rPr>
                          </m:ctrlPr>
                        </m:dPr>
                        <m:e>
                          <m:r>
                            <a:rPr lang="ar-AE" sz="1050" i="1">
                              <a:latin typeface="Cambria Math" panose="02040503050406030204" pitchFamily="18" charset="0"/>
                            </a:rPr>
                            <m:t>𝐸</m:t>
                          </m:r>
                        </m:e>
                      </m:d>
                      <m:r>
                        <a:rPr lang="ar-AE" sz="1050" i="0">
                          <a:latin typeface="Cambria Math" panose="02040503050406030204" pitchFamily="18" charset="0"/>
                        </a:rPr>
                        <m:t>≠</m:t>
                      </m:r>
                      <m:r>
                        <m:rPr>
                          <m:nor/>
                        </m:rPr>
                        <a:rPr lang="en-US" sz="1050" b="0" i="1">
                          <a:latin typeface="Cambria Math" panose="02040503050406030204" pitchFamily="18" charset="0"/>
                        </a:rPr>
                        <m:t>constant</m:t>
                      </m:r>
                    </m:oMath>
                  </m:oMathPara>
                </a14:m>
                <a:endParaRPr lang="en-US" sz="1050" dirty="0"/>
              </a:p>
              <a:p>
                <a:pPr marL="171450" indent="-171450">
                  <a:spcBef>
                    <a:spcPts val="1200"/>
                  </a:spcBef>
                  <a:buFont typeface="Arial" panose="020B0604020202020204" pitchFamily="34" charset="0"/>
                  <a:buChar char="•"/>
                </a:pPr>
                <a:r>
                  <a:rPr lang="en-US" sz="1050" b="1" dirty="0"/>
                  <a:t>Representation:</a:t>
                </a:r>
                <a:br>
                  <a:rPr lang="en-US" sz="1050" dirty="0"/>
                </a:br>
                <a:r>
                  <a:rPr lang="en-US" sz="1050" dirty="0"/>
                  <a:t>The </a:t>
                </a:r>
                <a:r>
                  <a:rPr lang="en-US" sz="1050" b="1" dirty="0"/>
                  <a:t>Backbone Curve</a:t>
                </a:r>
                <a:r>
                  <a:rPr lang="en-US" sz="1050" dirty="0"/>
                  <a:t> is essentially the projection of the NNM onto the Frequency–Energy plane.</a:t>
                </a:r>
              </a:p>
            </p:txBody>
          </p:sp>
        </mc:Choice>
        <mc:Fallback xmlns="">
          <p:sp>
            <p:nvSpPr>
              <p:cNvPr id="9" name="TextBox 8">
                <a:extLst>
                  <a:ext uri="{FF2B5EF4-FFF2-40B4-BE49-F238E27FC236}">
                    <a16:creationId xmlns:a16="http://schemas.microsoft.com/office/drawing/2014/main" id="{17D50FFE-A0B2-6CE7-42F5-DDD88F67B098}"/>
                  </a:ext>
                </a:extLst>
              </p:cNvPr>
              <p:cNvSpPr txBox="1">
                <a:spLocks noRot="1" noChangeAspect="1" noMove="1" noResize="1" noEditPoints="1" noAdjustHandles="1" noChangeArrowheads="1" noChangeShapeType="1" noTextEdit="1"/>
              </p:cNvSpPr>
              <p:nvPr/>
            </p:nvSpPr>
            <p:spPr>
              <a:xfrm>
                <a:off x="5890004" y="778993"/>
                <a:ext cx="2968995" cy="3616375"/>
              </a:xfrm>
              <a:prstGeom prst="rect">
                <a:avLst/>
              </a:prstGeom>
              <a:blipFill>
                <a:blip r:embed="rId4"/>
                <a:stretch>
                  <a:fillRect t="-169" b="-16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422BA4-6C98-971C-B67C-EAFD163B0E88}"/>
                  </a:ext>
                </a:extLst>
              </p:cNvPr>
              <p:cNvSpPr txBox="1"/>
              <p:nvPr/>
            </p:nvSpPr>
            <p:spPr>
              <a:xfrm>
                <a:off x="298167" y="771864"/>
                <a:ext cx="2936685" cy="3526158"/>
              </a:xfrm>
              <a:prstGeom prst="rect">
                <a:avLst/>
              </a:prstGeom>
              <a:noFill/>
            </p:spPr>
            <p:txBody>
              <a:bodyPr wrap="square" rtlCol="0">
                <a:spAutoFit/>
              </a:bodyPr>
              <a:lstStyle/>
              <a:p>
                <a:pPr marL="342900" indent="-342900">
                  <a:buAutoNum type="arabicPeriod"/>
                </a:pPr>
                <a:r>
                  <a:rPr lang="en-US" sz="1100">
                    <a:solidFill>
                      <a:schemeClr val="bg1"/>
                    </a:solidFill>
                    <a:highlight>
                      <a:srgbClr val="800000"/>
                    </a:highlight>
                  </a:rPr>
                  <a:t>Von Karman Equation</a:t>
                </a:r>
              </a:p>
              <a:p>
                <a:pPr lvl="1"/>
                <a:r>
                  <a:rPr lang="en-AU" sz="1100" b="1" dirty="0"/>
                  <a:t>Physical Origin:</a:t>
                </a:r>
                <a:r>
                  <a:rPr lang="en-AU" sz="1100" dirty="0"/>
                  <a:t> Thin plate(h&lt;&lt;R)</a:t>
                </a:r>
              </a:p>
              <a:p>
                <a:pPr marL="285750" lvl="2" indent="-285750">
                  <a:buFont typeface="Arial" panose="020B0604020202020204" pitchFamily="34" charset="0"/>
                  <a:buChar char="•"/>
                </a:pPr>
                <a:r>
                  <a:rPr lang="en-AU" sz="1100" dirty="0"/>
                  <a:t>Geometric Nonlinearity: stretching mid plane</a:t>
                </a:r>
              </a:p>
              <a:p>
                <a:pPr marL="285750" lvl="2" indent="-285750">
                  <a:buFont typeface="Arial" panose="020B0604020202020204" pitchFamily="34" charset="0"/>
                  <a:buChar char="•"/>
                </a:pPr>
                <a:r>
                  <a:rPr lang="en-AU" sz="1100" dirty="0"/>
                  <a:t>Strain Displacement:</a:t>
                </a:r>
                <a:endParaRPr lang="en-US" sz="1100" i="1" dirty="0">
                  <a:latin typeface="Cambria Math" panose="02040503050406030204" pitchFamily="18" charset="0"/>
                </a:endParaRPr>
              </a:p>
              <a:p>
                <a:pPr lvl="2"/>
                <a14:m>
                  <m:oMathPara xmlns:m="http://schemas.openxmlformats.org/officeDocument/2006/math">
                    <m:oMathParaPr>
                      <m:jc m:val="centerGroup"/>
                    </m:oMathParaPr>
                    <m:oMath xmlns:m="http://schemas.openxmlformats.org/officeDocument/2006/math">
                      <m:r>
                        <a:rPr lang="en-US" sz="1100" i="1" smtClean="0">
                          <a:latin typeface="Cambria Math" panose="02040503050406030204" pitchFamily="18" charset="0"/>
                        </a:rPr>
                        <m:t>𝜖</m:t>
                      </m:r>
                      <m:r>
                        <a:rPr lang="en-US" sz="1100" i="1">
                          <a:latin typeface="Cambria Math" panose="02040503050406030204" pitchFamily="18" charset="0"/>
                        </a:rPr>
                        <m:t> =</m:t>
                      </m:r>
                      <m:r>
                        <m:rPr>
                          <m:sty m:val="p"/>
                        </m:rPr>
                        <a:rPr lang="en-US" sz="1100" i="0" smtClean="0">
                          <a:latin typeface="Cambria Math" panose="02040503050406030204" pitchFamily="18" charset="0"/>
                        </a:rPr>
                        <m:t>∇</m:t>
                      </m:r>
                      <m:r>
                        <a:rPr lang="en-US" sz="1100" i="1">
                          <a:latin typeface="Cambria Math" panose="02040503050406030204" pitchFamily="18" charset="0"/>
                        </a:rPr>
                        <m:t> </m:t>
                      </m:r>
                      <m:r>
                        <a:rPr lang="en-US" sz="1100" i="1">
                          <a:latin typeface="Cambria Math" panose="02040503050406030204" pitchFamily="18" charset="0"/>
                        </a:rPr>
                        <m:t>𝑢</m:t>
                      </m:r>
                      <m:r>
                        <a:rPr lang="en-US" sz="1100" i="1">
                          <a:latin typeface="Cambria Math" panose="02040503050406030204" pitchFamily="18" charset="0"/>
                        </a:rPr>
                        <m:t> +</m:t>
                      </m:r>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2</m:t>
                          </m:r>
                        </m:den>
                      </m:f>
                      <m:r>
                        <a:rPr lang="en-US" sz="1100" b="0" i="1" smtClean="0">
                          <a:latin typeface="Cambria Math" panose="02040503050406030204" pitchFamily="18" charset="0"/>
                        </a:rPr>
                        <m:t> </m:t>
                      </m:r>
                      <m:sSup>
                        <m:sSupPr>
                          <m:ctrlPr>
                            <a:rPr lang="en-US" sz="1100" i="1">
                              <a:latin typeface="Cambria Math" panose="02040503050406030204" pitchFamily="18" charset="0"/>
                            </a:rPr>
                          </m:ctrlPr>
                        </m:sSupPr>
                        <m:e>
                          <m:d>
                            <m:dPr>
                              <m:ctrlPr>
                                <a:rPr lang="en-US" sz="1100" i="1">
                                  <a:latin typeface="Cambria Math" panose="02040503050406030204" pitchFamily="18" charset="0"/>
                                </a:rPr>
                              </m:ctrlPr>
                            </m:dPr>
                            <m:e>
                              <m:r>
                                <m:rPr>
                                  <m:sty m:val="p"/>
                                </m:rPr>
                                <a:rPr lang="en-US" sz="1100" i="0" smtClean="0">
                                  <a:latin typeface="Cambria Math" panose="02040503050406030204" pitchFamily="18" charset="0"/>
                                </a:rPr>
                                <m:t>∇</m:t>
                              </m:r>
                              <m:r>
                                <a:rPr lang="en-US" sz="1100" i="1">
                                  <a:latin typeface="Cambria Math" panose="02040503050406030204" pitchFamily="18" charset="0"/>
                                </a:rPr>
                                <m:t> </m:t>
                              </m:r>
                              <m:r>
                                <a:rPr lang="en-US" sz="1100" i="1">
                                  <a:latin typeface="Cambria Math" panose="02040503050406030204" pitchFamily="18" charset="0"/>
                                </a:rPr>
                                <m:t>𝑤</m:t>
                              </m:r>
                            </m:e>
                          </m:d>
                        </m:e>
                        <m:sup>
                          <m:r>
                            <a:rPr lang="en-US" sz="1100" i="1">
                              <a:latin typeface="Cambria Math" panose="02040503050406030204" pitchFamily="18" charset="0"/>
                            </a:rPr>
                            <m:t>2</m:t>
                          </m:r>
                        </m:sup>
                      </m:sSup>
                    </m:oMath>
                  </m:oMathPara>
                </a14:m>
                <a:endParaRPr lang="en-AU" sz="1100" dirty="0"/>
              </a:p>
              <a:p>
                <a:pPr marL="285750" lvl="2" indent="-285750">
                  <a:buFont typeface="Arial" panose="020B0604020202020204" pitchFamily="34" charset="0"/>
                  <a:buChar char="•"/>
                </a:pPr>
                <a:r>
                  <a:rPr lang="en-AU" sz="1100" dirty="0"/>
                  <a:t>Von Karman PDE: </a:t>
                </a:r>
              </a:p>
              <a:p>
                <a:pPr lvl="2"/>
                <a14:m>
                  <m:oMathPara xmlns:m="http://schemas.openxmlformats.org/officeDocument/2006/math">
                    <m:oMathParaPr>
                      <m:jc m:val="centerGroup"/>
                    </m:oMathParaPr>
                    <m:oMath xmlns:m="http://schemas.openxmlformats.org/officeDocument/2006/math">
                      <m:r>
                        <a:rPr lang="en-AU" sz="1100" i="1" dirty="0" smtClean="0">
                          <a:latin typeface="Cambria Math" panose="02040503050406030204" pitchFamily="18" charset="0"/>
                        </a:rPr>
                        <m:t>𝐷</m:t>
                      </m:r>
                      <m:sSup>
                        <m:sSupPr>
                          <m:ctrlPr>
                            <a:rPr lang="en-AU" sz="1100" i="1" dirty="0" smtClean="0">
                              <a:latin typeface="Cambria Math" panose="02040503050406030204" pitchFamily="18" charset="0"/>
                            </a:rPr>
                          </m:ctrlPr>
                        </m:sSupPr>
                        <m:e>
                          <m:r>
                            <m:rPr>
                              <m:sty m:val="p"/>
                            </m:rPr>
                            <a:rPr lang="en-AU" sz="1100" i="0" dirty="0" smtClean="0">
                              <a:latin typeface="Cambria Math" panose="02040503050406030204" pitchFamily="18" charset="0"/>
                            </a:rPr>
                            <m:t>∇</m:t>
                          </m:r>
                        </m:e>
                        <m:sup>
                          <m:r>
                            <a:rPr lang="en-AU" sz="1100" i="1" dirty="0" smtClean="0">
                              <a:latin typeface="Cambria Math" panose="02040503050406030204" pitchFamily="18" charset="0"/>
                            </a:rPr>
                            <m:t>4</m:t>
                          </m:r>
                        </m:sup>
                      </m:sSup>
                      <m:r>
                        <a:rPr lang="en-AU" sz="1100" i="1" dirty="0" smtClean="0">
                          <a:latin typeface="Cambria Math" panose="02040503050406030204" pitchFamily="18" charset="0"/>
                        </a:rPr>
                        <m:t> </m:t>
                      </m:r>
                      <m:r>
                        <a:rPr lang="en-AU" sz="1100" i="1" dirty="0" smtClean="0">
                          <a:latin typeface="Cambria Math" panose="02040503050406030204" pitchFamily="18" charset="0"/>
                        </a:rPr>
                        <m:t>𝑤</m:t>
                      </m:r>
                      <m:r>
                        <a:rPr lang="en-AU" sz="1100" i="1" dirty="0" smtClean="0">
                          <a:latin typeface="Cambria Math" panose="02040503050406030204" pitchFamily="18" charset="0"/>
                        </a:rPr>
                        <m:t> +</m:t>
                      </m:r>
                      <m:r>
                        <a:rPr lang="en-AU" sz="1100" i="1" dirty="0" smtClean="0">
                          <a:latin typeface="Cambria Math" panose="02040503050406030204" pitchFamily="18" charset="0"/>
                        </a:rPr>
                        <m:t>𝜌</m:t>
                      </m:r>
                      <m:r>
                        <a:rPr lang="en-AU" sz="1100" i="1" dirty="0" smtClean="0">
                          <a:latin typeface="Cambria Math" panose="02040503050406030204" pitchFamily="18" charset="0"/>
                        </a:rPr>
                        <m:t> </m:t>
                      </m:r>
                      <m:r>
                        <a:rPr lang="en-AU" sz="1100" i="1" dirty="0" smtClean="0">
                          <a:latin typeface="Cambria Math" panose="02040503050406030204" pitchFamily="18" charset="0"/>
                        </a:rPr>
                        <m:t>h</m:t>
                      </m:r>
                      <m:r>
                        <a:rPr lang="en-AU" sz="1100" i="1" dirty="0" smtClean="0">
                          <a:latin typeface="Cambria Math" panose="02040503050406030204" pitchFamily="18" charset="0"/>
                        </a:rPr>
                        <m:t> </m:t>
                      </m:r>
                      <m:acc>
                        <m:accPr>
                          <m:chr m:val="̈"/>
                          <m:ctrlPr>
                            <a:rPr lang="en-AU" sz="1100" i="1" dirty="0" smtClean="0">
                              <a:latin typeface="Cambria Math" panose="02040503050406030204" pitchFamily="18" charset="0"/>
                            </a:rPr>
                          </m:ctrlPr>
                        </m:accPr>
                        <m:e>
                          <m:r>
                            <a:rPr lang="en-US" sz="1100" b="0" i="1" dirty="0" smtClean="0">
                              <a:latin typeface="Cambria Math" panose="02040503050406030204" pitchFamily="18" charset="0"/>
                            </a:rPr>
                            <m:t>𝑤</m:t>
                          </m:r>
                        </m:e>
                      </m:acc>
                      <m:r>
                        <a:rPr lang="en-AU" sz="1100" i="1" dirty="0" smtClean="0">
                          <a:latin typeface="Cambria Math" panose="02040503050406030204" pitchFamily="18" charset="0"/>
                        </a:rPr>
                        <m:t> =</m:t>
                      </m:r>
                      <m:limUpp>
                        <m:limUppPr>
                          <m:ctrlPr>
                            <a:rPr lang="en-AU" sz="1100" b="0" i="1" dirty="0" smtClean="0">
                              <a:latin typeface="Cambria Math" panose="02040503050406030204" pitchFamily="18" charset="0"/>
                            </a:rPr>
                          </m:ctrlPr>
                        </m:limUppPr>
                        <m:e>
                          <m:groupChr>
                            <m:groupChrPr>
                              <m:chr m:val="⏟"/>
                              <m:ctrlPr>
                                <a:rPr lang="en-AU" sz="1100" b="0" i="1" dirty="0" smtClean="0">
                                  <a:latin typeface="Cambria Math" panose="02040503050406030204" pitchFamily="18" charset="0"/>
                                </a:rPr>
                              </m:ctrlPr>
                            </m:groupChrPr>
                            <m:e>
                              <m:f>
                                <m:fPr>
                                  <m:ctrlPr>
                                    <a:rPr lang="en-US" sz="1100" b="0" i="1" dirty="0" smtClean="0">
                                      <a:latin typeface="Cambria Math" panose="02040503050406030204" pitchFamily="18" charset="0"/>
                                    </a:rPr>
                                  </m:ctrlPr>
                                </m:fPr>
                                <m:num>
                                  <m:sSup>
                                    <m:sSupPr>
                                      <m:ctrlPr>
                                        <a:rPr lang="en-AU" sz="1100" i="1" dirty="0">
                                          <a:latin typeface="Cambria Math" panose="02040503050406030204" pitchFamily="18" charset="0"/>
                                        </a:rPr>
                                      </m:ctrlPr>
                                    </m:sSupPr>
                                    <m:e>
                                      <m:r>
                                        <a:rPr lang="en-AU" sz="1100" i="1" dirty="0">
                                          <a:latin typeface="Cambria Math" panose="02040503050406030204" pitchFamily="18" charset="0"/>
                                        </a:rPr>
                                        <m:t>𝜕</m:t>
                                      </m:r>
                                    </m:e>
                                    <m:sup>
                                      <m:r>
                                        <a:rPr lang="en-AU" sz="1100" i="1" dirty="0">
                                          <a:latin typeface="Cambria Math" panose="02040503050406030204" pitchFamily="18" charset="0"/>
                                        </a:rPr>
                                        <m:t>2</m:t>
                                      </m:r>
                                    </m:sup>
                                  </m:sSup>
                                  <m:r>
                                    <a:rPr lang="en-AU" sz="1100" i="1" dirty="0" smtClean="0">
                                      <a:latin typeface="Cambria Math" panose="02040503050406030204" pitchFamily="18" charset="0"/>
                                    </a:rPr>
                                    <m:t>𝐹</m:t>
                                  </m:r>
                                </m:num>
                                <m:den>
                                  <m:r>
                                    <a:rPr lang="en-AU" sz="1100" i="1" dirty="0">
                                      <a:latin typeface="Cambria Math" panose="02040503050406030204" pitchFamily="18" charset="0"/>
                                    </a:rPr>
                                    <m:t>𝜕</m:t>
                                  </m:r>
                                  <m:sSup>
                                    <m:sSupPr>
                                      <m:ctrlPr>
                                        <a:rPr lang="en-AU" sz="1100" i="1" dirty="0">
                                          <a:latin typeface="Cambria Math" panose="02040503050406030204" pitchFamily="18" charset="0"/>
                                        </a:rPr>
                                      </m:ctrlPr>
                                    </m:sSupPr>
                                    <m:e>
                                      <m:r>
                                        <a:rPr lang="en-AU" sz="1100" i="1" dirty="0">
                                          <a:latin typeface="Cambria Math" panose="02040503050406030204" pitchFamily="18" charset="0"/>
                                        </a:rPr>
                                        <m:t>𝑦</m:t>
                                      </m:r>
                                    </m:e>
                                    <m:sup>
                                      <m:r>
                                        <a:rPr lang="en-AU" sz="1100" i="1" dirty="0">
                                          <a:latin typeface="Cambria Math" panose="02040503050406030204" pitchFamily="18" charset="0"/>
                                        </a:rPr>
                                        <m:t>2</m:t>
                                      </m:r>
                                    </m:sup>
                                  </m:sSup>
                                </m:den>
                              </m:f>
                              <m:f>
                                <m:fPr>
                                  <m:ctrlPr>
                                    <a:rPr lang="en-US" sz="1100" b="0" i="1" dirty="0" smtClean="0">
                                      <a:latin typeface="Cambria Math" panose="02040503050406030204" pitchFamily="18" charset="0"/>
                                    </a:rPr>
                                  </m:ctrlPr>
                                </m:fPr>
                                <m:num>
                                  <m:sSup>
                                    <m:sSupPr>
                                      <m:ctrlPr>
                                        <a:rPr lang="en-US" sz="1100" b="0" i="1" dirty="0" smtClean="0">
                                          <a:latin typeface="Cambria Math" panose="02040503050406030204" pitchFamily="18" charset="0"/>
                                        </a:rPr>
                                      </m:ctrlPr>
                                    </m:sSupPr>
                                    <m:e>
                                      <m:r>
                                        <a:rPr lang="en-AU" sz="1100" i="1" dirty="0" smtClean="0">
                                          <a:latin typeface="Cambria Math" panose="02040503050406030204" pitchFamily="18" charset="0"/>
                                        </a:rPr>
                                        <m:t>𝜕</m:t>
                                      </m:r>
                                    </m:e>
                                    <m:sup>
                                      <m:r>
                                        <a:rPr lang="en-US" sz="1100" b="0" i="1" dirty="0" smtClean="0">
                                          <a:latin typeface="Cambria Math" panose="02040503050406030204" pitchFamily="18" charset="0"/>
                                        </a:rPr>
                                        <m:t>2</m:t>
                                      </m:r>
                                    </m:sup>
                                  </m:sSup>
                                  <m:r>
                                    <a:rPr lang="en-US" sz="1100" b="0" i="1" dirty="0" smtClean="0">
                                      <a:latin typeface="Cambria Math" panose="02040503050406030204" pitchFamily="18" charset="0"/>
                                    </a:rPr>
                                    <m:t>𝑤</m:t>
                                  </m:r>
                                </m:num>
                                <m:den>
                                  <m:r>
                                    <a:rPr lang="en-US" sz="1100" b="0" i="1" dirty="0" smtClean="0">
                                      <a:latin typeface="Cambria Math" panose="02040503050406030204" pitchFamily="18" charset="0"/>
                                    </a:rPr>
                                    <m:t>𝜕</m:t>
                                  </m:r>
                                  <m:sSup>
                                    <m:sSupPr>
                                      <m:ctrlPr>
                                        <a:rPr lang="en-US" sz="1100" b="0" i="1" dirty="0" smtClean="0">
                                          <a:latin typeface="Cambria Math" panose="02040503050406030204" pitchFamily="18" charset="0"/>
                                        </a:rPr>
                                      </m:ctrlPr>
                                    </m:sSupPr>
                                    <m:e>
                                      <m:r>
                                        <a:rPr lang="en-US" sz="1100" b="0" i="1" dirty="0" smtClean="0">
                                          <a:latin typeface="Cambria Math" panose="02040503050406030204" pitchFamily="18" charset="0"/>
                                        </a:rPr>
                                        <m:t>𝑥</m:t>
                                      </m:r>
                                    </m:e>
                                    <m:sup>
                                      <m:r>
                                        <a:rPr lang="en-US" sz="1100" b="0" i="1" dirty="0" smtClean="0">
                                          <a:latin typeface="Cambria Math" panose="02040503050406030204" pitchFamily="18" charset="0"/>
                                        </a:rPr>
                                        <m:t>2</m:t>
                                      </m:r>
                                    </m:sup>
                                  </m:sSup>
                                </m:den>
                              </m:f>
                              <m:r>
                                <a:rPr lang="en-US" sz="1100" b="0" i="1" dirty="0" smtClean="0">
                                  <a:latin typeface="Cambria Math" panose="02040503050406030204" pitchFamily="18" charset="0"/>
                                </a:rPr>
                                <m:t>+…</m:t>
                              </m:r>
                            </m:e>
                          </m:groupChr>
                        </m:e>
                        <m:lim>
                          <m:r>
                            <a:rPr lang="en-AU" sz="1100" i="1" dirty="0" smtClean="0">
                              <a:latin typeface="Cambria Math" panose="02040503050406030204" pitchFamily="18" charset="0"/>
                            </a:rPr>
                            <m:t>2</m:t>
                          </m:r>
                        </m:lim>
                      </m:limUpp>
                    </m:oMath>
                  </m:oMathPara>
                </a14:m>
                <a:endParaRPr lang="en-AU" sz="1100" dirty="0"/>
              </a:p>
              <a:p>
                <a:pPr lvl="2"/>
                <a:r>
                  <a:rPr lang="en-AU" sz="1100" i="0" dirty="0">
                    <a:latin typeface="+mj-lt"/>
                  </a:rPr>
                  <a:t>	</a:t>
                </a:r>
                <a:r>
                  <a:rPr lang="en-AU" sz="800" i="0" dirty="0">
                    <a:latin typeface="+mj-lt"/>
                  </a:rPr>
                  <a:t>Cubic Nonlinearity (Stretching</a:t>
                </a:r>
                <a14:m>
                  <m:oMath xmlns:m="http://schemas.openxmlformats.org/officeDocument/2006/math">
                    <m:r>
                      <a:rPr lang="en-AU" sz="800" i="1" dirty="0">
                        <a:latin typeface="Cambria Math" panose="02040503050406030204" pitchFamily="18" charset="0"/>
                      </a:rPr>
                      <m:t>)</m:t>
                    </m:r>
                  </m:oMath>
                </a14:m>
                <a:endParaRPr lang="en-AU" sz="800" dirty="0"/>
              </a:p>
              <a:p>
                <a:pPr lvl="2"/>
                <a:endParaRPr lang="en-AU" sz="1100" dirty="0"/>
              </a:p>
              <a:p>
                <a:pPr marL="228600" lvl="2" indent="-228600">
                  <a:buFont typeface="+mj-lt"/>
                  <a:buAutoNum type="arabicPeriod" startAt="2"/>
                </a:pPr>
                <a:r>
                  <a:rPr lang="en-AU" sz="1100">
                    <a:solidFill>
                      <a:schemeClr val="bg1"/>
                    </a:solidFill>
                    <a:highlight>
                      <a:srgbClr val="800000"/>
                    </a:highlight>
                  </a:rPr>
                  <a:t>Projection to ODE</a:t>
                </a:r>
              </a:p>
              <a:p>
                <a:pPr lvl="2">
                  <a:spcBef>
                    <a:spcPts val="600"/>
                  </a:spcBef>
                </a:pPr>
                <a:r>
                  <a:rPr lang="en-AU" sz="1100" b="1" dirty="0">
                    <a:solidFill>
                      <a:schemeClr val="tx1"/>
                    </a:solidFill>
                  </a:rPr>
                  <a:t>Goal : </a:t>
                </a:r>
                <a:r>
                  <a:rPr lang="en-AU" sz="1100" dirty="0">
                    <a:solidFill>
                      <a:schemeClr val="tx1"/>
                    </a:solidFill>
                  </a:rPr>
                  <a:t>Convert PDE (</a:t>
                </a:r>
                <a:r>
                  <a:rPr lang="en-AU" sz="1100" dirty="0" err="1">
                    <a:solidFill>
                      <a:schemeClr val="tx1"/>
                    </a:solidFill>
                  </a:rPr>
                  <a:t>x,t</a:t>
                </a:r>
                <a:r>
                  <a:rPr lang="en-AU" sz="1100" dirty="0">
                    <a:solidFill>
                      <a:schemeClr val="tx1"/>
                    </a:solidFill>
                  </a:rPr>
                  <a:t>) to ODE (t) by ansatz and </a:t>
                </a:r>
                <a:r>
                  <a:rPr lang="en-AU" sz="1100" dirty="0" err="1">
                    <a:solidFill>
                      <a:schemeClr val="tx1"/>
                    </a:solidFill>
                  </a:rPr>
                  <a:t>Galerkin</a:t>
                </a:r>
                <a:r>
                  <a:rPr lang="en-AU" sz="1100" dirty="0">
                    <a:solidFill>
                      <a:schemeClr val="tx1"/>
                    </a:solidFill>
                  </a:rPr>
                  <a:t> method</a:t>
                </a:r>
              </a:p>
              <a:p>
                <a:pPr marL="171450" lvl="2" indent="-171450">
                  <a:spcBef>
                    <a:spcPts val="600"/>
                  </a:spcBef>
                  <a:buFont typeface="Arial" panose="020B0604020202020204" pitchFamily="34" charset="0"/>
                  <a:buChar char="•"/>
                </a:pPr>
                <a:r>
                  <a:rPr lang="en-AU" sz="1100" dirty="0">
                    <a:solidFill>
                      <a:schemeClr val="tx1"/>
                    </a:solidFill>
                  </a:rPr>
                  <a:t>Result </a:t>
                </a:r>
                <a14:m>
                  <m:oMath xmlns:m="http://schemas.openxmlformats.org/officeDocument/2006/math">
                    <m:r>
                      <a:rPr lang="en-US" sz="1100" b="0" i="1" smtClean="0">
                        <a:solidFill>
                          <a:schemeClr val="tx1"/>
                        </a:solidFill>
                        <a:latin typeface="Cambria Math" panose="02040503050406030204" pitchFamily="18" charset="0"/>
                      </a:rPr>
                      <m:t>→</m:t>
                    </m:r>
                  </m:oMath>
                </a14:m>
                <a:r>
                  <a:rPr lang="en-AU" sz="1100" dirty="0">
                    <a:solidFill>
                      <a:schemeClr val="tx1"/>
                    </a:solidFill>
                  </a:rPr>
                  <a:t> Duffing equation:</a:t>
                </a:r>
                <a:br>
                  <a:rPr lang="en-AU" sz="1100" dirty="0">
                    <a:solidFill>
                      <a:schemeClr val="tx1"/>
                    </a:solidFill>
                  </a:rPr>
                </a:br>
                <a14:m>
                  <m:oMath xmlns:m="http://schemas.openxmlformats.org/officeDocument/2006/math">
                    <m:acc>
                      <m:accPr>
                        <m:chr m:val="̈"/>
                        <m:ctrlPr>
                          <a:rPr lang="en-AU" sz="1100" i="1" dirty="0" smtClean="0">
                            <a:solidFill>
                              <a:schemeClr val="tx1"/>
                            </a:solidFill>
                            <a:latin typeface="Cambria Math" panose="02040503050406030204" pitchFamily="18" charset="0"/>
                          </a:rPr>
                        </m:ctrlPr>
                      </m:accPr>
                      <m:e>
                        <m:r>
                          <a:rPr lang="en-US" sz="1100" b="0" i="1" dirty="0" smtClean="0">
                            <a:solidFill>
                              <a:schemeClr val="tx1"/>
                            </a:solidFill>
                            <a:latin typeface="Cambria Math" panose="02040503050406030204" pitchFamily="18" charset="0"/>
                          </a:rPr>
                          <m:t>𝑞</m:t>
                        </m:r>
                      </m:e>
                    </m:acc>
                    <m:r>
                      <a:rPr lang="en-AU" sz="1100" i="1">
                        <a:solidFill>
                          <a:schemeClr val="tx1"/>
                        </a:solidFill>
                        <a:latin typeface="Cambria Math" panose="02040503050406030204" pitchFamily="18" charset="0"/>
                      </a:rPr>
                      <m:t>+</m:t>
                    </m:r>
                    <m:sSubSup>
                      <m:sSubSupPr>
                        <m:ctrlPr>
                          <a:rPr lang="en-AU" sz="1100" i="1" smtClean="0">
                            <a:solidFill>
                              <a:schemeClr val="tx1"/>
                            </a:solidFill>
                            <a:latin typeface="Cambria Math" panose="02040503050406030204" pitchFamily="18" charset="0"/>
                          </a:rPr>
                        </m:ctrlPr>
                      </m:sSubSupPr>
                      <m:e>
                        <m:r>
                          <a:rPr lang="en-AU" sz="1100" i="1" smtClean="0">
                            <a:solidFill>
                              <a:schemeClr val="tx1"/>
                            </a:solidFill>
                            <a:latin typeface="Cambria Math" panose="02040503050406030204" pitchFamily="18" charset="0"/>
                          </a:rPr>
                          <m:t>𝜔</m:t>
                        </m:r>
                      </m:e>
                      <m:sub>
                        <m:r>
                          <a:rPr lang="en-AU" sz="1100" i="1">
                            <a:solidFill>
                              <a:schemeClr val="tx1"/>
                            </a:solidFill>
                            <a:latin typeface="Cambria Math" panose="02040503050406030204" pitchFamily="18" charset="0"/>
                          </a:rPr>
                          <m:t>0</m:t>
                        </m:r>
                      </m:sub>
                      <m:sup>
                        <m:r>
                          <a:rPr lang="en-AU" sz="1100" i="1">
                            <a:solidFill>
                              <a:schemeClr val="tx1"/>
                            </a:solidFill>
                            <a:latin typeface="Cambria Math" panose="02040503050406030204" pitchFamily="18" charset="0"/>
                          </a:rPr>
                          <m:t>2</m:t>
                        </m:r>
                      </m:sup>
                    </m:sSubSup>
                    <m:r>
                      <a:rPr lang="en-AU" sz="1100" i="1">
                        <a:solidFill>
                          <a:schemeClr val="tx1"/>
                        </a:solidFill>
                        <a:latin typeface="Cambria Math" panose="02040503050406030204" pitchFamily="18" charset="0"/>
                      </a:rPr>
                      <m:t>𝑞</m:t>
                    </m:r>
                    <m:r>
                      <a:rPr lang="en-AU" sz="1100" i="1">
                        <a:solidFill>
                          <a:schemeClr val="tx1"/>
                        </a:solidFill>
                        <a:latin typeface="Cambria Math" panose="02040503050406030204" pitchFamily="18" charset="0"/>
                      </a:rPr>
                      <m:t> +</m:t>
                    </m:r>
                    <m:r>
                      <m:rPr>
                        <m:sty m:val="p"/>
                      </m:rPr>
                      <a:rPr lang="en-AU" sz="1100" i="0" smtClean="0">
                        <a:solidFill>
                          <a:schemeClr val="tx1"/>
                        </a:solidFill>
                        <a:latin typeface="Cambria Math" panose="02040503050406030204" pitchFamily="18" charset="0"/>
                      </a:rPr>
                      <m:t>Γ</m:t>
                    </m:r>
                    <m:sSup>
                      <m:sSupPr>
                        <m:ctrlPr>
                          <a:rPr lang="en-AU" sz="1100" i="1" smtClean="0">
                            <a:solidFill>
                              <a:schemeClr val="tx1"/>
                            </a:solidFill>
                            <a:latin typeface="Cambria Math" panose="02040503050406030204" pitchFamily="18" charset="0"/>
                          </a:rPr>
                        </m:ctrlPr>
                      </m:sSupPr>
                      <m:e>
                        <m:r>
                          <a:rPr lang="en-AU" sz="1100" i="1">
                            <a:solidFill>
                              <a:schemeClr val="tx1"/>
                            </a:solidFill>
                            <a:latin typeface="Cambria Math" panose="02040503050406030204" pitchFamily="18" charset="0"/>
                          </a:rPr>
                          <m:t>𝑞</m:t>
                        </m:r>
                      </m:e>
                      <m:sup>
                        <m:r>
                          <a:rPr lang="en-AU" sz="1100" i="1">
                            <a:solidFill>
                              <a:schemeClr val="tx1"/>
                            </a:solidFill>
                            <a:latin typeface="Cambria Math" panose="02040503050406030204" pitchFamily="18" charset="0"/>
                          </a:rPr>
                          <m:t>3</m:t>
                        </m:r>
                      </m:sup>
                    </m:sSup>
                    <m:r>
                      <a:rPr lang="en-AU" sz="1100" i="1">
                        <a:solidFill>
                          <a:schemeClr val="tx1"/>
                        </a:solidFill>
                        <a:latin typeface="Cambria Math" panose="02040503050406030204" pitchFamily="18" charset="0"/>
                      </a:rPr>
                      <m:t>=</m:t>
                    </m:r>
                    <m:r>
                      <a:rPr lang="en-AU" sz="1100" i="1">
                        <a:solidFill>
                          <a:schemeClr val="tx1"/>
                        </a:solidFill>
                        <a:latin typeface="Cambria Math" panose="02040503050406030204" pitchFamily="18" charset="0"/>
                      </a:rPr>
                      <m:t>0</m:t>
                    </m:r>
                  </m:oMath>
                </a14:m>
                <a:br>
                  <a:rPr lang="en-US" sz="1100" dirty="0">
                    <a:solidFill>
                      <a:schemeClr val="tx1"/>
                    </a:solidFill>
                  </a:rPr>
                </a:br>
                <a:endParaRPr lang="en-AU" sz="1100" dirty="0">
                  <a:solidFill>
                    <a:schemeClr val="tx1"/>
                  </a:solidFill>
                </a:endParaRPr>
              </a:p>
              <a:p>
                <a:pPr marL="171450" lvl="2" indent="-171450">
                  <a:spcBef>
                    <a:spcPts val="600"/>
                  </a:spcBef>
                  <a:buFont typeface="Arial" panose="020B0604020202020204" pitchFamily="34" charset="0"/>
                  <a:buChar char="•"/>
                </a:pPr>
                <a:r>
                  <a:rPr lang="en-AU" sz="1100" dirty="0">
                    <a:solidFill>
                      <a:schemeClr val="tx1"/>
                    </a:solidFill>
                  </a:rPr>
                  <a:t> Here is </a:t>
                </a:r>
                <a14:m>
                  <m:oMath xmlns:m="http://schemas.openxmlformats.org/officeDocument/2006/math">
                    <m:r>
                      <m:rPr>
                        <m:sty m:val="p"/>
                      </m:rPr>
                      <a:rPr lang="en-AU" sz="1100">
                        <a:solidFill>
                          <a:schemeClr val="tx1"/>
                        </a:solidFill>
                        <a:latin typeface="Cambria Math" panose="02040503050406030204" pitchFamily="18" charset="0"/>
                      </a:rPr>
                      <m:t>Γ</m:t>
                    </m:r>
                    <m:r>
                      <a:rPr lang="en-US" sz="1100" b="0" i="0" smtClean="0">
                        <a:solidFill>
                          <a:schemeClr val="tx1"/>
                        </a:solidFill>
                        <a:latin typeface="Cambria Math" panose="02040503050406030204" pitchFamily="18" charset="0"/>
                      </a:rPr>
                      <m:t>&gt;</m:t>
                    </m:r>
                    <m:r>
                      <a:rPr lang="en-US" sz="1100" b="0" i="0" smtClean="0">
                        <a:solidFill>
                          <a:schemeClr val="tx1"/>
                        </a:solidFill>
                        <a:latin typeface="Cambria Math" panose="02040503050406030204" pitchFamily="18" charset="0"/>
                      </a:rPr>
                      <m:t>0</m:t>
                    </m:r>
                  </m:oMath>
                </a14:m>
                <a:r>
                  <a:rPr lang="en-AU" sz="1100" dirty="0">
                    <a:solidFill>
                      <a:schemeClr val="tx1"/>
                    </a:solidFill>
                  </a:rPr>
                  <a:t> it’s a Hardening </a:t>
                </a:r>
                <a:r>
                  <a:rPr lang="en-AU" sz="1100">
                    <a:solidFill>
                      <a:schemeClr val="tx1"/>
                    </a:solidFill>
                  </a:rPr>
                  <a:t>behaviour.</a:t>
                </a:r>
                <a:endParaRPr lang="en-AU" sz="1100" dirty="0">
                  <a:solidFill>
                    <a:schemeClr val="tx1"/>
                  </a:solidFill>
                </a:endParaRPr>
              </a:p>
            </p:txBody>
          </p:sp>
        </mc:Choice>
        <mc:Fallback xmlns="">
          <p:sp>
            <p:nvSpPr>
              <p:cNvPr id="10" name="TextBox 9">
                <a:extLst>
                  <a:ext uri="{FF2B5EF4-FFF2-40B4-BE49-F238E27FC236}">
                    <a16:creationId xmlns:a16="http://schemas.microsoft.com/office/drawing/2014/main" id="{30422BA4-6C98-971C-B67C-EAFD163B0E88}"/>
                  </a:ext>
                </a:extLst>
              </p:cNvPr>
              <p:cNvSpPr txBox="1">
                <a:spLocks noRot="1" noChangeAspect="1" noMove="1" noResize="1" noEditPoints="1" noAdjustHandles="1" noChangeArrowheads="1" noChangeShapeType="1" noTextEdit="1"/>
              </p:cNvSpPr>
              <p:nvPr/>
            </p:nvSpPr>
            <p:spPr>
              <a:xfrm>
                <a:off x="298167" y="771864"/>
                <a:ext cx="2936685" cy="3526158"/>
              </a:xfrm>
              <a:prstGeom prst="rect">
                <a:avLst/>
              </a:prstGeom>
              <a:blipFill>
                <a:blip r:embed="rId5"/>
                <a:stretch>
                  <a:fillRect t="-173" b="-346"/>
                </a:stretch>
              </a:blipFill>
            </p:spPr>
            <p:txBody>
              <a:bodyPr/>
              <a:lstStyle/>
              <a:p>
                <a:r>
                  <a:rPr lang="en-AU">
                    <a:noFill/>
                  </a:rPr>
                  <a:t> </a:t>
                </a:r>
              </a:p>
            </p:txBody>
          </p:sp>
        </mc:Fallback>
      </mc:AlternateContent>
      <p:cxnSp>
        <p:nvCxnSpPr>
          <p:cNvPr id="11" name="Straight Connector 10">
            <a:extLst>
              <a:ext uri="{FF2B5EF4-FFF2-40B4-BE49-F238E27FC236}">
                <a16:creationId xmlns:a16="http://schemas.microsoft.com/office/drawing/2014/main" id="{B0394CFD-BCC2-52F6-6985-0FC8DCB33865}"/>
              </a:ext>
            </a:extLst>
          </p:cNvPr>
          <p:cNvCxnSpPr>
            <a:cxnSpLocks/>
          </p:cNvCxnSpPr>
          <p:nvPr/>
        </p:nvCxnSpPr>
        <p:spPr>
          <a:xfrm flipH="1">
            <a:off x="5921582" y="778993"/>
            <a:ext cx="12005" cy="3799356"/>
          </a:xfrm>
          <a:prstGeom prst="line">
            <a:avLst/>
          </a:prstGeom>
        </p:spPr>
        <p:style>
          <a:lnRef idx="1">
            <a:schemeClr val="dk1"/>
          </a:lnRef>
          <a:fillRef idx="0">
            <a:schemeClr val="dk1"/>
          </a:fillRef>
          <a:effectRef idx="0">
            <a:schemeClr val="dk1"/>
          </a:effectRef>
          <a:fontRef idx="minor">
            <a:schemeClr val="tx1"/>
          </a:fontRef>
        </p:style>
      </p:cxnSp>
      <p:grpSp>
        <p:nvGrpSpPr>
          <p:cNvPr id="15" name="Group 14">
            <a:extLst>
              <a:ext uri="{FF2B5EF4-FFF2-40B4-BE49-F238E27FC236}">
                <a16:creationId xmlns:a16="http://schemas.microsoft.com/office/drawing/2014/main" id="{6656289A-6242-11CA-6BD2-B0C25427C03E}"/>
              </a:ext>
            </a:extLst>
          </p:cNvPr>
          <p:cNvGrpSpPr/>
          <p:nvPr/>
        </p:nvGrpSpPr>
        <p:grpSpPr>
          <a:xfrm>
            <a:off x="106313" y="4795750"/>
            <a:ext cx="8931378" cy="267000"/>
            <a:chOff x="106313" y="4795750"/>
            <a:chExt cx="8931378" cy="267000"/>
          </a:xfrm>
        </p:grpSpPr>
        <p:sp>
          <p:nvSpPr>
            <p:cNvPr id="16" name="Google Shape;106;p15">
              <a:extLst>
                <a:ext uri="{FF2B5EF4-FFF2-40B4-BE49-F238E27FC236}">
                  <a16:creationId xmlns:a16="http://schemas.microsoft.com/office/drawing/2014/main" id="{D5A4053C-0109-4EBB-EFD0-E6745F10CAFD}"/>
                </a:ext>
              </a:extLst>
            </p:cNvPr>
            <p:cNvSpPr/>
            <p:nvPr/>
          </p:nvSpPr>
          <p:spPr>
            <a:xfrm>
              <a:off x="106313"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 sz="900" b="1">
                  <a:solidFill>
                    <a:schemeClr val="dk1"/>
                  </a:solidFill>
                  <a:latin typeface="Helvetica Neue"/>
                  <a:sym typeface="Helvetica Neue"/>
                </a:rPr>
                <a:t>Introduction</a:t>
              </a:r>
              <a:endParaRPr sz="900" b="1">
                <a:solidFill>
                  <a:schemeClr val="dk1"/>
                </a:solidFill>
                <a:latin typeface="Helvetica Neue"/>
                <a:sym typeface="Helvetica Neue"/>
              </a:endParaRPr>
            </a:p>
          </p:txBody>
        </p:sp>
        <p:sp>
          <p:nvSpPr>
            <p:cNvPr id="17" name="Google Shape;107;p15">
              <a:extLst>
                <a:ext uri="{FF2B5EF4-FFF2-40B4-BE49-F238E27FC236}">
                  <a16:creationId xmlns:a16="http://schemas.microsoft.com/office/drawing/2014/main" id="{043354EB-8785-63FA-BB1D-AAB5965F5EE2}"/>
                </a:ext>
              </a:extLst>
            </p:cNvPr>
            <p:cNvSpPr/>
            <p:nvPr/>
          </p:nvSpPr>
          <p:spPr>
            <a:xfrm>
              <a:off x="3111004"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ID" sz="900" b="1">
                  <a:solidFill>
                    <a:schemeClr val="dk1"/>
                  </a:solidFill>
                  <a:latin typeface="Helvetica Neue"/>
                  <a:sym typeface="Helvetica Neue"/>
                </a:rPr>
                <a:t>Summary of Experiments</a:t>
              </a:r>
            </a:p>
          </p:txBody>
        </p:sp>
        <p:sp>
          <p:nvSpPr>
            <p:cNvPr id="18" name="Google Shape;108;p15">
              <a:extLst>
                <a:ext uri="{FF2B5EF4-FFF2-40B4-BE49-F238E27FC236}">
                  <a16:creationId xmlns:a16="http://schemas.microsoft.com/office/drawing/2014/main" id="{CF6E5D34-8F69-3BF6-9BB6-F7ACEFAF4448}"/>
                </a:ext>
              </a:extLst>
            </p:cNvPr>
            <p:cNvSpPr/>
            <p:nvPr/>
          </p:nvSpPr>
          <p:spPr>
            <a:xfrm>
              <a:off x="6115691" y="4795750"/>
              <a:ext cx="2922000" cy="267000"/>
            </a:xfrm>
            <a:prstGeom prst="roundRect">
              <a:avLst>
                <a:gd name="adj" fmla="val 16667"/>
              </a:avLst>
            </a:prstGeom>
            <a:solidFill>
              <a:srgbClr val="980000"/>
            </a:solidFill>
            <a:ln>
              <a:noFill/>
            </a:ln>
          </p:spPr>
          <p:txBody>
            <a:bodyPr spcFirstLastPara="1" wrap="square" lIns="45725" tIns="45725" rIns="45725" bIns="45725" anchor="ctr" anchorCtr="0">
              <a:noAutofit/>
            </a:bodyPr>
            <a:lstStyle/>
            <a:p>
              <a:pPr algn="ctr"/>
              <a:r>
                <a:rPr lang="en" sz="900" b="1">
                  <a:solidFill>
                    <a:schemeClr val="lt1"/>
                  </a:solidFill>
                  <a:latin typeface="Helvetica Neue"/>
                  <a:sym typeface="Helvetica Neue"/>
                </a:rPr>
                <a:t>Analysis &amp; Discussion</a:t>
              </a:r>
              <a:endParaRPr sz="900" b="1">
                <a:solidFill>
                  <a:schemeClr val="lt1"/>
                </a:solidFill>
                <a:latin typeface="Helvetica Neue"/>
                <a:sym typeface="Helvetica Neue"/>
              </a:endParaRPr>
            </a:p>
          </p:txBody>
        </p:sp>
      </p:grpSp>
    </p:spTree>
    <p:extLst>
      <p:ext uri="{BB962C8B-B14F-4D97-AF65-F5344CB8AC3E}">
        <p14:creationId xmlns:p14="http://schemas.microsoft.com/office/powerpoint/2010/main" val="1061514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8"/>
          <p:cNvSpPr/>
          <p:nvPr/>
        </p:nvSpPr>
        <p:spPr>
          <a:xfrm>
            <a:off x="270150" y="1067263"/>
            <a:ext cx="4211539" cy="306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sp>
        <p:nvSpPr>
          <p:cNvPr id="175" name="Google Shape;175;p18"/>
          <p:cNvSpPr txBox="1"/>
          <p:nvPr/>
        </p:nvSpPr>
        <p:spPr>
          <a:xfrm>
            <a:off x="264338" y="663750"/>
            <a:ext cx="4780800" cy="2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1700" b="1" u="sng">
              <a:solidFill>
                <a:srgbClr val="2E3482"/>
              </a:solidFill>
              <a:latin typeface="Helvetica Neue"/>
              <a:ea typeface="Helvetica Neue"/>
              <a:cs typeface="Helvetica Neue"/>
              <a:sym typeface="Helvetica Neue"/>
            </a:endParaRPr>
          </a:p>
        </p:txBody>
      </p:sp>
      <p:sp>
        <p:nvSpPr>
          <p:cNvPr id="178" name="Google Shape;178;p18"/>
          <p:cNvSpPr/>
          <p:nvPr/>
        </p:nvSpPr>
        <p:spPr>
          <a:xfrm>
            <a:off x="270151" y="718400"/>
            <a:ext cx="8540100" cy="270600"/>
          </a:xfrm>
          <a:prstGeom prst="rect">
            <a:avLst/>
          </a:prstGeom>
          <a:solidFill>
            <a:srgbClr val="980000"/>
          </a:solidFill>
          <a:ln>
            <a:noFill/>
          </a:ln>
        </p:spPr>
        <p:txBody>
          <a:bodyPr spcFirstLastPara="1" wrap="square" lIns="45725" tIns="45725" rIns="45725" bIns="45725" anchor="ctr" anchorCtr="0">
            <a:noAutofit/>
          </a:bodyPr>
          <a:lstStyle/>
          <a:p>
            <a:pPr algn="ctr"/>
            <a:r>
              <a:rPr lang="en" sz="1100" b="1">
                <a:solidFill>
                  <a:schemeClr val="lt1"/>
                </a:solidFill>
                <a:latin typeface="Helvetica Neue"/>
                <a:sym typeface="Helvetica Neue"/>
              </a:rPr>
              <a:t>Weakly Nonlinear Regime (Pitch Glide)</a:t>
            </a:r>
            <a:endParaRPr sz="1100" b="1">
              <a:solidFill>
                <a:schemeClr val="lt1"/>
              </a:solidFill>
              <a:latin typeface="Helvetica Neue"/>
              <a:sym typeface="Helvetica Neue"/>
            </a:endParaRPr>
          </a:p>
        </p:txBody>
      </p:sp>
      <p:sp>
        <p:nvSpPr>
          <p:cNvPr id="179" name="Google Shape;179;p18"/>
          <p:cNvSpPr/>
          <p:nvPr/>
        </p:nvSpPr>
        <p:spPr>
          <a:xfrm>
            <a:off x="270150" y="4228625"/>
            <a:ext cx="8540100" cy="409800"/>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000">
                <a:latin typeface="Helvetica Neue"/>
                <a:ea typeface="Helvetica Neue"/>
                <a:cs typeface="Helvetica Neue"/>
                <a:sym typeface="Helvetica Neue"/>
              </a:rPr>
              <a:t>Pitch Glide only occurs when the nonlinearity is kept relatively weak (ex. thick gongs), but not on thin cymbals where </a:t>
            </a:r>
          </a:p>
          <a:p>
            <a:pPr marL="0" marR="0" lvl="0" indent="0" algn="ctr" rtl="0">
              <a:lnSpc>
                <a:spcPct val="100000"/>
              </a:lnSpc>
              <a:spcBef>
                <a:spcPts val="0"/>
              </a:spcBef>
              <a:spcAft>
                <a:spcPts val="0"/>
              </a:spcAft>
              <a:buNone/>
            </a:pPr>
            <a:r>
              <a:rPr lang="en-US" sz="1000">
                <a:latin typeface="Helvetica Neue"/>
                <a:ea typeface="Helvetica Neue"/>
                <a:cs typeface="Helvetica Neue"/>
                <a:sym typeface="Helvetica Neue"/>
              </a:rPr>
              <a:t>the nonlinearity is more pronounced and the energy transfer and mode coupling phenomena dominates. </a:t>
            </a:r>
            <a:endParaRPr sz="1100">
              <a:latin typeface="Helvetica Neue"/>
              <a:ea typeface="Helvetica Neue"/>
              <a:cs typeface="Helvetica Neue"/>
              <a:sym typeface="Helvetica Neue"/>
            </a:endParaRPr>
          </a:p>
        </p:txBody>
      </p:sp>
      <p:sp>
        <p:nvSpPr>
          <p:cNvPr id="2" name="Google Shape;97;p14">
            <a:extLst>
              <a:ext uri="{FF2B5EF4-FFF2-40B4-BE49-F238E27FC236}">
                <a16:creationId xmlns:a16="http://schemas.microsoft.com/office/drawing/2014/main" id="{D4CDFC2C-7573-9719-733F-E0CEE6549204}"/>
              </a:ext>
            </a:extLst>
          </p:cNvPr>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dirty="0">
                <a:solidFill>
                  <a:srgbClr val="666666"/>
                </a:solidFill>
                <a:latin typeface="Helvetica Neue"/>
                <a:ea typeface="Helvetica Neue"/>
                <a:cs typeface="Helvetica Neue"/>
                <a:sym typeface="Helvetica Neue"/>
              </a:rPr>
              <a:t>5/10</a:t>
            </a:r>
            <a:br>
              <a:rPr lang="en" sz="800" dirty="0">
                <a:solidFill>
                  <a:srgbClr val="666666"/>
                </a:solidFill>
                <a:latin typeface="Helvetica Neue"/>
                <a:ea typeface="Helvetica Neue"/>
                <a:cs typeface="Helvetica Neue"/>
                <a:sym typeface="Helvetica Neue"/>
              </a:rPr>
            </a:br>
            <a:r>
              <a:rPr lang="en-US" sz="800" dirty="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dirty="0">
              <a:solidFill>
                <a:srgbClr val="666666"/>
              </a:solidFill>
              <a:latin typeface="Helvetica Neue"/>
              <a:ea typeface="Helvetica Neue"/>
              <a:cs typeface="Helvetica Neue"/>
              <a:sym typeface="Helvetica Neue"/>
            </a:endParaRPr>
          </a:p>
        </p:txBody>
      </p:sp>
      <p:sp>
        <p:nvSpPr>
          <p:cNvPr id="8" name="Google Shape;174;p18">
            <a:extLst>
              <a:ext uri="{FF2B5EF4-FFF2-40B4-BE49-F238E27FC236}">
                <a16:creationId xmlns:a16="http://schemas.microsoft.com/office/drawing/2014/main" id="{91284B02-7411-3483-986F-61C9DC31A45D}"/>
              </a:ext>
            </a:extLst>
          </p:cNvPr>
          <p:cNvSpPr/>
          <p:nvPr/>
        </p:nvSpPr>
        <p:spPr>
          <a:xfrm>
            <a:off x="4598711" y="1067263"/>
            <a:ext cx="4211539" cy="306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grpSp>
        <p:nvGrpSpPr>
          <p:cNvPr id="11" name="Group 10">
            <a:extLst>
              <a:ext uri="{FF2B5EF4-FFF2-40B4-BE49-F238E27FC236}">
                <a16:creationId xmlns:a16="http://schemas.microsoft.com/office/drawing/2014/main" id="{EE079425-5559-D74D-A8D0-6B154DD07C4C}"/>
              </a:ext>
            </a:extLst>
          </p:cNvPr>
          <p:cNvGrpSpPr/>
          <p:nvPr/>
        </p:nvGrpSpPr>
        <p:grpSpPr>
          <a:xfrm>
            <a:off x="5065696" y="1221730"/>
            <a:ext cx="3277568" cy="265178"/>
            <a:chOff x="778328" y="1179195"/>
            <a:chExt cx="3277568" cy="265178"/>
          </a:xfrm>
        </p:grpSpPr>
        <p:sp>
          <p:nvSpPr>
            <p:cNvPr id="9" name="Google Shape;227;p20">
              <a:extLst>
                <a:ext uri="{FF2B5EF4-FFF2-40B4-BE49-F238E27FC236}">
                  <a16:creationId xmlns:a16="http://schemas.microsoft.com/office/drawing/2014/main" id="{50D02A11-281B-80C5-638F-FAEE81B11A32}"/>
                </a:ext>
              </a:extLst>
            </p:cNvPr>
            <p:cNvSpPr/>
            <p:nvPr/>
          </p:nvSpPr>
          <p:spPr>
            <a:xfrm flipH="1">
              <a:off x="1076106" y="1179195"/>
              <a:ext cx="2979790" cy="265178"/>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just" rtl="0">
                <a:lnSpc>
                  <a:spcPct val="100000"/>
                </a:lnSpc>
                <a:spcBef>
                  <a:spcPts val="0"/>
                </a:spcBef>
                <a:spcAft>
                  <a:spcPts val="0"/>
                </a:spcAft>
                <a:buNone/>
              </a:pPr>
              <a:r>
                <a:rPr lang="en-US" sz="900" b="1">
                  <a:latin typeface="Helvetica Neue"/>
                  <a:ea typeface="Helvetica Neue"/>
                  <a:cs typeface="Helvetica Neue"/>
                  <a:sym typeface="Helvetica Neue"/>
                </a:rPr>
                <a:t>Downward Glide</a:t>
              </a:r>
              <a:endParaRPr sz="900" b="1">
                <a:latin typeface="Helvetica Neue"/>
                <a:ea typeface="Helvetica Neue"/>
                <a:cs typeface="Helvetica Neue"/>
                <a:sym typeface="Helvetica Neue"/>
              </a:endParaRPr>
            </a:p>
          </p:txBody>
        </p:sp>
        <p:sp>
          <p:nvSpPr>
            <p:cNvPr id="10" name="Google Shape;228;p20">
              <a:extLst>
                <a:ext uri="{FF2B5EF4-FFF2-40B4-BE49-F238E27FC236}">
                  <a16:creationId xmlns:a16="http://schemas.microsoft.com/office/drawing/2014/main" id="{29749781-09E5-BA1C-9616-6F6AD05FB5CC}"/>
                </a:ext>
              </a:extLst>
            </p:cNvPr>
            <p:cNvSpPr/>
            <p:nvPr/>
          </p:nvSpPr>
          <p:spPr>
            <a:xfrm flipH="1">
              <a:off x="778328" y="1179195"/>
              <a:ext cx="297810" cy="265178"/>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1</a:t>
              </a:r>
              <a:endParaRPr sz="1200" b="1">
                <a:solidFill>
                  <a:srgbClr val="FFFFFF"/>
                </a:solidFill>
                <a:latin typeface="Helvetica Neue"/>
                <a:ea typeface="Helvetica Neue"/>
                <a:cs typeface="Helvetica Neue"/>
                <a:sym typeface="Helvetica Neue"/>
              </a:endParaRPr>
            </a:p>
          </p:txBody>
        </p:sp>
      </p:grpSp>
      <p:grpSp>
        <p:nvGrpSpPr>
          <p:cNvPr id="12" name="Group 11">
            <a:extLst>
              <a:ext uri="{FF2B5EF4-FFF2-40B4-BE49-F238E27FC236}">
                <a16:creationId xmlns:a16="http://schemas.microsoft.com/office/drawing/2014/main" id="{058B2ABE-2CC5-EECB-20B8-81D24937C5A9}"/>
              </a:ext>
            </a:extLst>
          </p:cNvPr>
          <p:cNvGrpSpPr/>
          <p:nvPr/>
        </p:nvGrpSpPr>
        <p:grpSpPr>
          <a:xfrm>
            <a:off x="5065696" y="2662114"/>
            <a:ext cx="3277568" cy="265178"/>
            <a:chOff x="778328" y="1179195"/>
            <a:chExt cx="3277568" cy="265178"/>
          </a:xfrm>
        </p:grpSpPr>
        <p:sp>
          <p:nvSpPr>
            <p:cNvPr id="13" name="Google Shape;227;p20">
              <a:extLst>
                <a:ext uri="{FF2B5EF4-FFF2-40B4-BE49-F238E27FC236}">
                  <a16:creationId xmlns:a16="http://schemas.microsoft.com/office/drawing/2014/main" id="{30FE6030-F8D2-431D-347D-E72F25AEBA00}"/>
                </a:ext>
              </a:extLst>
            </p:cNvPr>
            <p:cNvSpPr/>
            <p:nvPr/>
          </p:nvSpPr>
          <p:spPr>
            <a:xfrm flipH="1">
              <a:off x="1076106" y="1179195"/>
              <a:ext cx="2979790" cy="265178"/>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just" rtl="0">
                <a:lnSpc>
                  <a:spcPct val="100000"/>
                </a:lnSpc>
                <a:spcBef>
                  <a:spcPts val="0"/>
                </a:spcBef>
                <a:spcAft>
                  <a:spcPts val="0"/>
                </a:spcAft>
                <a:buNone/>
              </a:pPr>
              <a:r>
                <a:rPr lang="en-US" sz="900" b="1">
                  <a:latin typeface="Helvetica Neue"/>
                  <a:ea typeface="Helvetica Neue"/>
                  <a:cs typeface="Helvetica Neue"/>
                  <a:sym typeface="Helvetica Neue"/>
                </a:rPr>
                <a:t>Upward Glide</a:t>
              </a:r>
              <a:endParaRPr sz="900" b="1">
                <a:latin typeface="Helvetica Neue"/>
                <a:ea typeface="Helvetica Neue"/>
                <a:cs typeface="Helvetica Neue"/>
                <a:sym typeface="Helvetica Neue"/>
              </a:endParaRPr>
            </a:p>
          </p:txBody>
        </p:sp>
        <p:sp>
          <p:nvSpPr>
            <p:cNvPr id="14" name="Google Shape;228;p20">
              <a:extLst>
                <a:ext uri="{FF2B5EF4-FFF2-40B4-BE49-F238E27FC236}">
                  <a16:creationId xmlns:a16="http://schemas.microsoft.com/office/drawing/2014/main" id="{8563A95B-4398-DDE5-C1E9-9022DBECF7EA}"/>
                </a:ext>
              </a:extLst>
            </p:cNvPr>
            <p:cNvSpPr/>
            <p:nvPr/>
          </p:nvSpPr>
          <p:spPr>
            <a:xfrm flipH="1">
              <a:off x="778328" y="1179195"/>
              <a:ext cx="297810" cy="265178"/>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2</a:t>
              </a:r>
              <a:endParaRPr sz="1200" b="1">
                <a:solidFill>
                  <a:srgbClr val="FFFFFF"/>
                </a:solidFill>
                <a:latin typeface="Helvetica Neue"/>
                <a:ea typeface="Helvetica Neue"/>
                <a:cs typeface="Helvetica Neue"/>
                <a:sym typeface="Helvetica Neue"/>
              </a:endParaRPr>
            </a:p>
          </p:txBody>
        </p:sp>
      </p:grpSp>
      <p:pic>
        <p:nvPicPr>
          <p:cNvPr id="6" name="Picture 5">
            <a:extLst>
              <a:ext uri="{FF2B5EF4-FFF2-40B4-BE49-F238E27FC236}">
                <a16:creationId xmlns:a16="http://schemas.microsoft.com/office/drawing/2014/main" id="{4E7ADAAD-6135-74A5-A65C-DCFE4FB56894}"/>
              </a:ext>
            </a:extLst>
          </p:cNvPr>
          <p:cNvPicPr>
            <a:picLocks noChangeAspect="1"/>
          </p:cNvPicPr>
          <p:nvPr/>
        </p:nvPicPr>
        <p:blipFill>
          <a:blip r:embed="rId3"/>
          <a:stretch>
            <a:fillRect/>
          </a:stretch>
        </p:blipFill>
        <p:spPr>
          <a:xfrm>
            <a:off x="607857" y="1162679"/>
            <a:ext cx="3523868" cy="2818141"/>
          </a:xfrm>
          <a:prstGeom prst="rect">
            <a:avLst/>
          </a:prstGeom>
        </p:spPr>
      </p:pic>
      <p:sp>
        <p:nvSpPr>
          <p:cNvPr id="3" name="Rectangle 2">
            <a:extLst>
              <a:ext uri="{FF2B5EF4-FFF2-40B4-BE49-F238E27FC236}">
                <a16:creationId xmlns:a16="http://schemas.microsoft.com/office/drawing/2014/main" id="{36530005-E43F-790D-F02F-F0D3882F3935}"/>
              </a:ext>
            </a:extLst>
          </p:cNvPr>
          <p:cNvSpPr>
            <a:spLocks noChangeArrowheads="1"/>
          </p:cNvSpPr>
          <p:nvPr/>
        </p:nvSpPr>
        <p:spPr bwMode="auto">
          <a:xfrm>
            <a:off x="5065696" y="1624614"/>
            <a:ext cx="3277568" cy="856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lvl="0" indent="-171450" algn="just" eaLnBrk="0" fontAlgn="base" hangingPunct="0">
              <a:lnSpc>
                <a:spcPct val="150000"/>
              </a:lnSpc>
              <a:spcBef>
                <a:spcPct val="0"/>
              </a:spcBef>
              <a:spcAft>
                <a:spcPct val="0"/>
              </a:spcAft>
              <a:buClrTx/>
              <a:buFont typeface="Arial" panose="020B0604020202020204" pitchFamily="34" charset="0"/>
              <a:buChar char="•"/>
            </a:pPr>
            <a:r>
              <a:rPr kumimoji="0" lang="en-US" altLang="en-US" sz="900" b="0" i="0" u="none" strike="noStrike" cap="none" normalizeH="0" baseline="0">
                <a:ln>
                  <a:noFill/>
                </a:ln>
                <a:solidFill>
                  <a:schemeClr val="tx1"/>
                </a:solidFill>
                <a:effectLst/>
                <a:latin typeface="Helvetica Neue" panose="020B0604020202020204" charset="0"/>
              </a:rPr>
              <a:t>Occurs in flat surface gong</a:t>
            </a:r>
          </a:p>
          <a:p>
            <a:pPr marL="171450" lvl="0" indent="-171450" algn="just" eaLnBrk="0" fontAlgn="base" hangingPunct="0">
              <a:lnSpc>
                <a:spcPct val="150000"/>
              </a:lnSpc>
              <a:spcBef>
                <a:spcPct val="0"/>
              </a:spcBef>
              <a:spcAft>
                <a:spcPct val="0"/>
              </a:spcAft>
              <a:buClrTx/>
              <a:buFont typeface="Arial" panose="020B0604020202020204" pitchFamily="34" charset="0"/>
              <a:buChar char="•"/>
            </a:pPr>
            <a:r>
              <a:rPr lang="en-US" altLang="en-US" sz="900">
                <a:solidFill>
                  <a:schemeClr val="tx1"/>
                </a:solidFill>
                <a:latin typeface="Helvetica Neue" panose="020B0604020202020204" charset="0"/>
              </a:rPr>
              <a:t>Hardening </a:t>
            </a:r>
            <a:r>
              <a:rPr lang="en-US" altLang="en-US" sz="900" err="1">
                <a:solidFill>
                  <a:schemeClr val="tx1"/>
                </a:solidFill>
                <a:latin typeface="Helvetica Neue" panose="020B0604020202020204" charset="0"/>
              </a:rPr>
              <a:t>behaviour</a:t>
            </a:r>
            <a:r>
              <a:rPr lang="en-US" altLang="en-US" sz="900">
                <a:solidFill>
                  <a:schemeClr val="tx1"/>
                </a:solidFill>
                <a:latin typeface="Helvetica Neue" panose="020B0604020202020204" charset="0"/>
              </a:rPr>
              <a:t>, resonance curve is bent to the right (direction of increasing frequencies)</a:t>
            </a:r>
          </a:p>
          <a:p>
            <a:pPr marL="171450" lvl="0" indent="-171450" algn="just" eaLnBrk="0" fontAlgn="base" hangingPunct="0">
              <a:lnSpc>
                <a:spcPct val="150000"/>
              </a:lnSpc>
              <a:spcBef>
                <a:spcPct val="0"/>
              </a:spcBef>
              <a:spcAft>
                <a:spcPct val="0"/>
              </a:spcAft>
              <a:buClrTx/>
              <a:buFont typeface="Arial" panose="020B0604020202020204" pitchFamily="34" charset="0"/>
              <a:buChar char="•"/>
            </a:pPr>
            <a:r>
              <a:rPr kumimoji="0" lang="en-US" altLang="en-US" sz="900" b="0" i="0" u="none" strike="noStrike" cap="none" normalizeH="0" baseline="0">
                <a:ln>
                  <a:noFill/>
                </a:ln>
                <a:solidFill>
                  <a:schemeClr val="tx1"/>
                </a:solidFill>
                <a:effectLst/>
                <a:latin typeface="Helvetica Neue" panose="020B0604020202020204" charset="0"/>
              </a:rPr>
              <a:t>Governed by cubic nonlinearity</a:t>
            </a:r>
          </a:p>
        </p:txBody>
      </p:sp>
      <p:sp>
        <p:nvSpPr>
          <p:cNvPr id="4" name="Rectangle 3">
            <a:extLst>
              <a:ext uri="{FF2B5EF4-FFF2-40B4-BE49-F238E27FC236}">
                <a16:creationId xmlns:a16="http://schemas.microsoft.com/office/drawing/2014/main" id="{F785F97B-081C-4D8B-51EA-9CCB1F7D596A}"/>
              </a:ext>
            </a:extLst>
          </p:cNvPr>
          <p:cNvSpPr>
            <a:spLocks noChangeArrowheads="1"/>
          </p:cNvSpPr>
          <p:nvPr/>
        </p:nvSpPr>
        <p:spPr bwMode="auto">
          <a:xfrm>
            <a:off x="5065696" y="3064997"/>
            <a:ext cx="3277568" cy="856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lvl="0" indent="-171450" algn="just" eaLnBrk="0" fontAlgn="base" hangingPunct="0">
              <a:lnSpc>
                <a:spcPct val="150000"/>
              </a:lnSpc>
              <a:spcBef>
                <a:spcPct val="0"/>
              </a:spcBef>
              <a:spcAft>
                <a:spcPct val="0"/>
              </a:spcAft>
              <a:buClrTx/>
              <a:buFont typeface="Arial" panose="020B0604020202020204" pitchFamily="34" charset="0"/>
              <a:buChar char="•"/>
            </a:pPr>
            <a:r>
              <a:rPr kumimoji="0" lang="en-US" altLang="en-US" sz="900" b="0" i="0" u="none" strike="noStrike" cap="none" normalizeH="0" baseline="0">
                <a:ln>
                  <a:noFill/>
                </a:ln>
                <a:solidFill>
                  <a:schemeClr val="tx1"/>
                </a:solidFill>
                <a:effectLst/>
                <a:latin typeface="Helvetica Neue" panose="020B0604020202020204" charset="0"/>
              </a:rPr>
              <a:t>Occurs in smaller gong with a pronounced curvature</a:t>
            </a:r>
          </a:p>
          <a:p>
            <a:pPr marL="171450" lvl="0" indent="-171450" algn="just" eaLnBrk="0" fontAlgn="base" hangingPunct="0">
              <a:lnSpc>
                <a:spcPct val="150000"/>
              </a:lnSpc>
              <a:spcBef>
                <a:spcPct val="0"/>
              </a:spcBef>
              <a:spcAft>
                <a:spcPct val="0"/>
              </a:spcAft>
              <a:buClrTx/>
              <a:buFont typeface="Arial" panose="020B0604020202020204" pitchFamily="34" charset="0"/>
              <a:buChar char="•"/>
            </a:pPr>
            <a:r>
              <a:rPr lang="en-US" altLang="en-US" sz="900">
                <a:solidFill>
                  <a:schemeClr val="tx1"/>
                </a:solidFill>
                <a:latin typeface="Helvetica Neue" panose="020B0604020202020204" charset="0"/>
              </a:rPr>
              <a:t>Softening </a:t>
            </a:r>
            <a:r>
              <a:rPr lang="en-US" altLang="en-US" sz="900" err="1">
                <a:solidFill>
                  <a:schemeClr val="tx1"/>
                </a:solidFill>
                <a:latin typeface="Helvetica Neue" panose="020B0604020202020204" charset="0"/>
              </a:rPr>
              <a:t>behaviour</a:t>
            </a:r>
            <a:r>
              <a:rPr lang="en-US" altLang="en-US" sz="900">
                <a:solidFill>
                  <a:schemeClr val="tx1"/>
                </a:solidFill>
                <a:latin typeface="Helvetica Neue" panose="020B0604020202020204" charset="0"/>
              </a:rPr>
              <a:t>, resonance curve is bent to the left</a:t>
            </a:r>
          </a:p>
          <a:p>
            <a:pPr marL="171450" lvl="0" indent="-171450" algn="just" eaLnBrk="0" fontAlgn="base" hangingPunct="0">
              <a:lnSpc>
                <a:spcPct val="150000"/>
              </a:lnSpc>
              <a:spcBef>
                <a:spcPct val="0"/>
              </a:spcBef>
              <a:spcAft>
                <a:spcPct val="0"/>
              </a:spcAft>
              <a:buClrTx/>
              <a:buFont typeface="Arial" panose="020B0604020202020204" pitchFamily="34" charset="0"/>
              <a:buChar char="•"/>
            </a:pPr>
            <a:r>
              <a:rPr kumimoji="0" lang="en-US" altLang="en-US" sz="900" b="0" i="0" u="none" strike="noStrike" cap="none" normalizeH="0" baseline="0">
                <a:ln>
                  <a:noFill/>
                </a:ln>
                <a:solidFill>
                  <a:schemeClr val="tx1"/>
                </a:solidFill>
                <a:effectLst/>
                <a:latin typeface="Helvetica Neue" panose="020B0604020202020204" charset="0"/>
              </a:rPr>
              <a:t>Governed by the balance between quadratic and cubic nonlinearity</a:t>
            </a:r>
          </a:p>
        </p:txBody>
      </p:sp>
      <p:cxnSp>
        <p:nvCxnSpPr>
          <p:cNvPr id="17" name="Connector: Elbow 16">
            <a:extLst>
              <a:ext uri="{FF2B5EF4-FFF2-40B4-BE49-F238E27FC236}">
                <a16:creationId xmlns:a16="http://schemas.microsoft.com/office/drawing/2014/main" id="{01DF29D8-E4F5-EC46-C909-75148D8887F6}"/>
              </a:ext>
            </a:extLst>
          </p:cNvPr>
          <p:cNvCxnSpPr>
            <a:cxnSpLocks/>
            <a:stCxn id="10" idx="3"/>
            <a:endCxn id="6" idx="3"/>
          </p:cNvCxnSpPr>
          <p:nvPr/>
        </p:nvCxnSpPr>
        <p:spPr>
          <a:xfrm rot="10800000" flipV="1">
            <a:off x="4131726" y="1354318"/>
            <a:ext cx="933971" cy="1217431"/>
          </a:xfrm>
          <a:prstGeom prst="bentConnector3">
            <a:avLst>
              <a:gd name="adj1" fmla="val 73996"/>
            </a:avLst>
          </a:prstGeom>
          <a:ln>
            <a:prstDash val="lgDash"/>
            <a:tailEnd type="triangle"/>
          </a:ln>
        </p:spPr>
        <p:style>
          <a:lnRef idx="1">
            <a:schemeClr val="accent2"/>
          </a:lnRef>
          <a:fillRef idx="0">
            <a:schemeClr val="accent2"/>
          </a:fillRef>
          <a:effectRef idx="0">
            <a:schemeClr val="accent2"/>
          </a:effectRef>
          <a:fontRef idx="minor">
            <a:schemeClr val="tx1"/>
          </a:fontRef>
        </p:style>
      </p:cxnSp>
      <p:grpSp>
        <p:nvGrpSpPr>
          <p:cNvPr id="5" name="Group 4">
            <a:extLst>
              <a:ext uri="{FF2B5EF4-FFF2-40B4-BE49-F238E27FC236}">
                <a16:creationId xmlns:a16="http://schemas.microsoft.com/office/drawing/2014/main" id="{C5A12896-655A-A74C-7E19-D2083588738D}"/>
              </a:ext>
            </a:extLst>
          </p:cNvPr>
          <p:cNvGrpSpPr/>
          <p:nvPr/>
        </p:nvGrpSpPr>
        <p:grpSpPr>
          <a:xfrm>
            <a:off x="106313" y="4795750"/>
            <a:ext cx="8931378" cy="267000"/>
            <a:chOff x="106313" y="4795750"/>
            <a:chExt cx="8931378" cy="267000"/>
          </a:xfrm>
        </p:grpSpPr>
        <p:sp>
          <p:nvSpPr>
            <p:cNvPr id="7" name="Google Shape;106;p15">
              <a:extLst>
                <a:ext uri="{FF2B5EF4-FFF2-40B4-BE49-F238E27FC236}">
                  <a16:creationId xmlns:a16="http://schemas.microsoft.com/office/drawing/2014/main" id="{FC11E5C3-CD6B-79B1-A843-26E67246CC0F}"/>
                </a:ext>
              </a:extLst>
            </p:cNvPr>
            <p:cNvSpPr/>
            <p:nvPr/>
          </p:nvSpPr>
          <p:spPr>
            <a:xfrm>
              <a:off x="106313"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 sz="900" b="1">
                  <a:solidFill>
                    <a:schemeClr val="dk1"/>
                  </a:solidFill>
                  <a:latin typeface="Helvetica Neue"/>
                  <a:sym typeface="Helvetica Neue"/>
                </a:rPr>
                <a:t>Introduction</a:t>
              </a:r>
              <a:endParaRPr sz="900" b="1">
                <a:solidFill>
                  <a:schemeClr val="dk1"/>
                </a:solidFill>
                <a:latin typeface="Helvetica Neue"/>
                <a:sym typeface="Helvetica Neue"/>
              </a:endParaRPr>
            </a:p>
          </p:txBody>
        </p:sp>
        <p:sp>
          <p:nvSpPr>
            <p:cNvPr id="15" name="Google Shape;107;p15">
              <a:extLst>
                <a:ext uri="{FF2B5EF4-FFF2-40B4-BE49-F238E27FC236}">
                  <a16:creationId xmlns:a16="http://schemas.microsoft.com/office/drawing/2014/main" id="{0E978223-763B-1633-AA82-13FF047E9FCC}"/>
                </a:ext>
              </a:extLst>
            </p:cNvPr>
            <p:cNvSpPr/>
            <p:nvPr/>
          </p:nvSpPr>
          <p:spPr>
            <a:xfrm>
              <a:off x="3111004"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ID" sz="900" b="1">
                  <a:solidFill>
                    <a:schemeClr val="dk1"/>
                  </a:solidFill>
                  <a:latin typeface="Helvetica Neue"/>
                  <a:sym typeface="Helvetica Neue"/>
                </a:rPr>
                <a:t>Summary of Experiments</a:t>
              </a:r>
            </a:p>
          </p:txBody>
        </p:sp>
        <p:sp>
          <p:nvSpPr>
            <p:cNvPr id="16" name="Google Shape;108;p15">
              <a:extLst>
                <a:ext uri="{FF2B5EF4-FFF2-40B4-BE49-F238E27FC236}">
                  <a16:creationId xmlns:a16="http://schemas.microsoft.com/office/drawing/2014/main" id="{0E489B08-9BAE-F441-40E0-FA56B54EE841}"/>
                </a:ext>
              </a:extLst>
            </p:cNvPr>
            <p:cNvSpPr/>
            <p:nvPr/>
          </p:nvSpPr>
          <p:spPr>
            <a:xfrm>
              <a:off x="6115691" y="4795750"/>
              <a:ext cx="2922000" cy="267000"/>
            </a:xfrm>
            <a:prstGeom prst="roundRect">
              <a:avLst>
                <a:gd name="adj" fmla="val 16667"/>
              </a:avLst>
            </a:prstGeom>
            <a:solidFill>
              <a:srgbClr val="980000"/>
            </a:solidFill>
            <a:ln>
              <a:noFill/>
            </a:ln>
          </p:spPr>
          <p:txBody>
            <a:bodyPr spcFirstLastPara="1" wrap="square" lIns="45725" tIns="45725" rIns="45725" bIns="45725" anchor="ctr" anchorCtr="0">
              <a:noAutofit/>
            </a:bodyPr>
            <a:lstStyle/>
            <a:p>
              <a:pPr algn="ctr"/>
              <a:r>
                <a:rPr lang="en" sz="900" b="1">
                  <a:solidFill>
                    <a:schemeClr val="lt1"/>
                  </a:solidFill>
                  <a:latin typeface="Helvetica Neue"/>
                  <a:sym typeface="Helvetica Neue"/>
                </a:rPr>
                <a:t>Analysis &amp; Discussion</a:t>
              </a:r>
              <a:endParaRPr sz="900" b="1">
                <a:solidFill>
                  <a:schemeClr val="lt1"/>
                </a:solidFill>
                <a:latin typeface="Helvetica Neue"/>
                <a:sym typeface="Helvetica Neue"/>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2EBE0002-D26A-7515-6474-DC66F7E1FFAA}"/>
            </a:ext>
          </a:extLst>
        </p:cNvPr>
        <p:cNvGrpSpPr/>
        <p:nvPr/>
      </p:nvGrpSpPr>
      <p:grpSpPr>
        <a:xfrm>
          <a:off x="0" y="0"/>
          <a:ext cx="0" cy="0"/>
          <a:chOff x="0" y="0"/>
          <a:chExt cx="0" cy="0"/>
        </a:xfrm>
      </p:grpSpPr>
      <p:sp>
        <p:nvSpPr>
          <p:cNvPr id="174" name="Google Shape;174;p18">
            <a:extLst>
              <a:ext uri="{FF2B5EF4-FFF2-40B4-BE49-F238E27FC236}">
                <a16:creationId xmlns:a16="http://schemas.microsoft.com/office/drawing/2014/main" id="{B657547C-0B66-8007-AB44-0899F6F79EE2}"/>
              </a:ext>
            </a:extLst>
          </p:cNvPr>
          <p:cNvSpPr/>
          <p:nvPr/>
        </p:nvSpPr>
        <p:spPr>
          <a:xfrm>
            <a:off x="270150" y="1067262"/>
            <a:ext cx="4211539" cy="3562737"/>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sp>
        <p:nvSpPr>
          <p:cNvPr id="175" name="Google Shape;175;p18">
            <a:extLst>
              <a:ext uri="{FF2B5EF4-FFF2-40B4-BE49-F238E27FC236}">
                <a16:creationId xmlns:a16="http://schemas.microsoft.com/office/drawing/2014/main" id="{893A2ABB-102C-B329-09F6-65588ED86C9C}"/>
              </a:ext>
            </a:extLst>
          </p:cNvPr>
          <p:cNvSpPr txBox="1"/>
          <p:nvPr/>
        </p:nvSpPr>
        <p:spPr>
          <a:xfrm>
            <a:off x="264338" y="663750"/>
            <a:ext cx="4780800" cy="2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1700" b="1" u="sng">
              <a:solidFill>
                <a:srgbClr val="2E3482"/>
              </a:solidFill>
              <a:latin typeface="Helvetica Neue"/>
              <a:ea typeface="Helvetica Neue"/>
              <a:cs typeface="Helvetica Neue"/>
              <a:sym typeface="Helvetica Neue"/>
            </a:endParaRPr>
          </a:p>
        </p:txBody>
      </p:sp>
      <p:sp>
        <p:nvSpPr>
          <p:cNvPr id="178" name="Google Shape;178;p18">
            <a:extLst>
              <a:ext uri="{FF2B5EF4-FFF2-40B4-BE49-F238E27FC236}">
                <a16:creationId xmlns:a16="http://schemas.microsoft.com/office/drawing/2014/main" id="{69C9FE2B-59C1-9D28-40B0-D13DE80B69A6}"/>
              </a:ext>
            </a:extLst>
          </p:cNvPr>
          <p:cNvSpPr/>
          <p:nvPr/>
        </p:nvSpPr>
        <p:spPr>
          <a:xfrm>
            <a:off x="270151" y="718400"/>
            <a:ext cx="8540100" cy="270600"/>
          </a:xfrm>
          <a:prstGeom prst="rect">
            <a:avLst/>
          </a:prstGeom>
          <a:solidFill>
            <a:srgbClr val="980000"/>
          </a:solidFill>
          <a:ln>
            <a:noFill/>
          </a:ln>
        </p:spPr>
        <p:txBody>
          <a:bodyPr spcFirstLastPara="1" wrap="square" lIns="45725" tIns="45725" rIns="45725" bIns="45725" anchor="ctr" anchorCtr="0">
            <a:noAutofit/>
          </a:bodyPr>
          <a:lstStyle/>
          <a:p>
            <a:pPr algn="ctr"/>
            <a:r>
              <a:rPr lang="en" sz="1100" b="1">
                <a:solidFill>
                  <a:schemeClr val="lt1"/>
                </a:solidFill>
                <a:latin typeface="Helvetica Neue"/>
                <a:sym typeface="Helvetica Neue"/>
              </a:rPr>
              <a:t>Weakly Nonlinear Regime (Nonperiodic Regime)</a:t>
            </a:r>
            <a:endParaRPr sz="1100" b="1">
              <a:solidFill>
                <a:schemeClr val="lt1"/>
              </a:solidFill>
              <a:latin typeface="Helvetica Neue"/>
              <a:sym typeface="Helvetica Neue"/>
            </a:endParaRPr>
          </a:p>
        </p:txBody>
      </p:sp>
      <p:sp>
        <p:nvSpPr>
          <p:cNvPr id="2" name="Google Shape;97;p14">
            <a:extLst>
              <a:ext uri="{FF2B5EF4-FFF2-40B4-BE49-F238E27FC236}">
                <a16:creationId xmlns:a16="http://schemas.microsoft.com/office/drawing/2014/main" id="{0DC5D3FD-8CF0-F22A-3DDE-D09DF834CD7B}"/>
              </a:ext>
            </a:extLst>
          </p:cNvPr>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dirty="0">
                <a:solidFill>
                  <a:srgbClr val="666666"/>
                </a:solidFill>
                <a:latin typeface="Helvetica Neue"/>
                <a:ea typeface="Helvetica Neue"/>
                <a:cs typeface="Helvetica Neue"/>
                <a:sym typeface="Helvetica Neue"/>
              </a:rPr>
              <a:t>6/10</a:t>
            </a:r>
            <a:br>
              <a:rPr lang="en" sz="800" dirty="0">
                <a:solidFill>
                  <a:srgbClr val="666666"/>
                </a:solidFill>
                <a:latin typeface="Helvetica Neue"/>
                <a:ea typeface="Helvetica Neue"/>
                <a:cs typeface="Helvetica Neue"/>
                <a:sym typeface="Helvetica Neue"/>
              </a:rPr>
            </a:br>
            <a:r>
              <a:rPr lang="en-US" sz="800" dirty="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dirty="0">
              <a:solidFill>
                <a:srgbClr val="666666"/>
              </a:solidFill>
              <a:latin typeface="Helvetica Neue"/>
              <a:ea typeface="Helvetica Neue"/>
              <a:cs typeface="Helvetica Neue"/>
              <a:sym typeface="Helvetica Neue"/>
            </a:endParaRPr>
          </a:p>
        </p:txBody>
      </p:sp>
      <p:sp>
        <p:nvSpPr>
          <p:cNvPr id="7" name="Google Shape;179;p18">
            <a:extLst>
              <a:ext uri="{FF2B5EF4-FFF2-40B4-BE49-F238E27FC236}">
                <a16:creationId xmlns:a16="http://schemas.microsoft.com/office/drawing/2014/main" id="{A94DA925-33B2-FA63-E014-F7746E6B98FF}"/>
              </a:ext>
            </a:extLst>
          </p:cNvPr>
          <p:cNvSpPr/>
          <p:nvPr/>
        </p:nvSpPr>
        <p:spPr>
          <a:xfrm>
            <a:off x="4598711" y="4220199"/>
            <a:ext cx="4211539" cy="409801"/>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algn="ctr"/>
            <a:r>
              <a:rPr lang="en-US" sz="800">
                <a:ea typeface="Helvetica Neue"/>
                <a:sym typeface="Helvetica Neue"/>
              </a:rPr>
              <a:t>The rich, multitone sound of gongs and cymbals may be produced by the coexistence of stable subharmonics of order 2 with the forcing frequency.</a:t>
            </a:r>
            <a:endParaRPr lang="en-US"/>
          </a:p>
        </p:txBody>
      </p:sp>
      <p:sp>
        <p:nvSpPr>
          <p:cNvPr id="8" name="Google Shape;174;p18">
            <a:extLst>
              <a:ext uri="{FF2B5EF4-FFF2-40B4-BE49-F238E27FC236}">
                <a16:creationId xmlns:a16="http://schemas.microsoft.com/office/drawing/2014/main" id="{4AF41749-1D76-F725-F170-478F3C3419FB}"/>
              </a:ext>
            </a:extLst>
          </p:cNvPr>
          <p:cNvSpPr/>
          <p:nvPr/>
        </p:nvSpPr>
        <p:spPr>
          <a:xfrm>
            <a:off x="4598711" y="1067263"/>
            <a:ext cx="4211539" cy="306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grpSp>
        <p:nvGrpSpPr>
          <p:cNvPr id="11" name="Group 10">
            <a:extLst>
              <a:ext uri="{FF2B5EF4-FFF2-40B4-BE49-F238E27FC236}">
                <a16:creationId xmlns:a16="http://schemas.microsoft.com/office/drawing/2014/main" id="{6062DD54-3A5B-8E7D-40E6-CB828A64621E}"/>
              </a:ext>
            </a:extLst>
          </p:cNvPr>
          <p:cNvGrpSpPr/>
          <p:nvPr/>
        </p:nvGrpSpPr>
        <p:grpSpPr>
          <a:xfrm>
            <a:off x="5045138" y="1154750"/>
            <a:ext cx="3277568" cy="265178"/>
            <a:chOff x="778328" y="1179195"/>
            <a:chExt cx="3277568" cy="265178"/>
          </a:xfrm>
        </p:grpSpPr>
        <p:sp>
          <p:nvSpPr>
            <p:cNvPr id="9" name="Google Shape;227;p20">
              <a:extLst>
                <a:ext uri="{FF2B5EF4-FFF2-40B4-BE49-F238E27FC236}">
                  <a16:creationId xmlns:a16="http://schemas.microsoft.com/office/drawing/2014/main" id="{00595813-AE70-970D-F442-D13283686208}"/>
                </a:ext>
              </a:extLst>
            </p:cNvPr>
            <p:cNvSpPr/>
            <p:nvPr/>
          </p:nvSpPr>
          <p:spPr>
            <a:xfrm flipH="1">
              <a:off x="1076106" y="1179195"/>
              <a:ext cx="2979790" cy="265178"/>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just"/>
              <a:r>
                <a:rPr lang="en-US" sz="900">
                  <a:latin typeface="Helvetica Neue"/>
                  <a:ea typeface="Helvetica Neue"/>
                  <a:cs typeface="Helvetica Neue"/>
                  <a:sym typeface="Helvetica Neue"/>
                </a:rPr>
                <a:t>Stability Curve (amplitude vs detuning factor)</a:t>
              </a:r>
              <a:endParaRPr lang="en-US" sz="900">
                <a:latin typeface="Helvetica Neue"/>
                <a:ea typeface="Helvetica Neue"/>
                <a:cs typeface="Helvetica Neue"/>
              </a:endParaRPr>
            </a:p>
          </p:txBody>
        </p:sp>
        <p:sp>
          <p:nvSpPr>
            <p:cNvPr id="10" name="Google Shape;228;p20">
              <a:extLst>
                <a:ext uri="{FF2B5EF4-FFF2-40B4-BE49-F238E27FC236}">
                  <a16:creationId xmlns:a16="http://schemas.microsoft.com/office/drawing/2014/main" id="{DC02AEFE-A7DD-E795-DA04-0F426E99B7F5}"/>
                </a:ext>
              </a:extLst>
            </p:cNvPr>
            <p:cNvSpPr/>
            <p:nvPr/>
          </p:nvSpPr>
          <p:spPr>
            <a:xfrm flipH="1">
              <a:off x="778328" y="1179195"/>
              <a:ext cx="297810" cy="265178"/>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1</a:t>
              </a:r>
              <a:endParaRPr sz="1200" b="1">
                <a:solidFill>
                  <a:srgbClr val="FFFFFF"/>
                </a:solidFill>
                <a:latin typeface="Helvetica Neue"/>
                <a:ea typeface="Helvetica Neue"/>
                <a:cs typeface="Helvetica Neue"/>
                <a:sym typeface="Helvetica Neue"/>
              </a:endParaRPr>
            </a:p>
          </p:txBody>
        </p:sp>
      </p:grpSp>
      <p:pic>
        <p:nvPicPr>
          <p:cNvPr id="16" name="Picture 15">
            <a:extLst>
              <a:ext uri="{FF2B5EF4-FFF2-40B4-BE49-F238E27FC236}">
                <a16:creationId xmlns:a16="http://schemas.microsoft.com/office/drawing/2014/main" id="{1ACA32D5-4267-FF30-95DA-FE0CF75A434D}"/>
              </a:ext>
            </a:extLst>
          </p:cNvPr>
          <p:cNvPicPr>
            <a:picLocks noChangeAspect="1"/>
          </p:cNvPicPr>
          <p:nvPr/>
        </p:nvPicPr>
        <p:blipFill>
          <a:blip r:embed="rId3"/>
          <a:stretch>
            <a:fillRect/>
          </a:stretch>
        </p:blipFill>
        <p:spPr>
          <a:xfrm>
            <a:off x="519318" y="1285447"/>
            <a:ext cx="3534606" cy="2956682"/>
          </a:xfrm>
          <a:prstGeom prst="rect">
            <a:avLst/>
          </a:prstGeom>
          <a:ln>
            <a:noFill/>
          </a:ln>
        </p:spPr>
      </p:pic>
      <p:sp>
        <p:nvSpPr>
          <p:cNvPr id="4" name="Rectangle 3">
            <a:extLst>
              <a:ext uri="{FF2B5EF4-FFF2-40B4-BE49-F238E27FC236}">
                <a16:creationId xmlns:a16="http://schemas.microsoft.com/office/drawing/2014/main" id="{DAAE6ABA-F3FF-E923-3928-3A3443778B64}"/>
              </a:ext>
            </a:extLst>
          </p:cNvPr>
          <p:cNvSpPr>
            <a:spLocks noChangeArrowheads="1"/>
          </p:cNvSpPr>
          <p:nvPr/>
        </p:nvSpPr>
        <p:spPr bwMode="auto">
          <a:xfrm>
            <a:off x="5042189" y="1416331"/>
            <a:ext cx="3570461" cy="649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indent="-171450" algn="just" eaLnBrk="0" fontAlgn="base" hangingPunct="0">
              <a:lnSpc>
                <a:spcPct val="150000"/>
              </a:lnSpc>
              <a:spcBef>
                <a:spcPct val="0"/>
              </a:spcBef>
              <a:spcAft>
                <a:spcPct val="0"/>
              </a:spcAft>
              <a:buClrTx/>
              <a:buFont typeface="Arial" panose="020B0604020202020204" pitchFamily="34" charset="0"/>
              <a:buChar char="•"/>
            </a:pPr>
            <a:r>
              <a:rPr lang="en-US" altLang="en-US" sz="900">
                <a:solidFill>
                  <a:schemeClr val="tx1"/>
                </a:solidFill>
                <a:latin typeface="Helvetica Neue"/>
              </a:rPr>
              <a:t>System of 3 coupled NL oscillators arose from Karman </a:t>
            </a:r>
            <a:r>
              <a:rPr lang="en-US" altLang="en-US" sz="900" err="1">
                <a:solidFill>
                  <a:schemeClr val="tx1"/>
                </a:solidFill>
                <a:latin typeface="Helvetica Neue"/>
              </a:rPr>
              <a:t>eqn</a:t>
            </a:r>
            <a:endParaRPr lang="en-US" altLang="en-US" sz="900">
              <a:solidFill>
                <a:schemeClr val="tx1"/>
              </a:solidFill>
              <a:latin typeface="Helvetica Neue"/>
            </a:endParaRPr>
          </a:p>
          <a:p>
            <a:pPr marL="171450" indent="-171450" algn="just">
              <a:lnSpc>
                <a:spcPct val="150000"/>
              </a:lnSpc>
              <a:spcBef>
                <a:spcPct val="0"/>
              </a:spcBef>
              <a:spcAft>
                <a:spcPct val="0"/>
              </a:spcAft>
              <a:buClrTx/>
              <a:buFont typeface="Arial" panose="020B0604020202020204" pitchFamily="34" charset="0"/>
              <a:buChar char="•"/>
            </a:pPr>
            <a:r>
              <a:rPr lang="en-US" altLang="en-US" sz="900">
                <a:solidFill>
                  <a:schemeClr val="tx1"/>
                </a:solidFill>
                <a:latin typeface="Helvetica Neue"/>
              </a:rPr>
              <a:t>Observed on twin asymmetric modes (6,0)a and (6,0)b</a:t>
            </a:r>
          </a:p>
          <a:p>
            <a:pPr marL="171450" indent="-171450" algn="just">
              <a:lnSpc>
                <a:spcPct val="150000"/>
              </a:lnSpc>
              <a:spcBef>
                <a:spcPct val="0"/>
              </a:spcBef>
              <a:spcAft>
                <a:spcPct val="0"/>
              </a:spcAft>
              <a:buClrTx/>
              <a:buFont typeface="Arial" panose="020B0604020202020204" pitchFamily="34" charset="0"/>
              <a:buChar char="•"/>
            </a:pPr>
            <a:r>
              <a:rPr lang="en-US" altLang="en-US" sz="900">
                <a:solidFill>
                  <a:schemeClr val="tx1"/>
                </a:solidFill>
                <a:latin typeface="Helvetica Neue"/>
              </a:rPr>
              <a:t>Use of method of multiple scales</a:t>
            </a:r>
          </a:p>
        </p:txBody>
      </p:sp>
      <p:sp>
        <p:nvSpPr>
          <p:cNvPr id="13" name="Rectangle 12">
            <a:extLst>
              <a:ext uri="{FF2B5EF4-FFF2-40B4-BE49-F238E27FC236}">
                <a16:creationId xmlns:a16="http://schemas.microsoft.com/office/drawing/2014/main" id="{29E9D025-F76F-1ACF-7034-36495D5EBB78}"/>
              </a:ext>
            </a:extLst>
          </p:cNvPr>
          <p:cNvSpPr>
            <a:spLocks noChangeArrowheads="1"/>
          </p:cNvSpPr>
          <p:nvPr/>
        </p:nvSpPr>
        <p:spPr bwMode="auto">
          <a:xfrm>
            <a:off x="5044265" y="3385382"/>
            <a:ext cx="3570461" cy="2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indent="-171450" algn="just">
              <a:lnSpc>
                <a:spcPct val="150000"/>
              </a:lnSpc>
              <a:spcBef>
                <a:spcPct val="0"/>
              </a:spcBef>
              <a:spcAft>
                <a:spcPct val="0"/>
              </a:spcAft>
              <a:buClrTx/>
              <a:buFont typeface="Arial" panose="020B0604020202020204" pitchFamily="34" charset="0"/>
              <a:buChar char="•"/>
            </a:pPr>
            <a:endParaRPr lang="en-US" altLang="en-US" sz="900">
              <a:solidFill>
                <a:schemeClr val="tx1"/>
              </a:solidFill>
              <a:latin typeface="Helvetica Neue"/>
            </a:endParaRPr>
          </a:p>
        </p:txBody>
      </p:sp>
      <p:pic>
        <p:nvPicPr>
          <p:cNvPr id="15" name="Picture 14">
            <a:extLst>
              <a:ext uri="{FF2B5EF4-FFF2-40B4-BE49-F238E27FC236}">
                <a16:creationId xmlns:a16="http://schemas.microsoft.com/office/drawing/2014/main" id="{D6176739-5AD4-7D48-6E8C-77663AE80DFB}"/>
              </a:ext>
            </a:extLst>
          </p:cNvPr>
          <p:cNvPicPr>
            <a:picLocks noChangeAspect="1"/>
          </p:cNvPicPr>
          <p:nvPr/>
        </p:nvPicPr>
        <p:blipFill>
          <a:blip r:embed="rId4"/>
          <a:stretch>
            <a:fillRect/>
          </a:stretch>
        </p:blipFill>
        <p:spPr>
          <a:xfrm>
            <a:off x="5293038" y="2063625"/>
            <a:ext cx="2964657" cy="607983"/>
          </a:xfrm>
          <a:prstGeom prst="rect">
            <a:avLst/>
          </a:prstGeom>
          <a:ln>
            <a:noFill/>
          </a:ln>
        </p:spPr>
      </p:pic>
      <p:pic>
        <p:nvPicPr>
          <p:cNvPr id="17" name="Picture 16">
            <a:extLst>
              <a:ext uri="{FF2B5EF4-FFF2-40B4-BE49-F238E27FC236}">
                <a16:creationId xmlns:a16="http://schemas.microsoft.com/office/drawing/2014/main" id="{E01B0600-21DF-6361-FC29-D51FCFA08411}"/>
              </a:ext>
            </a:extLst>
          </p:cNvPr>
          <p:cNvPicPr>
            <a:picLocks noChangeAspect="1"/>
          </p:cNvPicPr>
          <p:nvPr/>
        </p:nvPicPr>
        <p:blipFill>
          <a:blip r:embed="rId5"/>
          <a:stretch>
            <a:fillRect/>
          </a:stretch>
        </p:blipFill>
        <p:spPr>
          <a:xfrm>
            <a:off x="5825568" y="2757938"/>
            <a:ext cx="819150" cy="180975"/>
          </a:xfrm>
          <a:prstGeom prst="rect">
            <a:avLst/>
          </a:prstGeom>
          <a:ln>
            <a:noFill/>
          </a:ln>
        </p:spPr>
      </p:pic>
      <p:sp>
        <p:nvSpPr>
          <p:cNvPr id="20" name="TextBox 19">
            <a:extLst>
              <a:ext uri="{FF2B5EF4-FFF2-40B4-BE49-F238E27FC236}">
                <a16:creationId xmlns:a16="http://schemas.microsoft.com/office/drawing/2014/main" id="{CD5EDE95-D99F-960A-019F-2E85A6319190}"/>
              </a:ext>
            </a:extLst>
          </p:cNvPr>
          <p:cNvSpPr txBox="1"/>
          <p:nvPr/>
        </p:nvSpPr>
        <p:spPr>
          <a:xfrm>
            <a:off x="5223626" y="2732966"/>
            <a:ext cx="596599" cy="2308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latin typeface="Helvetica Neue"/>
              </a:rPr>
              <a:t>Where,</a:t>
            </a:r>
          </a:p>
        </p:txBody>
      </p:sp>
      <p:sp>
        <p:nvSpPr>
          <p:cNvPr id="3" name="TextBox 2">
            <a:extLst>
              <a:ext uri="{FF2B5EF4-FFF2-40B4-BE49-F238E27FC236}">
                <a16:creationId xmlns:a16="http://schemas.microsoft.com/office/drawing/2014/main" id="{524E2C7E-4134-4460-9753-A54A327C074B}"/>
              </a:ext>
            </a:extLst>
          </p:cNvPr>
          <p:cNvSpPr txBox="1"/>
          <p:nvPr/>
        </p:nvSpPr>
        <p:spPr>
          <a:xfrm>
            <a:off x="1201695" y="4311735"/>
            <a:ext cx="875205" cy="2308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latin typeface="Helvetica Neue"/>
              </a:rPr>
              <a:t>solid: stable</a:t>
            </a:r>
          </a:p>
        </p:txBody>
      </p:sp>
      <p:sp>
        <p:nvSpPr>
          <p:cNvPr id="5" name="TextBox 4">
            <a:extLst>
              <a:ext uri="{FF2B5EF4-FFF2-40B4-BE49-F238E27FC236}">
                <a16:creationId xmlns:a16="http://schemas.microsoft.com/office/drawing/2014/main" id="{7899091A-7827-4955-03AA-AF3CBB69F1CA}"/>
              </a:ext>
            </a:extLst>
          </p:cNvPr>
          <p:cNvSpPr txBox="1"/>
          <p:nvPr/>
        </p:nvSpPr>
        <p:spPr>
          <a:xfrm>
            <a:off x="2509001" y="4311735"/>
            <a:ext cx="1268111" cy="2308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latin typeface="Helvetica Neue"/>
              </a:rPr>
              <a:t>dashed: unstable</a:t>
            </a:r>
          </a:p>
        </p:txBody>
      </p:sp>
      <p:grpSp>
        <p:nvGrpSpPr>
          <p:cNvPr id="6" name="Group 5">
            <a:extLst>
              <a:ext uri="{FF2B5EF4-FFF2-40B4-BE49-F238E27FC236}">
                <a16:creationId xmlns:a16="http://schemas.microsoft.com/office/drawing/2014/main" id="{A7B5D0ED-2B76-AF9E-16AB-2DE88FF66E91}"/>
              </a:ext>
            </a:extLst>
          </p:cNvPr>
          <p:cNvGrpSpPr/>
          <p:nvPr/>
        </p:nvGrpSpPr>
        <p:grpSpPr>
          <a:xfrm>
            <a:off x="106313" y="4795750"/>
            <a:ext cx="8931378" cy="267000"/>
            <a:chOff x="106313" y="4795750"/>
            <a:chExt cx="8931378" cy="267000"/>
          </a:xfrm>
        </p:grpSpPr>
        <p:sp>
          <p:nvSpPr>
            <p:cNvPr id="12" name="Google Shape;106;p15">
              <a:extLst>
                <a:ext uri="{FF2B5EF4-FFF2-40B4-BE49-F238E27FC236}">
                  <a16:creationId xmlns:a16="http://schemas.microsoft.com/office/drawing/2014/main" id="{F494F197-2A45-BB63-0187-383D5C88428D}"/>
                </a:ext>
              </a:extLst>
            </p:cNvPr>
            <p:cNvSpPr/>
            <p:nvPr/>
          </p:nvSpPr>
          <p:spPr>
            <a:xfrm>
              <a:off x="106313"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 sz="900" b="1">
                  <a:solidFill>
                    <a:schemeClr val="dk1"/>
                  </a:solidFill>
                  <a:latin typeface="Helvetica Neue"/>
                  <a:sym typeface="Helvetica Neue"/>
                </a:rPr>
                <a:t>Introduction</a:t>
              </a:r>
              <a:endParaRPr sz="900" b="1">
                <a:solidFill>
                  <a:schemeClr val="dk1"/>
                </a:solidFill>
                <a:latin typeface="Helvetica Neue"/>
                <a:sym typeface="Helvetica Neue"/>
              </a:endParaRPr>
            </a:p>
          </p:txBody>
        </p:sp>
        <p:sp>
          <p:nvSpPr>
            <p:cNvPr id="14" name="Google Shape;107;p15">
              <a:extLst>
                <a:ext uri="{FF2B5EF4-FFF2-40B4-BE49-F238E27FC236}">
                  <a16:creationId xmlns:a16="http://schemas.microsoft.com/office/drawing/2014/main" id="{B829C8ED-17E3-4B3E-DD7B-54C45E98A9C0}"/>
                </a:ext>
              </a:extLst>
            </p:cNvPr>
            <p:cNvSpPr/>
            <p:nvPr/>
          </p:nvSpPr>
          <p:spPr>
            <a:xfrm>
              <a:off x="3111004"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ID" sz="900" b="1">
                  <a:solidFill>
                    <a:schemeClr val="dk1"/>
                  </a:solidFill>
                  <a:latin typeface="Helvetica Neue"/>
                  <a:sym typeface="Helvetica Neue"/>
                </a:rPr>
                <a:t>Summary of Experiments</a:t>
              </a:r>
            </a:p>
          </p:txBody>
        </p:sp>
        <p:sp>
          <p:nvSpPr>
            <p:cNvPr id="18" name="Google Shape;108;p15">
              <a:extLst>
                <a:ext uri="{FF2B5EF4-FFF2-40B4-BE49-F238E27FC236}">
                  <a16:creationId xmlns:a16="http://schemas.microsoft.com/office/drawing/2014/main" id="{D4379C20-BA04-6E47-95A8-93FDFE9C646C}"/>
                </a:ext>
              </a:extLst>
            </p:cNvPr>
            <p:cNvSpPr/>
            <p:nvPr/>
          </p:nvSpPr>
          <p:spPr>
            <a:xfrm>
              <a:off x="6115691" y="4795750"/>
              <a:ext cx="2922000" cy="267000"/>
            </a:xfrm>
            <a:prstGeom prst="roundRect">
              <a:avLst>
                <a:gd name="adj" fmla="val 16667"/>
              </a:avLst>
            </a:prstGeom>
            <a:solidFill>
              <a:srgbClr val="980000"/>
            </a:solidFill>
            <a:ln>
              <a:noFill/>
            </a:ln>
          </p:spPr>
          <p:txBody>
            <a:bodyPr spcFirstLastPara="1" wrap="square" lIns="45725" tIns="45725" rIns="45725" bIns="45725" anchor="ctr" anchorCtr="0">
              <a:noAutofit/>
            </a:bodyPr>
            <a:lstStyle/>
            <a:p>
              <a:pPr algn="ctr"/>
              <a:r>
                <a:rPr lang="en" sz="900" b="1">
                  <a:solidFill>
                    <a:schemeClr val="lt1"/>
                  </a:solidFill>
                  <a:latin typeface="Helvetica Neue"/>
                  <a:sym typeface="Helvetica Neue"/>
                </a:rPr>
                <a:t>Analysis &amp; Discussion</a:t>
              </a:r>
              <a:endParaRPr sz="900" b="1">
                <a:solidFill>
                  <a:schemeClr val="lt1"/>
                </a:solidFill>
                <a:latin typeface="Helvetica Neue"/>
                <a:sym typeface="Helvetica Neue"/>
              </a:endParaRPr>
            </a:p>
          </p:txBody>
        </p:sp>
      </p:grpSp>
      <p:sp>
        <p:nvSpPr>
          <p:cNvPr id="19" name="Rectangle 18">
            <a:extLst>
              <a:ext uri="{FF2B5EF4-FFF2-40B4-BE49-F238E27FC236}">
                <a16:creationId xmlns:a16="http://schemas.microsoft.com/office/drawing/2014/main" id="{352CD6F3-E876-1931-2D16-70FAE1CB5752}"/>
              </a:ext>
            </a:extLst>
          </p:cNvPr>
          <p:cNvSpPr>
            <a:spLocks noChangeArrowheads="1"/>
          </p:cNvSpPr>
          <p:nvPr/>
        </p:nvSpPr>
        <p:spPr bwMode="auto">
          <a:xfrm>
            <a:off x="4992182" y="3220418"/>
            <a:ext cx="3570461" cy="44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indent="-171450" algn="just" eaLnBrk="0" fontAlgn="base" hangingPunct="0">
              <a:lnSpc>
                <a:spcPct val="150000"/>
              </a:lnSpc>
              <a:spcBef>
                <a:spcPct val="0"/>
              </a:spcBef>
              <a:spcAft>
                <a:spcPct val="0"/>
              </a:spcAft>
              <a:buClrTx/>
              <a:buFont typeface="Arial" panose="020B0604020202020204" pitchFamily="34" charset="0"/>
              <a:buChar char="•"/>
            </a:pPr>
            <a:r>
              <a:rPr lang="en-US" altLang="en-US" sz="900">
                <a:solidFill>
                  <a:schemeClr val="tx1"/>
                </a:solidFill>
                <a:latin typeface="Helvetica Neue"/>
              </a:rPr>
              <a:t>Amplitude of high note drop and amplitude of low subharmonic notes explodes upward</a:t>
            </a:r>
          </a:p>
        </p:txBody>
      </p:sp>
    </p:spTree>
    <p:extLst>
      <p:ext uri="{BB962C8B-B14F-4D97-AF65-F5344CB8AC3E}">
        <p14:creationId xmlns:p14="http://schemas.microsoft.com/office/powerpoint/2010/main" val="1994374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A64EEED9-1335-210A-EA92-65ACFB097C7C}"/>
            </a:ext>
          </a:extLst>
        </p:cNvPr>
        <p:cNvGrpSpPr/>
        <p:nvPr/>
      </p:nvGrpSpPr>
      <p:grpSpPr>
        <a:xfrm>
          <a:off x="0" y="0"/>
          <a:ext cx="0" cy="0"/>
          <a:chOff x="0" y="0"/>
          <a:chExt cx="0" cy="0"/>
        </a:xfrm>
      </p:grpSpPr>
      <p:sp>
        <p:nvSpPr>
          <p:cNvPr id="174" name="Google Shape;174;p18">
            <a:extLst>
              <a:ext uri="{FF2B5EF4-FFF2-40B4-BE49-F238E27FC236}">
                <a16:creationId xmlns:a16="http://schemas.microsoft.com/office/drawing/2014/main" id="{DDCF5B70-4604-7943-8592-F04F4DB8A654}"/>
              </a:ext>
            </a:extLst>
          </p:cNvPr>
          <p:cNvSpPr/>
          <p:nvPr/>
        </p:nvSpPr>
        <p:spPr>
          <a:xfrm>
            <a:off x="270150" y="1393835"/>
            <a:ext cx="2805500" cy="235583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sp>
        <p:nvSpPr>
          <p:cNvPr id="175" name="Google Shape;175;p18">
            <a:extLst>
              <a:ext uri="{FF2B5EF4-FFF2-40B4-BE49-F238E27FC236}">
                <a16:creationId xmlns:a16="http://schemas.microsoft.com/office/drawing/2014/main" id="{6AFE80A1-CFB6-DE7F-0ACE-677CCB165DBA}"/>
              </a:ext>
            </a:extLst>
          </p:cNvPr>
          <p:cNvSpPr txBox="1"/>
          <p:nvPr/>
        </p:nvSpPr>
        <p:spPr>
          <a:xfrm>
            <a:off x="264338" y="663750"/>
            <a:ext cx="4780800" cy="2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1700" b="1" u="sng">
              <a:solidFill>
                <a:srgbClr val="2E3482"/>
              </a:solidFill>
              <a:latin typeface="Helvetica Neue"/>
              <a:ea typeface="Helvetica Neue"/>
              <a:cs typeface="Helvetica Neue"/>
              <a:sym typeface="Helvetica Neue"/>
            </a:endParaRPr>
          </a:p>
        </p:txBody>
      </p:sp>
      <p:sp>
        <p:nvSpPr>
          <p:cNvPr id="177" name="Google Shape;177;p18">
            <a:extLst>
              <a:ext uri="{FF2B5EF4-FFF2-40B4-BE49-F238E27FC236}">
                <a16:creationId xmlns:a16="http://schemas.microsoft.com/office/drawing/2014/main" id="{CEF61A46-4F43-1F06-0C24-A32F4F92517E}"/>
              </a:ext>
            </a:extLst>
          </p:cNvPr>
          <p:cNvSpPr txBox="1"/>
          <p:nvPr/>
        </p:nvSpPr>
        <p:spPr>
          <a:xfrm>
            <a:off x="1742050" y="1581100"/>
            <a:ext cx="1286400" cy="1044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78" name="Google Shape;178;p18">
            <a:extLst>
              <a:ext uri="{FF2B5EF4-FFF2-40B4-BE49-F238E27FC236}">
                <a16:creationId xmlns:a16="http://schemas.microsoft.com/office/drawing/2014/main" id="{3A5E33CC-B231-51F0-6D22-BEB199842F2E}"/>
              </a:ext>
            </a:extLst>
          </p:cNvPr>
          <p:cNvSpPr/>
          <p:nvPr/>
        </p:nvSpPr>
        <p:spPr>
          <a:xfrm>
            <a:off x="270151" y="718400"/>
            <a:ext cx="8540100" cy="270600"/>
          </a:xfrm>
          <a:prstGeom prst="rect">
            <a:avLst/>
          </a:prstGeom>
          <a:solidFill>
            <a:srgbClr val="980000"/>
          </a:solidFill>
          <a:ln>
            <a:noFill/>
          </a:ln>
        </p:spPr>
        <p:txBody>
          <a:bodyPr spcFirstLastPara="1" wrap="square" lIns="45725" tIns="45725" rIns="45725" bIns="45725" anchor="ctr" anchorCtr="0">
            <a:noAutofit/>
          </a:bodyPr>
          <a:lstStyle/>
          <a:p>
            <a:pPr algn="ctr"/>
            <a:r>
              <a:rPr lang="en" sz="1100" b="1">
                <a:solidFill>
                  <a:schemeClr val="lt1"/>
                </a:solidFill>
                <a:latin typeface="Helvetica Neue"/>
                <a:sym typeface="Helvetica Neue"/>
              </a:rPr>
              <a:t>Chaos Analysis &amp; Quantification</a:t>
            </a:r>
            <a:endParaRPr sz="1100" b="1">
              <a:solidFill>
                <a:schemeClr val="lt1"/>
              </a:solidFill>
              <a:latin typeface="Helvetica Neue"/>
              <a:sym typeface="Helvetica Neue"/>
            </a:endParaRPr>
          </a:p>
        </p:txBody>
      </p:sp>
      <p:sp>
        <p:nvSpPr>
          <p:cNvPr id="2" name="Google Shape;97;p14">
            <a:extLst>
              <a:ext uri="{FF2B5EF4-FFF2-40B4-BE49-F238E27FC236}">
                <a16:creationId xmlns:a16="http://schemas.microsoft.com/office/drawing/2014/main" id="{654191DE-916E-AD49-BB6D-05D206CD542D}"/>
              </a:ext>
            </a:extLst>
          </p:cNvPr>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dirty="0">
                <a:solidFill>
                  <a:srgbClr val="666666"/>
                </a:solidFill>
                <a:latin typeface="Helvetica Neue"/>
                <a:ea typeface="Helvetica Neue"/>
                <a:cs typeface="Helvetica Neue"/>
                <a:sym typeface="Helvetica Neue"/>
              </a:rPr>
              <a:t>7/10</a:t>
            </a:r>
            <a:br>
              <a:rPr lang="en" sz="800" dirty="0">
                <a:solidFill>
                  <a:srgbClr val="666666"/>
                </a:solidFill>
                <a:latin typeface="Helvetica Neue"/>
                <a:ea typeface="Helvetica Neue"/>
                <a:cs typeface="Helvetica Neue"/>
                <a:sym typeface="Helvetica Neue"/>
              </a:rPr>
            </a:br>
            <a:r>
              <a:rPr lang="en-US" sz="800" dirty="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dirty="0">
              <a:solidFill>
                <a:srgbClr val="666666"/>
              </a:solidFill>
              <a:latin typeface="Helvetica Neue"/>
              <a:ea typeface="Helvetica Neue"/>
              <a:cs typeface="Helvetica Neue"/>
              <a:sym typeface="Helvetica Neue"/>
            </a:endParaRPr>
          </a:p>
        </p:txBody>
      </p:sp>
      <p:pic>
        <p:nvPicPr>
          <p:cNvPr id="3" name="Picture 2">
            <a:extLst>
              <a:ext uri="{FF2B5EF4-FFF2-40B4-BE49-F238E27FC236}">
                <a16:creationId xmlns:a16="http://schemas.microsoft.com/office/drawing/2014/main" id="{723D06F7-3E94-257D-05DC-A378F4E470DD}"/>
              </a:ext>
            </a:extLst>
          </p:cNvPr>
          <p:cNvPicPr>
            <a:picLocks noChangeAspect="1"/>
          </p:cNvPicPr>
          <p:nvPr/>
        </p:nvPicPr>
        <p:blipFill>
          <a:blip r:embed="rId3"/>
          <a:stretch>
            <a:fillRect/>
          </a:stretch>
        </p:blipFill>
        <p:spPr>
          <a:xfrm>
            <a:off x="3251043" y="1452655"/>
            <a:ext cx="2655062" cy="2164180"/>
          </a:xfrm>
          <a:prstGeom prst="rect">
            <a:avLst/>
          </a:prstGeom>
        </p:spPr>
      </p:pic>
      <p:sp>
        <p:nvSpPr>
          <p:cNvPr id="5" name="Google Shape;158;p17">
            <a:extLst>
              <a:ext uri="{FF2B5EF4-FFF2-40B4-BE49-F238E27FC236}">
                <a16:creationId xmlns:a16="http://schemas.microsoft.com/office/drawing/2014/main" id="{671FADB4-54BA-652A-E464-F3F2F39DE3E5}"/>
              </a:ext>
            </a:extLst>
          </p:cNvPr>
          <p:cNvSpPr/>
          <p:nvPr/>
        </p:nvSpPr>
        <p:spPr>
          <a:xfrm>
            <a:off x="264350" y="1071735"/>
            <a:ext cx="2811300" cy="237111"/>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US" sz="1000" b="1">
                <a:solidFill>
                  <a:schemeClr val="dk1"/>
                </a:solidFill>
                <a:latin typeface="Helvetica Neue"/>
                <a:ea typeface="Helvetica Neue"/>
                <a:cs typeface="Helvetica Neue"/>
                <a:sym typeface="Helvetica Neue"/>
              </a:rPr>
              <a:t>Phase Space</a:t>
            </a:r>
            <a:endParaRPr sz="1000" b="1">
              <a:solidFill>
                <a:schemeClr val="dk1"/>
              </a:solidFill>
              <a:latin typeface="Helvetica Neue"/>
              <a:ea typeface="Helvetica Neue"/>
              <a:cs typeface="Helvetica Neue"/>
              <a:sym typeface="Helvetica Neue"/>
            </a:endParaRPr>
          </a:p>
        </p:txBody>
      </p:sp>
      <p:sp>
        <p:nvSpPr>
          <p:cNvPr id="6" name="Google Shape;159;p17">
            <a:extLst>
              <a:ext uri="{FF2B5EF4-FFF2-40B4-BE49-F238E27FC236}">
                <a16:creationId xmlns:a16="http://schemas.microsoft.com/office/drawing/2014/main" id="{C6CF5041-6310-1169-DF77-F3E03E7DAB55}"/>
              </a:ext>
            </a:extLst>
          </p:cNvPr>
          <p:cNvSpPr/>
          <p:nvPr/>
        </p:nvSpPr>
        <p:spPr>
          <a:xfrm>
            <a:off x="3162428" y="1071735"/>
            <a:ext cx="2811300" cy="237111"/>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1000" b="1">
                <a:solidFill>
                  <a:schemeClr val="dk1"/>
                </a:solidFill>
                <a:latin typeface="Helvetica Neue"/>
                <a:ea typeface="Helvetica Neue"/>
                <a:cs typeface="Helvetica Neue"/>
                <a:sym typeface="Helvetica Neue"/>
              </a:rPr>
              <a:t>Correlation Dimension</a:t>
            </a:r>
            <a:endParaRPr sz="1000" b="1">
              <a:solidFill>
                <a:schemeClr val="dk1"/>
              </a:solidFill>
              <a:latin typeface="Helvetica Neue"/>
              <a:ea typeface="Helvetica Neue"/>
              <a:cs typeface="Helvetica Neue"/>
              <a:sym typeface="Helvetica Neue"/>
            </a:endParaRPr>
          </a:p>
        </p:txBody>
      </p:sp>
      <p:sp>
        <p:nvSpPr>
          <p:cNvPr id="7" name="Google Shape;160;p17">
            <a:extLst>
              <a:ext uri="{FF2B5EF4-FFF2-40B4-BE49-F238E27FC236}">
                <a16:creationId xmlns:a16="http://schemas.microsoft.com/office/drawing/2014/main" id="{B0E55A21-0B63-0965-79A3-8903B6675819}"/>
              </a:ext>
            </a:extLst>
          </p:cNvPr>
          <p:cNvSpPr/>
          <p:nvPr/>
        </p:nvSpPr>
        <p:spPr>
          <a:xfrm>
            <a:off x="6130350" y="1071735"/>
            <a:ext cx="2679901" cy="237111"/>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1000" b="1">
                <a:solidFill>
                  <a:schemeClr val="dk1"/>
                </a:solidFill>
                <a:latin typeface="Helvetica Neue"/>
                <a:ea typeface="Helvetica Neue"/>
                <a:cs typeface="Helvetica Neue"/>
                <a:sym typeface="Helvetica Neue"/>
              </a:rPr>
              <a:t>Lyapunov Exponent</a:t>
            </a:r>
            <a:endParaRPr sz="1000" b="1">
              <a:solidFill>
                <a:schemeClr val="dk1"/>
              </a:solidFill>
              <a:latin typeface="Helvetica Neue"/>
              <a:ea typeface="Helvetica Neue"/>
              <a:cs typeface="Helvetica Neue"/>
              <a:sym typeface="Helvetica Neue"/>
            </a:endParaRPr>
          </a:p>
        </p:txBody>
      </p:sp>
      <p:sp>
        <p:nvSpPr>
          <p:cNvPr id="8" name="Google Shape;174;p18">
            <a:extLst>
              <a:ext uri="{FF2B5EF4-FFF2-40B4-BE49-F238E27FC236}">
                <a16:creationId xmlns:a16="http://schemas.microsoft.com/office/drawing/2014/main" id="{DA08827D-BFB9-3A86-85CD-51AD6E8BD708}"/>
              </a:ext>
            </a:extLst>
          </p:cNvPr>
          <p:cNvSpPr/>
          <p:nvPr/>
        </p:nvSpPr>
        <p:spPr>
          <a:xfrm>
            <a:off x="3171455" y="1393835"/>
            <a:ext cx="2805500" cy="235583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sp>
        <p:nvSpPr>
          <p:cNvPr id="9" name="Google Shape;174;p18">
            <a:extLst>
              <a:ext uri="{FF2B5EF4-FFF2-40B4-BE49-F238E27FC236}">
                <a16:creationId xmlns:a16="http://schemas.microsoft.com/office/drawing/2014/main" id="{A647E1A8-04D2-652A-2711-1BB2F0E24B74}"/>
              </a:ext>
            </a:extLst>
          </p:cNvPr>
          <p:cNvSpPr/>
          <p:nvPr/>
        </p:nvSpPr>
        <p:spPr>
          <a:xfrm>
            <a:off x="6110950" y="1393835"/>
            <a:ext cx="2719247" cy="235583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pic>
        <p:nvPicPr>
          <p:cNvPr id="10" name="Picture 9">
            <a:extLst>
              <a:ext uri="{FF2B5EF4-FFF2-40B4-BE49-F238E27FC236}">
                <a16:creationId xmlns:a16="http://schemas.microsoft.com/office/drawing/2014/main" id="{6CF89627-B608-FA8A-05A2-AA29C42B49C2}"/>
              </a:ext>
            </a:extLst>
          </p:cNvPr>
          <p:cNvPicPr>
            <a:picLocks noChangeAspect="1"/>
          </p:cNvPicPr>
          <p:nvPr/>
        </p:nvPicPr>
        <p:blipFill>
          <a:blip r:embed="rId4"/>
          <a:stretch>
            <a:fillRect/>
          </a:stretch>
        </p:blipFill>
        <p:spPr>
          <a:xfrm>
            <a:off x="360580" y="1647814"/>
            <a:ext cx="2618839" cy="2020540"/>
          </a:xfrm>
          <a:prstGeom prst="rect">
            <a:avLst/>
          </a:prstGeom>
        </p:spPr>
      </p:pic>
      <p:pic>
        <p:nvPicPr>
          <p:cNvPr id="11" name="Picture 10">
            <a:extLst>
              <a:ext uri="{FF2B5EF4-FFF2-40B4-BE49-F238E27FC236}">
                <a16:creationId xmlns:a16="http://schemas.microsoft.com/office/drawing/2014/main" id="{61652CCA-01E1-E5E7-BA92-0CA785A4BD8C}"/>
              </a:ext>
            </a:extLst>
          </p:cNvPr>
          <p:cNvPicPr>
            <a:picLocks noChangeAspect="1"/>
          </p:cNvPicPr>
          <p:nvPr/>
        </p:nvPicPr>
        <p:blipFill>
          <a:blip r:embed="rId5"/>
          <a:stretch>
            <a:fillRect/>
          </a:stretch>
        </p:blipFill>
        <p:spPr>
          <a:xfrm>
            <a:off x="6134818" y="1599043"/>
            <a:ext cx="2560449" cy="1832045"/>
          </a:xfrm>
          <a:prstGeom prst="rect">
            <a:avLst/>
          </a:prstGeom>
        </p:spPr>
      </p:pic>
      <p:sp>
        <p:nvSpPr>
          <p:cNvPr id="4" name="Google Shape;158;p17">
            <a:extLst>
              <a:ext uri="{FF2B5EF4-FFF2-40B4-BE49-F238E27FC236}">
                <a16:creationId xmlns:a16="http://schemas.microsoft.com/office/drawing/2014/main" id="{BC9DAB52-48FB-4A39-BEF4-20E7E90AFCFD}"/>
              </a:ext>
            </a:extLst>
          </p:cNvPr>
          <p:cNvSpPr/>
          <p:nvPr/>
        </p:nvSpPr>
        <p:spPr>
          <a:xfrm>
            <a:off x="274846" y="3834654"/>
            <a:ext cx="2811300" cy="848557"/>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marL="0" indent="0" algn="ctr">
              <a:lnSpc>
                <a:spcPct val="90000"/>
              </a:lnSpc>
              <a:buNone/>
            </a:pPr>
            <a:r>
              <a:rPr lang="en-US" sz="1000">
                <a:latin typeface="Helvetica Neue" panose="020B0604020202020204" charset="0"/>
              </a:rPr>
              <a:t>Transition to chaos when amplitude is increased:</a:t>
            </a:r>
          </a:p>
          <a:p>
            <a:pPr marL="0" indent="0">
              <a:lnSpc>
                <a:spcPct val="90000"/>
              </a:lnSpc>
              <a:buNone/>
            </a:pPr>
            <a:endParaRPr lang="en-US" sz="1000">
              <a:latin typeface="Helvetica Neue" panose="020B0604020202020204" charset="0"/>
            </a:endParaRPr>
          </a:p>
          <a:p>
            <a:pPr marL="0" indent="0" algn="ctr">
              <a:lnSpc>
                <a:spcPct val="90000"/>
              </a:lnSpc>
              <a:buNone/>
            </a:pPr>
            <a:r>
              <a:rPr lang="en-US" sz="1000">
                <a:latin typeface="Helvetica Neue" panose="020B0604020202020204" charset="0"/>
              </a:rPr>
              <a:t> Periodic → Quasiperiodic → Chaotic</a:t>
            </a:r>
          </a:p>
        </p:txBody>
      </p:sp>
      <p:sp>
        <p:nvSpPr>
          <p:cNvPr id="12" name="Google Shape;159;p17">
            <a:extLst>
              <a:ext uri="{FF2B5EF4-FFF2-40B4-BE49-F238E27FC236}">
                <a16:creationId xmlns:a16="http://schemas.microsoft.com/office/drawing/2014/main" id="{FE259CE5-141A-92E1-A43D-822451B93576}"/>
              </a:ext>
            </a:extLst>
          </p:cNvPr>
          <p:cNvSpPr/>
          <p:nvPr/>
        </p:nvSpPr>
        <p:spPr>
          <a:xfrm>
            <a:off x="3172924" y="3834654"/>
            <a:ext cx="2811300" cy="848557"/>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algn="ctr"/>
            <a:r>
              <a:rPr lang="en-US" sz="1000">
                <a:latin typeface="Helvetica Neue" panose="020B0604020202020204" charset="0"/>
              </a:rPr>
              <a:t>The estimated correlation dimension quickly saturates to a </a:t>
            </a:r>
            <a:r>
              <a:rPr lang="en-US" sz="1000" b="1">
                <a:latin typeface="Helvetica Neue" panose="020B0604020202020204" charset="0"/>
              </a:rPr>
              <a:t>finite value</a:t>
            </a:r>
            <a:r>
              <a:rPr lang="en-US" sz="1000">
                <a:latin typeface="Helvetica Neue" panose="020B0604020202020204" charset="0"/>
              </a:rPr>
              <a:t> as the embedding dimension increases, indicating a strange (fractal) attractor of limited dimension, which is a sign of the chaos</a:t>
            </a:r>
            <a:endParaRPr lang="en-US" sz="1100"/>
          </a:p>
        </p:txBody>
      </p:sp>
      <p:sp>
        <p:nvSpPr>
          <p:cNvPr id="13" name="Google Shape;160;p17">
            <a:extLst>
              <a:ext uri="{FF2B5EF4-FFF2-40B4-BE49-F238E27FC236}">
                <a16:creationId xmlns:a16="http://schemas.microsoft.com/office/drawing/2014/main" id="{98A381DD-E5A5-1387-28E3-2331C63688C5}"/>
              </a:ext>
            </a:extLst>
          </p:cNvPr>
          <p:cNvSpPr/>
          <p:nvPr/>
        </p:nvSpPr>
        <p:spPr>
          <a:xfrm>
            <a:off x="6110950" y="3834654"/>
            <a:ext cx="2709797" cy="848557"/>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algn="ctr"/>
            <a:r>
              <a:rPr lang="en-US" sz="1000">
                <a:latin typeface="Helvetica Neue" panose="020B0604020202020204" charset="0"/>
              </a:rPr>
              <a:t>The Lyapunov exponent quantifies chaos by measuring how rapidly nearby trajectories diverge in phase space, with a </a:t>
            </a:r>
            <a:r>
              <a:rPr lang="en-US" sz="1000" b="1">
                <a:latin typeface="Helvetica Neue" panose="020B0604020202020204" charset="0"/>
              </a:rPr>
              <a:t>positive exponent</a:t>
            </a:r>
            <a:r>
              <a:rPr lang="en-US" sz="1000">
                <a:latin typeface="Helvetica Neue" panose="020B0604020202020204" charset="0"/>
              </a:rPr>
              <a:t> indicating a chaotic behavior.</a:t>
            </a:r>
          </a:p>
        </p:txBody>
      </p:sp>
      <p:grpSp>
        <p:nvGrpSpPr>
          <p:cNvPr id="17" name="Group 16">
            <a:extLst>
              <a:ext uri="{FF2B5EF4-FFF2-40B4-BE49-F238E27FC236}">
                <a16:creationId xmlns:a16="http://schemas.microsoft.com/office/drawing/2014/main" id="{6DCDCE2A-F46F-DD19-A837-7F6D8FD28706}"/>
              </a:ext>
            </a:extLst>
          </p:cNvPr>
          <p:cNvGrpSpPr/>
          <p:nvPr/>
        </p:nvGrpSpPr>
        <p:grpSpPr>
          <a:xfrm>
            <a:off x="106313" y="4795750"/>
            <a:ext cx="8931378" cy="267000"/>
            <a:chOff x="106313" y="4795750"/>
            <a:chExt cx="8931378" cy="267000"/>
          </a:xfrm>
        </p:grpSpPr>
        <p:sp>
          <p:nvSpPr>
            <p:cNvPr id="18" name="Google Shape;106;p15">
              <a:extLst>
                <a:ext uri="{FF2B5EF4-FFF2-40B4-BE49-F238E27FC236}">
                  <a16:creationId xmlns:a16="http://schemas.microsoft.com/office/drawing/2014/main" id="{FE71AC01-0E66-9F78-5359-4A86F3E5D0B0}"/>
                </a:ext>
              </a:extLst>
            </p:cNvPr>
            <p:cNvSpPr/>
            <p:nvPr/>
          </p:nvSpPr>
          <p:spPr>
            <a:xfrm>
              <a:off x="106313"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 sz="900" b="1">
                  <a:solidFill>
                    <a:schemeClr val="dk1"/>
                  </a:solidFill>
                  <a:latin typeface="Helvetica Neue"/>
                  <a:sym typeface="Helvetica Neue"/>
                </a:rPr>
                <a:t>Introduction</a:t>
              </a:r>
              <a:endParaRPr sz="900" b="1">
                <a:solidFill>
                  <a:schemeClr val="dk1"/>
                </a:solidFill>
                <a:latin typeface="Helvetica Neue"/>
                <a:sym typeface="Helvetica Neue"/>
              </a:endParaRPr>
            </a:p>
          </p:txBody>
        </p:sp>
        <p:sp>
          <p:nvSpPr>
            <p:cNvPr id="19" name="Google Shape;107;p15">
              <a:extLst>
                <a:ext uri="{FF2B5EF4-FFF2-40B4-BE49-F238E27FC236}">
                  <a16:creationId xmlns:a16="http://schemas.microsoft.com/office/drawing/2014/main" id="{87425D5C-AA0D-C1E3-090E-AE4170C4159F}"/>
                </a:ext>
              </a:extLst>
            </p:cNvPr>
            <p:cNvSpPr/>
            <p:nvPr/>
          </p:nvSpPr>
          <p:spPr>
            <a:xfrm>
              <a:off x="3111004"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ID" sz="900" b="1">
                  <a:solidFill>
                    <a:schemeClr val="dk1"/>
                  </a:solidFill>
                  <a:latin typeface="Helvetica Neue"/>
                  <a:sym typeface="Helvetica Neue"/>
                </a:rPr>
                <a:t>Summary of Experiments</a:t>
              </a:r>
            </a:p>
          </p:txBody>
        </p:sp>
        <p:sp>
          <p:nvSpPr>
            <p:cNvPr id="20" name="Google Shape;108;p15">
              <a:extLst>
                <a:ext uri="{FF2B5EF4-FFF2-40B4-BE49-F238E27FC236}">
                  <a16:creationId xmlns:a16="http://schemas.microsoft.com/office/drawing/2014/main" id="{C8AF9E1E-88E4-B934-C244-2EC5ACD86DE5}"/>
                </a:ext>
              </a:extLst>
            </p:cNvPr>
            <p:cNvSpPr/>
            <p:nvPr/>
          </p:nvSpPr>
          <p:spPr>
            <a:xfrm>
              <a:off x="6115691" y="4795750"/>
              <a:ext cx="2922000" cy="267000"/>
            </a:xfrm>
            <a:prstGeom prst="roundRect">
              <a:avLst>
                <a:gd name="adj" fmla="val 16667"/>
              </a:avLst>
            </a:prstGeom>
            <a:solidFill>
              <a:srgbClr val="980000"/>
            </a:solidFill>
            <a:ln>
              <a:noFill/>
            </a:ln>
          </p:spPr>
          <p:txBody>
            <a:bodyPr spcFirstLastPara="1" wrap="square" lIns="45725" tIns="45725" rIns="45725" bIns="45725" anchor="ctr" anchorCtr="0">
              <a:noAutofit/>
            </a:bodyPr>
            <a:lstStyle/>
            <a:p>
              <a:pPr algn="ctr"/>
              <a:r>
                <a:rPr lang="en" sz="900" b="1">
                  <a:solidFill>
                    <a:schemeClr val="lt1"/>
                  </a:solidFill>
                  <a:latin typeface="Helvetica Neue"/>
                  <a:sym typeface="Helvetica Neue"/>
                </a:rPr>
                <a:t>Analysis &amp; Discussion</a:t>
              </a:r>
              <a:endParaRPr sz="900" b="1">
                <a:solidFill>
                  <a:schemeClr val="lt1"/>
                </a:solidFill>
                <a:latin typeface="Helvetica Neue"/>
                <a:sym typeface="Helvetica Neue"/>
              </a:endParaRPr>
            </a:p>
          </p:txBody>
        </p:sp>
      </p:grpSp>
    </p:spTree>
    <p:extLst>
      <p:ext uri="{BB962C8B-B14F-4D97-AF65-F5344CB8AC3E}">
        <p14:creationId xmlns:p14="http://schemas.microsoft.com/office/powerpoint/2010/main" val="3116356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DDEE1928-E731-54DF-76D1-487D40DBBC27}"/>
            </a:ext>
          </a:extLst>
        </p:cNvPr>
        <p:cNvGrpSpPr/>
        <p:nvPr/>
      </p:nvGrpSpPr>
      <p:grpSpPr>
        <a:xfrm>
          <a:off x="0" y="0"/>
          <a:ext cx="0" cy="0"/>
          <a:chOff x="0" y="0"/>
          <a:chExt cx="0" cy="0"/>
        </a:xfrm>
      </p:grpSpPr>
      <p:sp>
        <p:nvSpPr>
          <p:cNvPr id="204" name="Google Shape;204;p19">
            <a:extLst>
              <a:ext uri="{FF2B5EF4-FFF2-40B4-BE49-F238E27FC236}">
                <a16:creationId xmlns:a16="http://schemas.microsoft.com/office/drawing/2014/main" id="{3F42CA63-A921-5103-A04A-83AB5926BA8E}"/>
              </a:ext>
            </a:extLst>
          </p:cNvPr>
          <p:cNvSpPr txBox="1"/>
          <p:nvPr/>
        </p:nvSpPr>
        <p:spPr>
          <a:xfrm>
            <a:off x="264338" y="663750"/>
            <a:ext cx="4780800" cy="2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1700" b="1" u="sng">
              <a:solidFill>
                <a:srgbClr val="2E3482"/>
              </a:solidFill>
              <a:latin typeface="Helvetica Neue"/>
              <a:ea typeface="Helvetica Neue"/>
              <a:cs typeface="Helvetica Neue"/>
              <a:sym typeface="Helvetica Neue"/>
            </a:endParaRPr>
          </a:p>
        </p:txBody>
      </p:sp>
      <p:sp>
        <p:nvSpPr>
          <p:cNvPr id="206" name="Google Shape;206;p19">
            <a:extLst>
              <a:ext uri="{FF2B5EF4-FFF2-40B4-BE49-F238E27FC236}">
                <a16:creationId xmlns:a16="http://schemas.microsoft.com/office/drawing/2014/main" id="{2C1BDA99-3566-110E-201D-FF8FBBF685E3}"/>
              </a:ext>
            </a:extLst>
          </p:cNvPr>
          <p:cNvSpPr/>
          <p:nvPr/>
        </p:nvSpPr>
        <p:spPr>
          <a:xfrm>
            <a:off x="270151" y="718400"/>
            <a:ext cx="8540100" cy="270600"/>
          </a:xfrm>
          <a:prstGeom prst="rect">
            <a:avLst/>
          </a:prstGeom>
          <a:solidFill>
            <a:srgbClr val="980000"/>
          </a:solidFill>
          <a:ln>
            <a:noFill/>
          </a:ln>
        </p:spPr>
        <p:txBody>
          <a:bodyPr spcFirstLastPara="1" wrap="square" lIns="45725" tIns="45725" rIns="45725" bIns="45725" anchor="ctr" anchorCtr="0">
            <a:noAutofit/>
          </a:bodyPr>
          <a:lstStyle/>
          <a:p>
            <a:pPr algn="ctr"/>
            <a:r>
              <a:rPr lang="en" sz="900" b="1">
                <a:solidFill>
                  <a:schemeClr val="lt1"/>
                </a:solidFill>
                <a:latin typeface="Helvetica Neue"/>
                <a:sym typeface="Helvetica Neue"/>
              </a:rPr>
              <a:t>Replication of Work</a:t>
            </a:r>
            <a:endParaRPr lang="en-US" sz="900" b="1">
              <a:solidFill>
                <a:schemeClr val="lt1"/>
              </a:solidFill>
              <a:latin typeface="Helvetica Neue"/>
            </a:endParaRPr>
          </a:p>
        </p:txBody>
      </p:sp>
      <p:sp>
        <p:nvSpPr>
          <p:cNvPr id="207" name="Google Shape;207;p19">
            <a:extLst>
              <a:ext uri="{FF2B5EF4-FFF2-40B4-BE49-F238E27FC236}">
                <a16:creationId xmlns:a16="http://schemas.microsoft.com/office/drawing/2014/main" id="{37472F44-8422-7DDE-3A45-88587F9C2BD7}"/>
              </a:ext>
            </a:extLst>
          </p:cNvPr>
          <p:cNvSpPr/>
          <p:nvPr/>
        </p:nvSpPr>
        <p:spPr>
          <a:xfrm>
            <a:off x="264337" y="4228448"/>
            <a:ext cx="4470089" cy="409800"/>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algn="ctr"/>
            <a:r>
              <a:rPr lang="en" sz="900">
                <a:latin typeface="Helvetica Neue"/>
                <a:sym typeface="Helvetica Neue"/>
              </a:rPr>
              <a:t>Spectrogram and cymbal response from a crash cymbal audio signal</a:t>
            </a:r>
            <a:endParaRPr lang="en-US" sz="1200"/>
          </a:p>
        </p:txBody>
      </p:sp>
      <p:sp>
        <p:nvSpPr>
          <p:cNvPr id="210" name="Google Shape;210;p19">
            <a:extLst>
              <a:ext uri="{FF2B5EF4-FFF2-40B4-BE49-F238E27FC236}">
                <a16:creationId xmlns:a16="http://schemas.microsoft.com/office/drawing/2014/main" id="{10D95481-834D-9D43-9F1C-3F64E56BCC78}"/>
              </a:ext>
            </a:extLst>
          </p:cNvPr>
          <p:cNvSpPr/>
          <p:nvPr/>
        </p:nvSpPr>
        <p:spPr>
          <a:xfrm>
            <a:off x="270150" y="1067263"/>
            <a:ext cx="8540100" cy="306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sp>
        <p:nvSpPr>
          <p:cNvPr id="2" name="Google Shape;97;p14">
            <a:extLst>
              <a:ext uri="{FF2B5EF4-FFF2-40B4-BE49-F238E27FC236}">
                <a16:creationId xmlns:a16="http://schemas.microsoft.com/office/drawing/2014/main" id="{3C4204BC-8A52-8E4E-F648-696135256C20}"/>
              </a:ext>
            </a:extLst>
          </p:cNvPr>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a:solidFill>
                  <a:srgbClr val="666666"/>
                </a:solidFill>
                <a:latin typeface="Helvetica Neue"/>
                <a:ea typeface="Helvetica Neue"/>
                <a:cs typeface="Helvetica Neue"/>
                <a:sym typeface="Helvetica Neue"/>
              </a:rPr>
              <a:t>8/10</a:t>
            </a:r>
            <a:br>
              <a:rPr lang="en" sz="800">
                <a:solidFill>
                  <a:srgbClr val="666666"/>
                </a:solidFill>
                <a:latin typeface="Helvetica Neue"/>
                <a:ea typeface="Helvetica Neue"/>
                <a:cs typeface="Helvetica Neue"/>
                <a:sym typeface="Helvetica Neue"/>
              </a:rPr>
            </a:br>
            <a:r>
              <a:rPr lang="en-US" sz="80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a:solidFill>
                <a:srgbClr val="666666"/>
              </a:solidFill>
              <a:latin typeface="Helvetica Neue"/>
              <a:ea typeface="Helvetica Neue"/>
              <a:cs typeface="Helvetica Neue"/>
              <a:sym typeface="Helvetica Neue"/>
            </a:endParaRPr>
          </a:p>
        </p:txBody>
      </p:sp>
      <p:pic>
        <p:nvPicPr>
          <p:cNvPr id="3" name="Picture 2">
            <a:extLst>
              <a:ext uri="{FF2B5EF4-FFF2-40B4-BE49-F238E27FC236}">
                <a16:creationId xmlns:a16="http://schemas.microsoft.com/office/drawing/2014/main" id="{B7441698-21C6-CAA3-AC0A-3B973DD79DBC}"/>
              </a:ext>
            </a:extLst>
          </p:cNvPr>
          <p:cNvPicPr>
            <a:picLocks noChangeAspect="1"/>
          </p:cNvPicPr>
          <p:nvPr/>
        </p:nvPicPr>
        <p:blipFill>
          <a:blip r:embed="rId9"/>
          <a:stretch>
            <a:fillRect/>
          </a:stretch>
        </p:blipFill>
        <p:spPr>
          <a:xfrm>
            <a:off x="2030926" y="1105155"/>
            <a:ext cx="2541074" cy="2983225"/>
          </a:xfrm>
          <a:prstGeom prst="rect">
            <a:avLst/>
          </a:prstGeom>
        </p:spPr>
      </p:pic>
      <p:pic>
        <p:nvPicPr>
          <p:cNvPr id="4" name="hit_chymbal">
            <a:hlinkClick r:id="" action="ppaction://media"/>
            <a:extLst>
              <a:ext uri="{FF2B5EF4-FFF2-40B4-BE49-F238E27FC236}">
                <a16:creationId xmlns:a16="http://schemas.microsoft.com/office/drawing/2014/main" id="{E25E88D0-9229-74FA-D064-5D280363C45D}"/>
              </a:ext>
            </a:extLst>
          </p:cNvPr>
          <p:cNvPicPr>
            <a:picLocks noChangeAspect="1"/>
          </p:cNvPicPr>
          <p:nvPr>
            <a:videoFile r:link="rId1"/>
            <p:extLst>
              <p:ext uri="{DAA4B4D4-6D71-4841-9C94-3DE7FCFB9230}">
                <p14:media xmlns:p14="http://schemas.microsoft.com/office/powerpoint/2010/main" r:embed="rId2">
                  <p14:trim st="2024"/>
                </p14:media>
              </p:ext>
            </p:extLst>
          </p:nvPr>
        </p:nvPicPr>
        <p:blipFill>
          <a:blip r:embed="rId10"/>
          <a:stretch>
            <a:fillRect/>
          </a:stretch>
        </p:blipFill>
        <p:spPr>
          <a:xfrm>
            <a:off x="264337" y="1072382"/>
            <a:ext cx="1719009" cy="3063581"/>
          </a:xfrm>
          <a:prstGeom prst="rect">
            <a:avLst/>
          </a:prstGeom>
        </p:spPr>
      </p:pic>
      <p:pic>
        <p:nvPicPr>
          <p:cNvPr id="5" name="Gong_Modes_Animation">
            <a:hlinkClick r:id="" action="ppaction://media"/>
            <a:extLst>
              <a:ext uri="{FF2B5EF4-FFF2-40B4-BE49-F238E27FC236}">
                <a16:creationId xmlns:a16="http://schemas.microsoft.com/office/drawing/2014/main" id="{FAA090DB-EEC9-9C67-73D0-6E5A3D2C8B14}"/>
              </a:ext>
            </a:extLst>
          </p:cNvPr>
          <p:cNvPicPr>
            <a:picLocks noChangeAspect="1"/>
          </p:cNvPicPr>
          <p:nvPr>
            <a:videoFile r:link="rId4"/>
            <p:extLst>
              <p:ext uri="{DAA4B4D4-6D71-4841-9C94-3DE7FCFB9230}">
                <p14:media xmlns:p14="http://schemas.microsoft.com/office/powerpoint/2010/main" r:embed="rId3"/>
              </p:ext>
            </p:extLst>
          </p:nvPr>
        </p:nvPicPr>
        <p:blipFill>
          <a:blip r:embed="rId11"/>
          <a:srcRect l="18870" r="14005" b="9043"/>
          <a:stretch>
            <a:fillRect/>
          </a:stretch>
        </p:blipFill>
        <p:spPr>
          <a:xfrm>
            <a:off x="7200901" y="2790814"/>
            <a:ext cx="1210732" cy="1230423"/>
          </a:xfrm>
          <a:prstGeom prst="rect">
            <a:avLst/>
          </a:prstGeom>
        </p:spPr>
      </p:pic>
      <p:pic>
        <p:nvPicPr>
          <p:cNvPr id="6" name="gong_simulation">
            <a:hlinkClick r:id="" action="ppaction://media"/>
            <a:extLst>
              <a:ext uri="{FF2B5EF4-FFF2-40B4-BE49-F238E27FC236}">
                <a16:creationId xmlns:a16="http://schemas.microsoft.com/office/drawing/2014/main" id="{9B8BDC4C-9100-0C52-FE58-3FC06A556F08}"/>
              </a:ext>
            </a:extLst>
          </p:cNvPr>
          <p:cNvPicPr>
            <a:picLocks noChangeAspect="1"/>
          </p:cNvPicPr>
          <p:nvPr>
            <a:videoFile r:link="rId6"/>
            <p:extLst>
              <p:ext uri="{DAA4B4D4-6D71-4841-9C94-3DE7FCFB9230}">
                <p14:media xmlns:p14="http://schemas.microsoft.com/office/powerpoint/2010/main" r:embed="rId5"/>
              </p:ext>
            </p:extLst>
          </p:nvPr>
        </p:nvPicPr>
        <p:blipFill>
          <a:blip r:embed="rId12"/>
          <a:srcRect b="11466"/>
          <a:stretch>
            <a:fillRect/>
          </a:stretch>
        </p:blipFill>
        <p:spPr>
          <a:xfrm>
            <a:off x="7072533" y="1267455"/>
            <a:ext cx="1467467" cy="1299202"/>
          </a:xfrm>
          <a:prstGeom prst="rect">
            <a:avLst/>
          </a:prstGeom>
        </p:spPr>
      </p:pic>
      <p:pic>
        <p:nvPicPr>
          <p:cNvPr id="8" name="Picture 7">
            <a:extLst>
              <a:ext uri="{FF2B5EF4-FFF2-40B4-BE49-F238E27FC236}">
                <a16:creationId xmlns:a16="http://schemas.microsoft.com/office/drawing/2014/main" id="{B18B5C21-5E31-D95F-E5BA-DE0A65B9637C}"/>
              </a:ext>
            </a:extLst>
          </p:cNvPr>
          <p:cNvPicPr>
            <a:picLocks noChangeAspect="1"/>
          </p:cNvPicPr>
          <p:nvPr/>
        </p:nvPicPr>
        <p:blipFill>
          <a:blip r:embed="rId13"/>
          <a:stretch>
            <a:fillRect/>
          </a:stretch>
        </p:blipFill>
        <p:spPr>
          <a:xfrm>
            <a:off x="4868144" y="1613913"/>
            <a:ext cx="2191750" cy="2268250"/>
          </a:xfrm>
          <a:prstGeom prst="rect">
            <a:avLst/>
          </a:prstGeom>
        </p:spPr>
      </p:pic>
      <p:cxnSp>
        <p:nvCxnSpPr>
          <p:cNvPr id="9" name="Straight Connector 8">
            <a:extLst>
              <a:ext uri="{FF2B5EF4-FFF2-40B4-BE49-F238E27FC236}">
                <a16:creationId xmlns:a16="http://schemas.microsoft.com/office/drawing/2014/main" id="{DB323DB0-AB48-F333-6D45-F6FEF723737F}"/>
              </a:ext>
            </a:extLst>
          </p:cNvPr>
          <p:cNvCxnSpPr>
            <a:cxnSpLocks/>
          </p:cNvCxnSpPr>
          <p:nvPr/>
        </p:nvCxnSpPr>
        <p:spPr>
          <a:xfrm>
            <a:off x="4785352" y="1072577"/>
            <a:ext cx="0" cy="3063386"/>
          </a:xfrm>
          <a:prstGeom prst="line">
            <a:avLst/>
          </a:prstGeom>
        </p:spPr>
        <p:style>
          <a:lnRef idx="1">
            <a:schemeClr val="dk1"/>
          </a:lnRef>
          <a:fillRef idx="0">
            <a:schemeClr val="dk1"/>
          </a:fillRef>
          <a:effectRef idx="0">
            <a:schemeClr val="dk1"/>
          </a:effectRef>
          <a:fontRef idx="minor">
            <a:schemeClr val="tx1"/>
          </a:fontRef>
        </p:style>
      </p:cxnSp>
      <p:sp>
        <p:nvSpPr>
          <p:cNvPr id="11" name="Google Shape;207;p19">
            <a:extLst>
              <a:ext uri="{FF2B5EF4-FFF2-40B4-BE49-F238E27FC236}">
                <a16:creationId xmlns:a16="http://schemas.microsoft.com/office/drawing/2014/main" id="{EB03865C-36FE-81F9-9AF5-ABAD3238FB86}"/>
              </a:ext>
            </a:extLst>
          </p:cNvPr>
          <p:cNvSpPr/>
          <p:nvPr/>
        </p:nvSpPr>
        <p:spPr>
          <a:xfrm>
            <a:off x="4837758" y="4228448"/>
            <a:ext cx="3972492" cy="409800"/>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algn="ctr"/>
            <a:r>
              <a:rPr lang="en" sz="900">
                <a:latin typeface="Helvetica Neue"/>
                <a:sym typeface="Helvetica Neue"/>
              </a:rPr>
              <a:t>Replication of the gong vibration eigenmodes from the paper</a:t>
            </a:r>
            <a:endParaRPr lang="en-US" sz="1200"/>
          </a:p>
        </p:txBody>
      </p:sp>
      <p:cxnSp>
        <p:nvCxnSpPr>
          <p:cNvPr id="12" name="Connector: Elbow 11">
            <a:extLst>
              <a:ext uri="{FF2B5EF4-FFF2-40B4-BE49-F238E27FC236}">
                <a16:creationId xmlns:a16="http://schemas.microsoft.com/office/drawing/2014/main" id="{3C24A441-BEF9-4680-AB9E-20366CC8AB04}"/>
              </a:ext>
            </a:extLst>
          </p:cNvPr>
          <p:cNvCxnSpPr>
            <a:cxnSpLocks/>
            <a:endCxn id="6" idx="1"/>
          </p:cNvCxnSpPr>
          <p:nvPr/>
        </p:nvCxnSpPr>
        <p:spPr>
          <a:xfrm flipV="1">
            <a:off x="6442221" y="1917056"/>
            <a:ext cx="630312" cy="592451"/>
          </a:xfrm>
          <a:prstGeom prst="bentConnector3">
            <a:avLst>
              <a:gd name="adj1" fmla="val 50000"/>
            </a:avLst>
          </a:prstGeom>
          <a:ln>
            <a:prstDash val="lgDash"/>
            <a:tailEnd type="triangle"/>
          </a:ln>
        </p:spPr>
        <p:style>
          <a:lnRef idx="1">
            <a:schemeClr val="accent2"/>
          </a:lnRef>
          <a:fillRef idx="0">
            <a:schemeClr val="accent2"/>
          </a:fillRef>
          <a:effectRef idx="0">
            <a:schemeClr val="accent2"/>
          </a:effectRef>
          <a:fontRef idx="minor">
            <a:schemeClr val="tx1"/>
          </a:fontRef>
        </p:style>
      </p:cxnSp>
      <p:sp>
        <p:nvSpPr>
          <p:cNvPr id="18" name="Rectangle 2">
            <a:extLst>
              <a:ext uri="{FF2B5EF4-FFF2-40B4-BE49-F238E27FC236}">
                <a16:creationId xmlns:a16="http://schemas.microsoft.com/office/drawing/2014/main" id="{C84E303D-EF73-5697-4BF4-5856C30106DB}"/>
              </a:ext>
            </a:extLst>
          </p:cNvPr>
          <p:cNvSpPr>
            <a:spLocks noChangeArrowheads="1"/>
          </p:cNvSpPr>
          <p:nvPr/>
        </p:nvSpPr>
        <p:spPr bwMode="auto">
          <a:xfrm>
            <a:off x="6984878" y="1136574"/>
            <a:ext cx="1642776"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ctr" eaLnBrk="0" fontAlgn="base" hangingPunct="0"/>
            <a:r>
              <a:rPr lang="en-US" sz="800">
                <a:latin typeface="Helvetica Neue" panose="020B0604020202020204" charset="0"/>
              </a:rPr>
              <a:t>Analytical (Linear Eigenmodes)</a:t>
            </a:r>
            <a:endParaRPr lang="en-US" altLang="en-US" sz="800">
              <a:solidFill>
                <a:schemeClr val="tx1"/>
              </a:solidFill>
              <a:latin typeface="Helvetica Neue" panose="020B0604020202020204" charset="0"/>
            </a:endParaRPr>
          </a:p>
        </p:txBody>
      </p:sp>
      <p:sp>
        <p:nvSpPr>
          <p:cNvPr id="19" name="Rectangle 2">
            <a:extLst>
              <a:ext uri="{FF2B5EF4-FFF2-40B4-BE49-F238E27FC236}">
                <a16:creationId xmlns:a16="http://schemas.microsoft.com/office/drawing/2014/main" id="{E5767E45-9B6E-7BFB-4337-25F74370E399}"/>
              </a:ext>
            </a:extLst>
          </p:cNvPr>
          <p:cNvSpPr>
            <a:spLocks noChangeArrowheads="1"/>
          </p:cNvSpPr>
          <p:nvPr/>
        </p:nvSpPr>
        <p:spPr bwMode="auto">
          <a:xfrm>
            <a:off x="6716295" y="2684391"/>
            <a:ext cx="2157555"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ctr" eaLnBrk="0" fontAlgn="base" hangingPunct="0"/>
            <a:r>
              <a:rPr lang="en-US" sz="800">
                <a:latin typeface="Helvetica Neue" panose="020B0604020202020204" charset="0"/>
              </a:rPr>
              <a:t>Lab Measurement (Nonlinear Eigenmodes)</a:t>
            </a:r>
            <a:endParaRPr lang="en-US" altLang="en-US" sz="800">
              <a:solidFill>
                <a:schemeClr val="tx1"/>
              </a:solidFill>
              <a:latin typeface="Helvetica Neue" panose="020B0604020202020204" charset="0"/>
            </a:endParaRPr>
          </a:p>
        </p:txBody>
      </p:sp>
      <p:grpSp>
        <p:nvGrpSpPr>
          <p:cNvPr id="21" name="Group 20">
            <a:extLst>
              <a:ext uri="{FF2B5EF4-FFF2-40B4-BE49-F238E27FC236}">
                <a16:creationId xmlns:a16="http://schemas.microsoft.com/office/drawing/2014/main" id="{96076256-26BC-0890-3573-6366A4298BDA}"/>
              </a:ext>
            </a:extLst>
          </p:cNvPr>
          <p:cNvGrpSpPr/>
          <p:nvPr/>
        </p:nvGrpSpPr>
        <p:grpSpPr>
          <a:xfrm>
            <a:off x="106313" y="4795750"/>
            <a:ext cx="8931378" cy="267000"/>
            <a:chOff x="106313" y="4795750"/>
            <a:chExt cx="8931378" cy="267000"/>
          </a:xfrm>
        </p:grpSpPr>
        <p:sp>
          <p:nvSpPr>
            <p:cNvPr id="22" name="Google Shape;106;p15">
              <a:extLst>
                <a:ext uri="{FF2B5EF4-FFF2-40B4-BE49-F238E27FC236}">
                  <a16:creationId xmlns:a16="http://schemas.microsoft.com/office/drawing/2014/main" id="{14B8418D-2A3D-83E8-7FB5-9CDD98C1F353}"/>
                </a:ext>
              </a:extLst>
            </p:cNvPr>
            <p:cNvSpPr/>
            <p:nvPr/>
          </p:nvSpPr>
          <p:spPr>
            <a:xfrm>
              <a:off x="106313"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 sz="900" b="1">
                  <a:solidFill>
                    <a:schemeClr val="dk1"/>
                  </a:solidFill>
                  <a:latin typeface="Helvetica Neue"/>
                  <a:sym typeface="Helvetica Neue"/>
                </a:rPr>
                <a:t>Introduction</a:t>
              </a:r>
              <a:endParaRPr sz="900" b="1">
                <a:solidFill>
                  <a:schemeClr val="dk1"/>
                </a:solidFill>
                <a:latin typeface="Helvetica Neue"/>
                <a:sym typeface="Helvetica Neue"/>
              </a:endParaRPr>
            </a:p>
          </p:txBody>
        </p:sp>
        <p:sp>
          <p:nvSpPr>
            <p:cNvPr id="23" name="Google Shape;107;p15">
              <a:extLst>
                <a:ext uri="{FF2B5EF4-FFF2-40B4-BE49-F238E27FC236}">
                  <a16:creationId xmlns:a16="http://schemas.microsoft.com/office/drawing/2014/main" id="{94065F4C-D3EC-DC09-C362-AB4841764251}"/>
                </a:ext>
              </a:extLst>
            </p:cNvPr>
            <p:cNvSpPr/>
            <p:nvPr/>
          </p:nvSpPr>
          <p:spPr>
            <a:xfrm>
              <a:off x="3111004"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algn="ctr"/>
              <a:r>
                <a:rPr lang="en-ID" sz="900" b="1">
                  <a:solidFill>
                    <a:schemeClr val="dk1"/>
                  </a:solidFill>
                  <a:latin typeface="Helvetica Neue"/>
                  <a:sym typeface="Helvetica Neue"/>
                </a:rPr>
                <a:t>Summary of Experiments</a:t>
              </a:r>
            </a:p>
          </p:txBody>
        </p:sp>
        <p:sp>
          <p:nvSpPr>
            <p:cNvPr id="24" name="Google Shape;108;p15">
              <a:extLst>
                <a:ext uri="{FF2B5EF4-FFF2-40B4-BE49-F238E27FC236}">
                  <a16:creationId xmlns:a16="http://schemas.microsoft.com/office/drawing/2014/main" id="{ED0DB0A0-3B0B-B789-963B-82CF83CF8CAC}"/>
                </a:ext>
              </a:extLst>
            </p:cNvPr>
            <p:cNvSpPr/>
            <p:nvPr/>
          </p:nvSpPr>
          <p:spPr>
            <a:xfrm>
              <a:off x="6115691" y="4795750"/>
              <a:ext cx="2922000" cy="267000"/>
            </a:xfrm>
            <a:prstGeom prst="roundRect">
              <a:avLst>
                <a:gd name="adj" fmla="val 16667"/>
              </a:avLst>
            </a:prstGeom>
            <a:solidFill>
              <a:srgbClr val="980000"/>
            </a:solidFill>
            <a:ln>
              <a:noFill/>
            </a:ln>
          </p:spPr>
          <p:txBody>
            <a:bodyPr spcFirstLastPara="1" wrap="square" lIns="45725" tIns="45725" rIns="45725" bIns="45725" anchor="ctr" anchorCtr="0">
              <a:noAutofit/>
            </a:bodyPr>
            <a:lstStyle/>
            <a:p>
              <a:pPr algn="ctr"/>
              <a:r>
                <a:rPr lang="en" sz="900" b="1">
                  <a:solidFill>
                    <a:schemeClr val="lt1"/>
                  </a:solidFill>
                  <a:latin typeface="Helvetica Neue"/>
                  <a:sym typeface="Helvetica Neue"/>
                </a:rPr>
                <a:t>Analysis &amp; Discussion</a:t>
              </a:r>
              <a:endParaRPr sz="900" b="1">
                <a:solidFill>
                  <a:schemeClr val="lt1"/>
                </a:solidFill>
                <a:latin typeface="Helvetica Neue"/>
                <a:sym typeface="Helvetica Neue"/>
              </a:endParaRPr>
            </a:p>
          </p:txBody>
        </p:sp>
      </p:grpSp>
    </p:spTree>
    <p:extLst>
      <p:ext uri="{BB962C8B-B14F-4D97-AF65-F5344CB8AC3E}">
        <p14:creationId xmlns:p14="http://schemas.microsoft.com/office/powerpoint/2010/main" val="274130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4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2666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restart="whenNotActive" fill="hold" evtFilter="cancelBubble" nodeType="interactiveSeq">
                <p:stCondLst>
                  <p:cond evt="onClick" delay="0">
                    <p:tgtEl>
                      <p:spTgt spid="4"/>
                    </p:tgtEl>
                  </p:cond>
                </p:stCondLst>
                <p:endSync evt="end" delay="0">
                  <p:rtn val="all"/>
                </p:endSync>
                <p:childTnLst>
                  <p:par>
                    <p:cTn id="16" fill="hold">
                      <p:stCondLst>
                        <p:cond delay="0"/>
                      </p:stCondLst>
                      <p:childTnLst>
                        <p:par>
                          <p:cTn id="17" fill="hold">
                            <p:stCondLst>
                              <p:cond delay="0"/>
                            </p:stCondLst>
                            <p:childTnLst>
                              <p:par>
                                <p:cTn id="18" presetID="2" presetClass="mediacall" presetSubtype="0" fill="hold" nodeType="clickEffect">
                                  <p:stCondLst>
                                    <p:cond delay="0"/>
                                  </p:stCondLst>
                                  <p:childTnLst>
                                    <p:cmd type="call" cmd="togglePause">
                                      <p:cBhvr>
                                        <p:cTn id="19" dur="1" fill="hold"/>
                                        <p:tgtEl>
                                          <p:spTgt spid="4"/>
                                        </p:tgtEl>
                                      </p:cBhvr>
                                    </p:cmd>
                                  </p:childTnLst>
                                </p:cTn>
                              </p:par>
                            </p:childTnLst>
                          </p:cTn>
                        </p:par>
                      </p:childTnLst>
                    </p:cTn>
                  </p:par>
                </p:childTnLst>
              </p:cTn>
              <p:nextCondLst>
                <p:cond evt="onClick" delay="0">
                  <p:tgtEl>
                    <p:spTgt spid="4"/>
                  </p:tgtEl>
                </p:cond>
              </p:nextCondLst>
            </p:seq>
            <p:video>
              <p:cMediaNode vol="80000">
                <p:cTn id="20" fill="hold" display="0">
                  <p:stCondLst>
                    <p:cond delay="indefinite"/>
                  </p:stCondLst>
                </p:cTn>
                <p:tgtEl>
                  <p:spTgt spid="4"/>
                </p:tgtEl>
              </p:cMediaNode>
            </p:video>
            <p:seq concurrent="1" nextAc="seek">
              <p:cTn id="21" restart="whenNotActive" fill="hold" evtFilter="cancelBubble" nodeType="interactiveSeq">
                <p:stCondLst>
                  <p:cond evt="onClick" delay="0">
                    <p:tgtEl>
                      <p:spTgt spid="5"/>
                    </p:tgtEl>
                  </p:cond>
                </p:stCondLst>
                <p:endSync evt="end" delay="0">
                  <p:rtn val="all"/>
                </p:endSync>
                <p:childTnLst>
                  <p:par>
                    <p:cTn id="22" fill="hold">
                      <p:stCondLst>
                        <p:cond delay="0"/>
                      </p:stCondLst>
                      <p:childTnLst>
                        <p:par>
                          <p:cTn id="23" fill="hold">
                            <p:stCondLst>
                              <p:cond delay="0"/>
                            </p:stCondLst>
                            <p:childTnLst>
                              <p:par>
                                <p:cTn id="24" presetID="2" presetClass="mediacall" presetSubtype="0" fill="hold" nodeType="clickEffect">
                                  <p:stCondLst>
                                    <p:cond delay="0"/>
                                  </p:stCondLst>
                                  <p:childTnLst>
                                    <p:cmd type="call" cmd="togglePause">
                                      <p:cBhvr>
                                        <p:cTn id="25" dur="1" fill="hold"/>
                                        <p:tgtEl>
                                          <p:spTgt spid="5"/>
                                        </p:tgtEl>
                                      </p:cBhvr>
                                    </p:cmd>
                                  </p:childTnLst>
                                </p:cTn>
                              </p:par>
                            </p:childTnLst>
                          </p:cTn>
                        </p:par>
                      </p:childTnLst>
                    </p:cTn>
                  </p:par>
                </p:childTnLst>
              </p:cTn>
              <p:nextCondLst>
                <p:cond evt="onClick" delay="0">
                  <p:tgtEl>
                    <p:spTgt spid="5"/>
                  </p:tgtEl>
                </p:cond>
              </p:nextCondLst>
            </p:seq>
            <p:seq concurrent="1" nextAc="seek">
              <p:cTn id="26" restart="whenNotActive" fill="hold" evtFilter="cancelBubble" nodeType="interactiveSeq">
                <p:stCondLst>
                  <p:cond evt="onClick" delay="0">
                    <p:tgtEl>
                      <p:spTgt spid="6"/>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6"/>
                                        </p:tgtEl>
                                      </p:cBhvr>
                                    </p:cmd>
                                  </p:childTnLst>
                                </p:cTn>
                              </p:par>
                            </p:childTnLst>
                          </p:cTn>
                        </p:par>
                      </p:childTnLst>
                    </p:cTn>
                  </p:par>
                </p:childTnLst>
              </p:cTn>
              <p:nextCondLst>
                <p:cond evt="onClick" delay="0">
                  <p:tgtEl>
                    <p:spTgt spid="6"/>
                  </p:tgtEl>
                </p:cond>
              </p:nextCondLst>
            </p:seq>
            <p:video>
              <p:cMediaNode vol="80000">
                <p:cTn id="31" fill="hold" display="0">
                  <p:stCondLst>
                    <p:cond delay="indefinite"/>
                  </p:stCondLst>
                </p:cTn>
                <p:tgtEl>
                  <p:spTgt spid="5"/>
                </p:tgtEl>
              </p:cMediaNode>
            </p:video>
            <p:video>
              <p:cMediaNode vol="80000">
                <p:cTn id="32" fill="hold" display="0">
                  <p:stCondLst>
                    <p:cond delay="indefinite"/>
                  </p:stCondLst>
                </p:cTn>
                <p:tgtEl>
                  <p:spTgt spid="6"/>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C7EEA413-B1C3-730B-F4EE-3B8BBAE99A48}"/>
            </a:ext>
          </a:extLst>
        </p:cNvPr>
        <p:cNvGrpSpPr/>
        <p:nvPr/>
      </p:nvGrpSpPr>
      <p:grpSpPr>
        <a:xfrm>
          <a:off x="0" y="0"/>
          <a:ext cx="0" cy="0"/>
          <a:chOff x="0" y="0"/>
          <a:chExt cx="0" cy="0"/>
        </a:xfrm>
      </p:grpSpPr>
      <p:sp>
        <p:nvSpPr>
          <p:cNvPr id="204" name="Google Shape;204;p19">
            <a:extLst>
              <a:ext uri="{FF2B5EF4-FFF2-40B4-BE49-F238E27FC236}">
                <a16:creationId xmlns:a16="http://schemas.microsoft.com/office/drawing/2014/main" id="{52703173-592C-59D7-C651-575840990A10}"/>
              </a:ext>
            </a:extLst>
          </p:cNvPr>
          <p:cNvSpPr txBox="1"/>
          <p:nvPr/>
        </p:nvSpPr>
        <p:spPr>
          <a:xfrm>
            <a:off x="264338" y="663750"/>
            <a:ext cx="4780800" cy="2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1700" b="1" u="sng">
              <a:solidFill>
                <a:srgbClr val="2E3482"/>
              </a:solidFill>
              <a:latin typeface="Helvetica Neue"/>
              <a:ea typeface="Helvetica Neue"/>
              <a:cs typeface="Helvetica Neue"/>
              <a:sym typeface="Helvetica Neue"/>
            </a:endParaRPr>
          </a:p>
        </p:txBody>
      </p:sp>
      <p:sp>
        <p:nvSpPr>
          <p:cNvPr id="206" name="Google Shape;206;p19">
            <a:extLst>
              <a:ext uri="{FF2B5EF4-FFF2-40B4-BE49-F238E27FC236}">
                <a16:creationId xmlns:a16="http://schemas.microsoft.com/office/drawing/2014/main" id="{7790FEF8-0E0D-A09C-A1DF-6ED6E97AB60B}"/>
              </a:ext>
            </a:extLst>
          </p:cNvPr>
          <p:cNvSpPr/>
          <p:nvPr/>
        </p:nvSpPr>
        <p:spPr>
          <a:xfrm>
            <a:off x="270151" y="718400"/>
            <a:ext cx="8540100" cy="270600"/>
          </a:xfrm>
          <a:prstGeom prst="rect">
            <a:avLst/>
          </a:prstGeom>
          <a:solidFill>
            <a:srgbClr val="980000"/>
          </a:solidFill>
          <a:ln>
            <a:noFill/>
          </a:ln>
        </p:spPr>
        <p:txBody>
          <a:bodyPr spcFirstLastPara="1" wrap="square" lIns="45725" tIns="45725" rIns="45725" bIns="45725" anchor="ctr" anchorCtr="0">
            <a:noAutofit/>
          </a:bodyPr>
          <a:lstStyle/>
          <a:p>
            <a:pPr algn="ctr"/>
            <a:r>
              <a:rPr lang="en" sz="900" b="1">
                <a:solidFill>
                  <a:schemeClr val="lt1"/>
                </a:solidFill>
                <a:latin typeface="Helvetica Neue"/>
                <a:sym typeface="Helvetica Neue"/>
              </a:rPr>
              <a:t>Replication of Work</a:t>
            </a:r>
            <a:endParaRPr lang="en-US" sz="900" b="1">
              <a:solidFill>
                <a:schemeClr val="lt1"/>
              </a:solidFill>
              <a:latin typeface="Helvetica Neue"/>
            </a:endParaRPr>
          </a:p>
        </p:txBody>
      </p:sp>
      <p:sp>
        <p:nvSpPr>
          <p:cNvPr id="207" name="Google Shape;207;p19">
            <a:extLst>
              <a:ext uri="{FF2B5EF4-FFF2-40B4-BE49-F238E27FC236}">
                <a16:creationId xmlns:a16="http://schemas.microsoft.com/office/drawing/2014/main" id="{AD3E357E-74A7-1E79-36FD-549DB71AE17B}"/>
              </a:ext>
            </a:extLst>
          </p:cNvPr>
          <p:cNvSpPr/>
          <p:nvPr/>
        </p:nvSpPr>
        <p:spPr>
          <a:xfrm>
            <a:off x="270150" y="4228625"/>
            <a:ext cx="8540100" cy="409800"/>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algn="ctr"/>
            <a:r>
              <a:rPr lang="en" sz="1000">
                <a:latin typeface="Helvetica Neue"/>
                <a:sym typeface="Helvetica Neue"/>
              </a:rPr>
              <a:t>Chaos analysis</a:t>
            </a:r>
            <a:endParaRPr lang="en-US"/>
          </a:p>
        </p:txBody>
      </p:sp>
      <p:sp>
        <p:nvSpPr>
          <p:cNvPr id="208" name="Google Shape;208;p19">
            <a:extLst>
              <a:ext uri="{FF2B5EF4-FFF2-40B4-BE49-F238E27FC236}">
                <a16:creationId xmlns:a16="http://schemas.microsoft.com/office/drawing/2014/main" id="{BCA54626-388C-5BC5-585F-68EDB2D04205}"/>
              </a:ext>
            </a:extLst>
          </p:cNvPr>
          <p:cNvSpPr/>
          <p:nvPr/>
        </p:nvSpPr>
        <p:spPr>
          <a:xfrm>
            <a:off x="106313"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None/>
            </a:pPr>
            <a:r>
              <a:rPr lang="en" sz="900" b="1">
                <a:solidFill>
                  <a:schemeClr val="dk1"/>
                </a:solidFill>
                <a:latin typeface="Helvetica Neue"/>
                <a:ea typeface="Helvetica Neue"/>
                <a:cs typeface="Helvetica Neue"/>
                <a:sym typeface="Helvetica Neue"/>
              </a:rPr>
              <a:t>Background</a:t>
            </a:r>
            <a:endParaRPr sz="900" b="1">
              <a:solidFill>
                <a:schemeClr val="dk1"/>
              </a:solidFill>
              <a:latin typeface="Helvetica Neue"/>
              <a:ea typeface="Helvetica Neue"/>
              <a:cs typeface="Helvetica Neue"/>
              <a:sym typeface="Helvetica Neue"/>
            </a:endParaRPr>
          </a:p>
        </p:txBody>
      </p:sp>
      <p:sp>
        <p:nvSpPr>
          <p:cNvPr id="209" name="Google Shape;209;p19">
            <a:extLst>
              <a:ext uri="{FF2B5EF4-FFF2-40B4-BE49-F238E27FC236}">
                <a16:creationId xmlns:a16="http://schemas.microsoft.com/office/drawing/2014/main" id="{8060BAFA-0483-76E9-2421-B95DA02A468D}"/>
              </a:ext>
            </a:extLst>
          </p:cNvPr>
          <p:cNvSpPr/>
          <p:nvPr/>
        </p:nvSpPr>
        <p:spPr>
          <a:xfrm>
            <a:off x="3111004" y="4795750"/>
            <a:ext cx="2922000" cy="267000"/>
          </a:xfrm>
          <a:prstGeom prst="roundRect">
            <a:avLst>
              <a:gd name="adj" fmla="val 16667"/>
            </a:avLst>
          </a:prstGeom>
          <a:solidFill>
            <a:srgbClr val="F3F3F3"/>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None/>
            </a:pPr>
            <a:r>
              <a:rPr lang="en" sz="900" b="1">
                <a:solidFill>
                  <a:schemeClr val="dk1"/>
                </a:solidFill>
                <a:latin typeface="Helvetica Neue"/>
                <a:ea typeface="Helvetica Neue"/>
                <a:cs typeface="Helvetica Neue"/>
                <a:sym typeface="Helvetica Neue"/>
              </a:rPr>
              <a:t>Methodology</a:t>
            </a:r>
            <a:endParaRPr sz="900" b="1">
              <a:solidFill>
                <a:schemeClr val="dk1"/>
              </a:solidFill>
              <a:latin typeface="Helvetica Neue"/>
              <a:ea typeface="Helvetica Neue"/>
              <a:cs typeface="Helvetica Neue"/>
              <a:sym typeface="Helvetica Neue"/>
            </a:endParaRPr>
          </a:p>
        </p:txBody>
      </p:sp>
      <p:sp>
        <p:nvSpPr>
          <p:cNvPr id="210" name="Google Shape;210;p19">
            <a:extLst>
              <a:ext uri="{FF2B5EF4-FFF2-40B4-BE49-F238E27FC236}">
                <a16:creationId xmlns:a16="http://schemas.microsoft.com/office/drawing/2014/main" id="{80F7F127-6EEC-334F-AC10-11A1632DEA0A}"/>
              </a:ext>
            </a:extLst>
          </p:cNvPr>
          <p:cNvSpPr/>
          <p:nvPr/>
        </p:nvSpPr>
        <p:spPr>
          <a:xfrm>
            <a:off x="270150" y="1067263"/>
            <a:ext cx="8540100" cy="306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a:latin typeface="Helvetica Neue"/>
              <a:ea typeface="Helvetica Neue"/>
              <a:cs typeface="Helvetica Neue"/>
              <a:sym typeface="Helvetica Neue"/>
            </a:endParaRPr>
          </a:p>
        </p:txBody>
      </p:sp>
      <p:sp>
        <p:nvSpPr>
          <p:cNvPr id="211" name="Google Shape;211;p19">
            <a:extLst>
              <a:ext uri="{FF2B5EF4-FFF2-40B4-BE49-F238E27FC236}">
                <a16:creationId xmlns:a16="http://schemas.microsoft.com/office/drawing/2014/main" id="{BC3A8859-9A23-462C-5BE2-5DE9DA6D727F}"/>
              </a:ext>
            </a:extLst>
          </p:cNvPr>
          <p:cNvSpPr/>
          <p:nvPr/>
        </p:nvSpPr>
        <p:spPr>
          <a:xfrm>
            <a:off x="6115691" y="4795750"/>
            <a:ext cx="2922000" cy="267000"/>
          </a:xfrm>
          <a:prstGeom prst="roundRect">
            <a:avLst>
              <a:gd name="adj" fmla="val 16667"/>
            </a:avLst>
          </a:prstGeom>
          <a:solidFill>
            <a:srgbClr val="980000"/>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None/>
            </a:pPr>
            <a:r>
              <a:rPr lang="en" sz="900" b="1">
                <a:solidFill>
                  <a:schemeClr val="lt1"/>
                </a:solidFill>
                <a:latin typeface="Helvetica Neue"/>
                <a:ea typeface="Helvetica Neue"/>
                <a:cs typeface="Helvetica Neue"/>
                <a:sym typeface="Helvetica Neue"/>
              </a:rPr>
              <a:t>Analysis &amp; Discussion</a:t>
            </a:r>
            <a:endParaRPr sz="900" b="1">
              <a:solidFill>
                <a:schemeClr val="lt1"/>
              </a:solidFill>
              <a:latin typeface="Helvetica Neue"/>
              <a:ea typeface="Helvetica Neue"/>
              <a:cs typeface="Helvetica Neue"/>
              <a:sym typeface="Helvetica Neue"/>
            </a:endParaRPr>
          </a:p>
        </p:txBody>
      </p:sp>
      <p:pic>
        <p:nvPicPr>
          <p:cNvPr id="3" name="Picture 2">
            <a:extLst>
              <a:ext uri="{FF2B5EF4-FFF2-40B4-BE49-F238E27FC236}">
                <a16:creationId xmlns:a16="http://schemas.microsoft.com/office/drawing/2014/main" id="{2E54F354-FC8E-401B-480B-171FD881255E}"/>
              </a:ext>
            </a:extLst>
          </p:cNvPr>
          <p:cNvPicPr>
            <a:picLocks noChangeAspect="1"/>
          </p:cNvPicPr>
          <p:nvPr/>
        </p:nvPicPr>
        <p:blipFill>
          <a:blip r:embed="rId5"/>
          <a:stretch>
            <a:fillRect/>
          </a:stretch>
        </p:blipFill>
        <p:spPr>
          <a:xfrm>
            <a:off x="541729" y="2683456"/>
            <a:ext cx="2586117" cy="1451164"/>
          </a:xfrm>
          <a:prstGeom prst="rect">
            <a:avLst/>
          </a:prstGeom>
        </p:spPr>
      </p:pic>
      <p:pic>
        <p:nvPicPr>
          <p:cNvPr id="4" name="Picture 3">
            <a:extLst>
              <a:ext uri="{FF2B5EF4-FFF2-40B4-BE49-F238E27FC236}">
                <a16:creationId xmlns:a16="http://schemas.microsoft.com/office/drawing/2014/main" id="{213E9127-A669-70C3-8931-2C1702B27523}"/>
              </a:ext>
            </a:extLst>
          </p:cNvPr>
          <p:cNvPicPr>
            <a:picLocks noChangeAspect="1"/>
          </p:cNvPicPr>
          <p:nvPr/>
        </p:nvPicPr>
        <p:blipFill>
          <a:blip r:embed="rId6"/>
          <a:stretch>
            <a:fillRect/>
          </a:stretch>
        </p:blipFill>
        <p:spPr>
          <a:xfrm>
            <a:off x="356326" y="1096924"/>
            <a:ext cx="2754570" cy="1587614"/>
          </a:xfrm>
          <a:prstGeom prst="rect">
            <a:avLst/>
          </a:prstGeom>
        </p:spPr>
      </p:pic>
      <p:pic>
        <p:nvPicPr>
          <p:cNvPr id="10" name="Picture 9">
            <a:extLst>
              <a:ext uri="{FF2B5EF4-FFF2-40B4-BE49-F238E27FC236}">
                <a16:creationId xmlns:a16="http://schemas.microsoft.com/office/drawing/2014/main" id="{3DE8E019-E66A-301E-719F-D97B9A67D427}"/>
              </a:ext>
            </a:extLst>
          </p:cNvPr>
          <p:cNvPicPr>
            <a:picLocks noChangeAspect="1"/>
          </p:cNvPicPr>
          <p:nvPr/>
        </p:nvPicPr>
        <p:blipFill>
          <a:blip r:embed="rId7"/>
          <a:stretch>
            <a:fillRect/>
          </a:stretch>
        </p:blipFill>
        <p:spPr>
          <a:xfrm>
            <a:off x="3311809" y="1242760"/>
            <a:ext cx="2738885" cy="2533163"/>
          </a:xfrm>
          <a:prstGeom prst="rect">
            <a:avLst/>
          </a:prstGeom>
        </p:spPr>
      </p:pic>
      <p:pic>
        <p:nvPicPr>
          <p:cNvPr id="11" name="cash_5">
            <a:hlinkClick r:id="" action="ppaction://media"/>
            <a:extLst>
              <a:ext uri="{FF2B5EF4-FFF2-40B4-BE49-F238E27FC236}">
                <a16:creationId xmlns:a16="http://schemas.microsoft.com/office/drawing/2014/main" id="{62749F1E-1D0B-EEAE-2E17-CF88C0421ED0}"/>
              </a:ext>
            </a:extLst>
          </p:cNvPr>
          <p:cNvPicPr>
            <a:picLocks noChangeAspect="1"/>
          </p:cNvPicPr>
          <p:nvPr>
            <a:audioFile r:link="rId1"/>
            <p:extLst>
              <p:ext uri="{DAA4B4D4-6D71-4841-9C94-3DE7FCFB9230}">
                <p14:media xmlns:p14="http://schemas.microsoft.com/office/powerpoint/2010/main" r:embed="rId2">
                  <p14:trim end="19739.9583"/>
                </p14:media>
              </p:ext>
            </p:extLst>
          </p:nvPr>
        </p:nvPicPr>
        <p:blipFill>
          <a:blip r:embed="rId8"/>
          <a:stretch>
            <a:fillRect/>
          </a:stretch>
        </p:blipFill>
        <p:spPr>
          <a:xfrm>
            <a:off x="6720380" y="3593932"/>
            <a:ext cx="304800" cy="304800"/>
          </a:xfrm>
          <a:prstGeom prst="rect">
            <a:avLst/>
          </a:prstGeom>
        </p:spPr>
      </p:pic>
      <p:pic>
        <p:nvPicPr>
          <p:cNvPr id="13" name="Picture 12">
            <a:extLst>
              <a:ext uri="{FF2B5EF4-FFF2-40B4-BE49-F238E27FC236}">
                <a16:creationId xmlns:a16="http://schemas.microsoft.com/office/drawing/2014/main" id="{A23A5F98-12DB-397F-3F17-7095B85DB5BD}"/>
              </a:ext>
            </a:extLst>
          </p:cNvPr>
          <p:cNvPicPr>
            <a:picLocks noChangeAspect="1"/>
          </p:cNvPicPr>
          <p:nvPr/>
        </p:nvPicPr>
        <p:blipFill>
          <a:blip r:embed="rId9"/>
          <a:stretch>
            <a:fillRect/>
          </a:stretch>
        </p:blipFill>
        <p:spPr>
          <a:xfrm>
            <a:off x="6064470" y="1096924"/>
            <a:ext cx="2670226" cy="2439287"/>
          </a:xfrm>
          <a:prstGeom prst="rect">
            <a:avLst/>
          </a:prstGeom>
        </p:spPr>
      </p:pic>
    </p:spTree>
    <p:extLst>
      <p:ext uri="{BB962C8B-B14F-4D97-AF65-F5344CB8AC3E}">
        <p14:creationId xmlns:p14="http://schemas.microsoft.com/office/powerpoint/2010/main" val="1963398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14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0"/>
          <p:cNvSpPr/>
          <p:nvPr/>
        </p:nvSpPr>
        <p:spPr>
          <a:xfrm>
            <a:off x="1743413" y="1587575"/>
            <a:ext cx="6601800" cy="6195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lvl="0" algn="ctr"/>
            <a:r>
              <a:rPr lang="en-US" sz="1000">
                <a:latin typeface="Helvetica Neue" panose="020B0604020202020204" charset="0"/>
              </a:rPr>
              <a:t>The nonlinear coupling mechanisms responsible for the characteristic sounds of cymbals and gongs, using thin shallow spherical shells as an analogue and indicating that the same approach can be extended to more complex geometries, provided their coupling coefficients are computed numerically.</a:t>
            </a:r>
            <a:endParaRPr sz="500">
              <a:latin typeface="Helvetica Neue" panose="020B0604020202020204" charset="0"/>
              <a:ea typeface="Helvetica Neue"/>
              <a:cs typeface="Helvetica Neue"/>
              <a:sym typeface="Helvetica Neue"/>
            </a:endParaRPr>
          </a:p>
        </p:txBody>
      </p:sp>
      <p:sp>
        <p:nvSpPr>
          <p:cNvPr id="228" name="Google Shape;228;p20"/>
          <p:cNvSpPr/>
          <p:nvPr/>
        </p:nvSpPr>
        <p:spPr>
          <a:xfrm>
            <a:off x="798538" y="1587600"/>
            <a:ext cx="945000" cy="619500"/>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1</a:t>
            </a:r>
            <a:endParaRPr sz="1200" b="1">
              <a:solidFill>
                <a:srgbClr val="FFFFFF"/>
              </a:solidFill>
              <a:latin typeface="Helvetica Neue"/>
              <a:ea typeface="Helvetica Neue"/>
              <a:cs typeface="Helvetica Neue"/>
              <a:sym typeface="Helvetica Neue"/>
            </a:endParaRPr>
          </a:p>
        </p:txBody>
      </p:sp>
      <p:sp>
        <p:nvSpPr>
          <p:cNvPr id="229" name="Google Shape;229;p20"/>
          <p:cNvSpPr/>
          <p:nvPr/>
        </p:nvSpPr>
        <p:spPr>
          <a:xfrm>
            <a:off x="1743506" y="2521994"/>
            <a:ext cx="6601800" cy="619500"/>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lvl="0" algn="ctr"/>
            <a:r>
              <a:rPr lang="en-US" sz="1000">
                <a:latin typeface="Helvetica Neue" panose="020B0604020202020204" charset="0"/>
              </a:rPr>
              <a:t>Both experimentally and theoretically, shows that energy transfer between modes is driven by quadratic nonlinearity due to shell curvature and is governed by precise frequency rules, with only a limited number of degrees of freedom needed to produce the observed instabilities.</a:t>
            </a:r>
            <a:endParaRPr sz="500">
              <a:latin typeface="Helvetica Neue" panose="020B0604020202020204" charset="0"/>
              <a:ea typeface="Helvetica Neue"/>
              <a:cs typeface="Helvetica Neue"/>
              <a:sym typeface="Helvetica Neue"/>
            </a:endParaRPr>
          </a:p>
        </p:txBody>
      </p:sp>
      <p:sp>
        <p:nvSpPr>
          <p:cNvPr id="230" name="Google Shape;230;p20"/>
          <p:cNvSpPr/>
          <p:nvPr/>
        </p:nvSpPr>
        <p:spPr>
          <a:xfrm>
            <a:off x="798506" y="2523981"/>
            <a:ext cx="945000" cy="619500"/>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2</a:t>
            </a:r>
            <a:endParaRPr sz="1200" b="1">
              <a:solidFill>
                <a:srgbClr val="FFFFFF"/>
              </a:solidFill>
              <a:latin typeface="Helvetica Neue"/>
              <a:ea typeface="Helvetica Neue"/>
              <a:cs typeface="Helvetica Neue"/>
              <a:sym typeface="Helvetica Neue"/>
            </a:endParaRPr>
          </a:p>
        </p:txBody>
      </p:sp>
      <p:sp>
        <p:nvSpPr>
          <p:cNvPr id="231" name="Google Shape;231;p20"/>
          <p:cNvSpPr/>
          <p:nvPr/>
        </p:nvSpPr>
        <p:spPr>
          <a:xfrm>
            <a:off x="798600" y="3458375"/>
            <a:ext cx="945000" cy="619500"/>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3</a:t>
            </a:r>
            <a:endParaRPr sz="1200" b="1">
              <a:solidFill>
                <a:srgbClr val="FFFFFF"/>
              </a:solidFill>
              <a:latin typeface="Helvetica Neue"/>
              <a:ea typeface="Helvetica Neue"/>
              <a:cs typeface="Helvetica Neue"/>
              <a:sym typeface="Helvetica Neue"/>
            </a:endParaRPr>
          </a:p>
        </p:txBody>
      </p:sp>
      <p:sp>
        <p:nvSpPr>
          <p:cNvPr id="237" name="Google Shape;237;p20"/>
          <p:cNvSpPr txBox="1"/>
          <p:nvPr/>
        </p:nvSpPr>
        <p:spPr>
          <a:xfrm>
            <a:off x="264338" y="663750"/>
            <a:ext cx="4780800" cy="2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700" b="1" u="sng">
                <a:solidFill>
                  <a:srgbClr val="980000"/>
                </a:solidFill>
                <a:latin typeface="Helvetica Neue"/>
                <a:ea typeface="Helvetica Neue"/>
                <a:cs typeface="Helvetica Neue"/>
                <a:sym typeface="Helvetica Neue"/>
              </a:rPr>
              <a:t>Conclusion</a:t>
            </a:r>
            <a:endParaRPr sz="1700" b="1" u="sng">
              <a:solidFill>
                <a:srgbClr val="980000"/>
              </a:solidFill>
              <a:latin typeface="Helvetica Neue"/>
              <a:ea typeface="Helvetica Neue"/>
              <a:cs typeface="Helvetica Neue"/>
              <a:sym typeface="Helvetica Neue"/>
            </a:endParaRPr>
          </a:p>
        </p:txBody>
      </p:sp>
      <p:sp>
        <p:nvSpPr>
          <p:cNvPr id="238" name="Google Shape;238;p20"/>
          <p:cNvSpPr/>
          <p:nvPr/>
        </p:nvSpPr>
        <p:spPr>
          <a:xfrm>
            <a:off x="1743600" y="3458375"/>
            <a:ext cx="6601800" cy="619500"/>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pPr lvl="0" algn="ctr"/>
            <a:r>
              <a:rPr lang="en-US" sz="1000">
                <a:latin typeface="Helvetica Neue" panose="020B0604020202020204" charset="0"/>
              </a:rPr>
              <a:t>Estimations of attractor dimension and Lyapunov exponents confirm that strongly excited gongs and cymbals exhibit chaotic dynamics.</a:t>
            </a:r>
            <a:endParaRPr sz="500">
              <a:latin typeface="Helvetica Neue" panose="020B0604020202020204" charset="0"/>
              <a:ea typeface="Helvetica Neue"/>
              <a:cs typeface="Helvetica Neue"/>
              <a:sym typeface="Helvetica Neue"/>
            </a:endParaRPr>
          </a:p>
        </p:txBody>
      </p:sp>
      <p:sp>
        <p:nvSpPr>
          <p:cNvPr id="2" name="Google Shape;97;p14">
            <a:extLst>
              <a:ext uri="{FF2B5EF4-FFF2-40B4-BE49-F238E27FC236}">
                <a16:creationId xmlns:a16="http://schemas.microsoft.com/office/drawing/2014/main" id="{4C0B5523-EEA7-4E4B-0631-1301C3852216}"/>
              </a:ext>
            </a:extLst>
          </p:cNvPr>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dirty="0">
                <a:solidFill>
                  <a:srgbClr val="666666"/>
                </a:solidFill>
                <a:latin typeface="Helvetica Neue"/>
                <a:ea typeface="Helvetica Neue"/>
                <a:cs typeface="Helvetica Neue"/>
                <a:sym typeface="Helvetica Neue"/>
              </a:rPr>
              <a:t>9/10</a:t>
            </a:r>
            <a:br>
              <a:rPr lang="en" sz="800" dirty="0">
                <a:solidFill>
                  <a:srgbClr val="666666"/>
                </a:solidFill>
                <a:latin typeface="Helvetica Neue"/>
                <a:ea typeface="Helvetica Neue"/>
                <a:cs typeface="Helvetica Neue"/>
                <a:sym typeface="Helvetica Neue"/>
              </a:rPr>
            </a:br>
            <a:r>
              <a:rPr lang="en-US" sz="800" dirty="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dirty="0">
              <a:solidFill>
                <a:srgbClr val="666666"/>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32E54510-234E-898C-FD2A-6FB377C017DE}"/>
            </a:ext>
          </a:extLst>
        </p:cNvPr>
        <p:cNvGrpSpPr/>
        <p:nvPr/>
      </p:nvGrpSpPr>
      <p:grpSpPr>
        <a:xfrm>
          <a:off x="0" y="0"/>
          <a:ext cx="0" cy="0"/>
          <a:chOff x="0" y="0"/>
          <a:chExt cx="0" cy="0"/>
        </a:xfrm>
      </p:grpSpPr>
      <p:sp>
        <p:nvSpPr>
          <p:cNvPr id="227" name="Google Shape;227;p20">
            <a:extLst>
              <a:ext uri="{FF2B5EF4-FFF2-40B4-BE49-F238E27FC236}">
                <a16:creationId xmlns:a16="http://schemas.microsoft.com/office/drawing/2014/main" id="{C3086968-3701-38DB-C887-670B0B7B9627}"/>
              </a:ext>
            </a:extLst>
          </p:cNvPr>
          <p:cNvSpPr/>
          <p:nvPr/>
        </p:nvSpPr>
        <p:spPr>
          <a:xfrm>
            <a:off x="1743413" y="1587575"/>
            <a:ext cx="6601800" cy="6195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900" dirty="0">
              <a:latin typeface="Helvetica Neue"/>
              <a:ea typeface="Helvetica Neue"/>
              <a:cs typeface="Helvetica Neue"/>
              <a:sym typeface="Helvetica Neue"/>
            </a:endParaRPr>
          </a:p>
        </p:txBody>
      </p:sp>
      <p:sp>
        <p:nvSpPr>
          <p:cNvPr id="228" name="Google Shape;228;p20">
            <a:extLst>
              <a:ext uri="{FF2B5EF4-FFF2-40B4-BE49-F238E27FC236}">
                <a16:creationId xmlns:a16="http://schemas.microsoft.com/office/drawing/2014/main" id="{0AD09937-779E-5FD0-84E4-ED515FA160DA}"/>
              </a:ext>
            </a:extLst>
          </p:cNvPr>
          <p:cNvSpPr/>
          <p:nvPr/>
        </p:nvSpPr>
        <p:spPr>
          <a:xfrm>
            <a:off x="798538" y="1587600"/>
            <a:ext cx="945000" cy="619500"/>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1</a:t>
            </a:r>
            <a:endParaRPr sz="1200" b="1">
              <a:solidFill>
                <a:srgbClr val="FFFFFF"/>
              </a:solidFill>
              <a:latin typeface="Helvetica Neue"/>
              <a:ea typeface="Helvetica Neue"/>
              <a:cs typeface="Helvetica Neue"/>
              <a:sym typeface="Helvetica Neue"/>
            </a:endParaRPr>
          </a:p>
        </p:txBody>
      </p:sp>
      <p:sp>
        <p:nvSpPr>
          <p:cNvPr id="229" name="Google Shape;229;p20">
            <a:extLst>
              <a:ext uri="{FF2B5EF4-FFF2-40B4-BE49-F238E27FC236}">
                <a16:creationId xmlns:a16="http://schemas.microsoft.com/office/drawing/2014/main" id="{8B42820B-0E8C-82AB-B284-15FE65185CC6}"/>
              </a:ext>
            </a:extLst>
          </p:cNvPr>
          <p:cNvSpPr/>
          <p:nvPr/>
        </p:nvSpPr>
        <p:spPr>
          <a:xfrm>
            <a:off x="1743506" y="2521994"/>
            <a:ext cx="6601800" cy="619500"/>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r>
              <a:rPr lang="en-AU" sz="1100" dirty="0">
                <a:solidFill>
                  <a:srgbClr val="242021"/>
                </a:solidFill>
                <a:latin typeface="CIDFont+F2"/>
              </a:rPr>
              <a:t>[3] C. Touze´ and A. </a:t>
            </a:r>
            <a:r>
              <a:rPr lang="en-AU" sz="1100" dirty="0" err="1">
                <a:solidFill>
                  <a:srgbClr val="242021"/>
                </a:solidFill>
                <a:latin typeface="CIDFont+F2"/>
              </a:rPr>
              <a:t>Chaigne</a:t>
            </a:r>
            <a:r>
              <a:rPr lang="en-AU" sz="1100" dirty="0">
                <a:solidFill>
                  <a:srgbClr val="242021"/>
                </a:solidFill>
                <a:latin typeface="CIDFont+F2"/>
              </a:rPr>
              <a:t>, ‘‘Lyapunov exponents from experimental time series: application to cymbal vibrations,’’ Acustica - Acta Acustica, 86, 557–567 (2000) </a:t>
            </a:r>
            <a:br>
              <a:rPr lang="en-AU" sz="1100" dirty="0">
                <a:solidFill>
                  <a:srgbClr val="242021"/>
                </a:solidFill>
                <a:latin typeface="CIDFont+F2"/>
              </a:rPr>
            </a:br>
            <a:br>
              <a:rPr lang="en-AU" sz="900" dirty="0"/>
            </a:br>
            <a:r>
              <a:rPr lang="en-AU" sz="900" dirty="0"/>
              <a:t>(slide 8)</a:t>
            </a:r>
            <a:endParaRPr lang="en-AU" sz="900" dirty="0">
              <a:latin typeface="Helvetica Neue"/>
              <a:ea typeface="Helvetica Neue"/>
              <a:cs typeface="Helvetica Neue"/>
              <a:sym typeface="Helvetica Neue"/>
            </a:endParaRPr>
          </a:p>
        </p:txBody>
      </p:sp>
      <p:sp>
        <p:nvSpPr>
          <p:cNvPr id="230" name="Google Shape;230;p20">
            <a:extLst>
              <a:ext uri="{FF2B5EF4-FFF2-40B4-BE49-F238E27FC236}">
                <a16:creationId xmlns:a16="http://schemas.microsoft.com/office/drawing/2014/main" id="{CACFB5D3-F976-77FC-BB03-B108FDF6EBE4}"/>
              </a:ext>
            </a:extLst>
          </p:cNvPr>
          <p:cNvSpPr/>
          <p:nvPr/>
        </p:nvSpPr>
        <p:spPr>
          <a:xfrm>
            <a:off x="798506" y="2523981"/>
            <a:ext cx="945000" cy="619500"/>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2</a:t>
            </a:r>
            <a:endParaRPr sz="1200" b="1">
              <a:solidFill>
                <a:srgbClr val="FFFFFF"/>
              </a:solidFill>
              <a:latin typeface="Helvetica Neue"/>
              <a:ea typeface="Helvetica Neue"/>
              <a:cs typeface="Helvetica Neue"/>
              <a:sym typeface="Helvetica Neue"/>
            </a:endParaRPr>
          </a:p>
        </p:txBody>
      </p:sp>
      <p:sp>
        <p:nvSpPr>
          <p:cNvPr id="231" name="Google Shape;231;p20">
            <a:extLst>
              <a:ext uri="{FF2B5EF4-FFF2-40B4-BE49-F238E27FC236}">
                <a16:creationId xmlns:a16="http://schemas.microsoft.com/office/drawing/2014/main" id="{659983FC-3A85-B1F9-0DF6-7435E8DA78CF}"/>
              </a:ext>
            </a:extLst>
          </p:cNvPr>
          <p:cNvSpPr/>
          <p:nvPr/>
        </p:nvSpPr>
        <p:spPr>
          <a:xfrm>
            <a:off x="798600" y="3458375"/>
            <a:ext cx="945000" cy="619500"/>
          </a:xfrm>
          <a:prstGeom prst="rect">
            <a:avLst/>
          </a:prstGeom>
          <a:solidFill>
            <a:srgbClr val="980000"/>
          </a:solid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b="1">
                <a:solidFill>
                  <a:srgbClr val="FFFFFF"/>
                </a:solidFill>
                <a:latin typeface="Helvetica Neue"/>
                <a:ea typeface="Helvetica Neue"/>
                <a:cs typeface="Helvetica Neue"/>
                <a:sym typeface="Helvetica Neue"/>
              </a:rPr>
              <a:t>3</a:t>
            </a:r>
            <a:endParaRPr sz="1200" b="1">
              <a:solidFill>
                <a:srgbClr val="FFFFFF"/>
              </a:solidFill>
              <a:latin typeface="Helvetica Neue"/>
              <a:ea typeface="Helvetica Neue"/>
              <a:cs typeface="Helvetica Neue"/>
              <a:sym typeface="Helvetica Neue"/>
            </a:endParaRPr>
          </a:p>
        </p:txBody>
      </p:sp>
      <p:sp>
        <p:nvSpPr>
          <p:cNvPr id="237" name="Google Shape;237;p20">
            <a:extLst>
              <a:ext uri="{FF2B5EF4-FFF2-40B4-BE49-F238E27FC236}">
                <a16:creationId xmlns:a16="http://schemas.microsoft.com/office/drawing/2014/main" id="{86A1D994-B0C5-68CD-006B-75110B9282B9}"/>
              </a:ext>
            </a:extLst>
          </p:cNvPr>
          <p:cNvSpPr txBox="1"/>
          <p:nvPr/>
        </p:nvSpPr>
        <p:spPr>
          <a:xfrm>
            <a:off x="264338" y="663750"/>
            <a:ext cx="4780800" cy="267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700" b="1" u="sng">
                <a:solidFill>
                  <a:srgbClr val="980000"/>
                </a:solidFill>
                <a:latin typeface="Helvetica Neue"/>
                <a:ea typeface="Helvetica Neue"/>
                <a:cs typeface="Helvetica Neue"/>
                <a:sym typeface="Helvetica Neue"/>
              </a:rPr>
              <a:t>Bibliography</a:t>
            </a:r>
            <a:endParaRPr sz="1700" b="1" u="sng">
              <a:solidFill>
                <a:srgbClr val="980000"/>
              </a:solidFill>
              <a:latin typeface="Helvetica Neue"/>
              <a:ea typeface="Helvetica Neue"/>
              <a:cs typeface="Helvetica Neue"/>
              <a:sym typeface="Helvetica Neue"/>
            </a:endParaRPr>
          </a:p>
        </p:txBody>
      </p:sp>
      <p:sp>
        <p:nvSpPr>
          <p:cNvPr id="238" name="Google Shape;238;p20">
            <a:extLst>
              <a:ext uri="{FF2B5EF4-FFF2-40B4-BE49-F238E27FC236}">
                <a16:creationId xmlns:a16="http://schemas.microsoft.com/office/drawing/2014/main" id="{F94FED1D-9409-170C-448B-3828B8D214B4}"/>
              </a:ext>
            </a:extLst>
          </p:cNvPr>
          <p:cNvSpPr/>
          <p:nvPr/>
        </p:nvSpPr>
        <p:spPr>
          <a:xfrm>
            <a:off x="1743600" y="3458375"/>
            <a:ext cx="6601800" cy="619500"/>
          </a:xfrm>
          <a:prstGeom prst="rect">
            <a:avLst/>
          </a:prstGeom>
          <a:noFill/>
          <a:ln w="9525" cap="flat" cmpd="sng">
            <a:solidFill>
              <a:srgbClr val="888888"/>
            </a:solidFill>
            <a:prstDash val="dash"/>
            <a:round/>
            <a:headEnd type="none" w="sm" len="sm"/>
            <a:tailEnd type="none" w="sm" len="sm"/>
          </a:ln>
        </p:spPr>
        <p:txBody>
          <a:bodyPr spcFirstLastPara="1" wrap="square" lIns="91425" tIns="91425" rIns="91425" bIns="91425" anchor="ctr" anchorCtr="0">
            <a:noAutofit/>
          </a:bodyPr>
          <a:lstStyle/>
          <a:p>
            <a:r>
              <a:rPr lang="en-AU" sz="1100" dirty="0">
                <a:solidFill>
                  <a:srgbClr val="242021"/>
                </a:solidFill>
                <a:latin typeface="CIDFont+F2"/>
              </a:rPr>
              <a:t>[8] O. Thomas, C. Touze´ and A. </a:t>
            </a:r>
            <a:r>
              <a:rPr lang="en-AU" sz="1100" dirty="0" err="1">
                <a:solidFill>
                  <a:srgbClr val="242021"/>
                </a:solidFill>
                <a:latin typeface="CIDFont+F2"/>
              </a:rPr>
              <a:t>Chaigne</a:t>
            </a:r>
            <a:r>
              <a:rPr lang="en-AU" sz="1100" dirty="0">
                <a:solidFill>
                  <a:srgbClr val="242021"/>
                </a:solidFill>
                <a:latin typeface="CIDFont+F2"/>
              </a:rPr>
              <a:t>, ‘‘Nonlinear vibrations of free-edge thin spherical shells: modal interaction rules and 1:1:2 internal resonance,’’ Int. J. Solids Struct., 42, 3339–3373 </a:t>
            </a:r>
            <a:br>
              <a:rPr lang="en-AU" sz="1100" dirty="0">
                <a:solidFill>
                  <a:srgbClr val="242021"/>
                </a:solidFill>
                <a:latin typeface="CIDFont+F2"/>
              </a:rPr>
            </a:br>
            <a:r>
              <a:rPr lang="en-AU" sz="1100" dirty="0">
                <a:solidFill>
                  <a:srgbClr val="242021"/>
                </a:solidFill>
                <a:latin typeface="CIDFont+F2"/>
              </a:rPr>
              <a:t>(slide 3 )</a:t>
            </a:r>
            <a:endParaRPr lang="en-AU" sz="1100" dirty="0">
              <a:solidFill>
                <a:srgbClr val="242021"/>
              </a:solidFill>
              <a:latin typeface="CIDFont+F2"/>
              <a:sym typeface="Helvetica Neue"/>
            </a:endParaRPr>
          </a:p>
        </p:txBody>
      </p:sp>
      <p:sp>
        <p:nvSpPr>
          <p:cNvPr id="2" name="Google Shape;97;p14">
            <a:extLst>
              <a:ext uri="{FF2B5EF4-FFF2-40B4-BE49-F238E27FC236}">
                <a16:creationId xmlns:a16="http://schemas.microsoft.com/office/drawing/2014/main" id="{3B648F9B-7986-86F7-A418-2D557C92AFBD}"/>
              </a:ext>
            </a:extLst>
          </p:cNvPr>
          <p:cNvSpPr txBox="1"/>
          <p:nvPr/>
        </p:nvSpPr>
        <p:spPr>
          <a:xfrm>
            <a:off x="264338" y="232913"/>
            <a:ext cx="5398200" cy="369332"/>
          </a:xfrm>
          <a:prstGeom prst="rect">
            <a:avLst/>
          </a:prstGeom>
          <a:noFill/>
          <a:ln>
            <a:noFill/>
          </a:ln>
        </p:spPr>
        <p:txBody>
          <a:bodyPr spcFirstLastPara="1" wrap="square" lIns="0" tIns="0" rIns="0" bIns="0" anchor="t" anchorCtr="0">
            <a:spAutoFit/>
          </a:bodyPr>
          <a:lstStyle/>
          <a:p>
            <a:r>
              <a:rPr lang="en" sz="800" dirty="0">
                <a:solidFill>
                  <a:srgbClr val="666666"/>
                </a:solidFill>
                <a:latin typeface="Helvetica Neue"/>
                <a:ea typeface="Helvetica Neue"/>
                <a:cs typeface="Helvetica Neue"/>
                <a:sym typeface="Helvetica Neue"/>
              </a:rPr>
              <a:t>10/10</a:t>
            </a:r>
            <a:br>
              <a:rPr lang="en" sz="800" dirty="0">
                <a:solidFill>
                  <a:srgbClr val="666666"/>
                </a:solidFill>
                <a:latin typeface="Helvetica Neue"/>
                <a:ea typeface="Helvetica Neue"/>
                <a:cs typeface="Helvetica Neue"/>
                <a:sym typeface="Helvetica Neue"/>
              </a:rPr>
            </a:br>
            <a:r>
              <a:rPr lang="en-US" sz="800" dirty="0">
                <a:solidFill>
                  <a:srgbClr val="666666"/>
                </a:solidFill>
                <a:latin typeface="Helvetica Neue"/>
                <a:sym typeface="Helvetica Neue"/>
              </a:rPr>
              <a:t>Nonlinear Vibrations and Chaos in Gongs and Cymbals</a:t>
            </a:r>
          </a:p>
          <a:p>
            <a:pPr marL="0" marR="0" lvl="0" indent="0" algn="l" rtl="0">
              <a:lnSpc>
                <a:spcPct val="100000"/>
              </a:lnSpc>
              <a:spcBef>
                <a:spcPts val="0"/>
              </a:spcBef>
              <a:spcAft>
                <a:spcPts val="0"/>
              </a:spcAft>
              <a:buNone/>
            </a:pPr>
            <a:endParaRPr sz="800" dirty="0">
              <a:solidFill>
                <a:srgbClr val="666666"/>
              </a:solidFill>
              <a:latin typeface="Helvetica Neue"/>
              <a:ea typeface="Helvetica Neue"/>
              <a:cs typeface="Helvetica Neue"/>
              <a:sym typeface="Helvetica Neue"/>
            </a:endParaRPr>
          </a:p>
        </p:txBody>
      </p:sp>
      <p:sp>
        <p:nvSpPr>
          <p:cNvPr id="6" name="TextBox 5">
            <a:extLst>
              <a:ext uri="{FF2B5EF4-FFF2-40B4-BE49-F238E27FC236}">
                <a16:creationId xmlns:a16="http://schemas.microsoft.com/office/drawing/2014/main" id="{4AE0ED7D-6DCE-6956-926E-C7DC8E594304}"/>
              </a:ext>
            </a:extLst>
          </p:cNvPr>
          <p:cNvSpPr txBox="1"/>
          <p:nvPr/>
        </p:nvSpPr>
        <p:spPr>
          <a:xfrm>
            <a:off x="1785007" y="1624890"/>
            <a:ext cx="6560206" cy="769441"/>
          </a:xfrm>
          <a:prstGeom prst="rect">
            <a:avLst/>
          </a:prstGeom>
          <a:noFill/>
        </p:spPr>
        <p:txBody>
          <a:bodyPr wrap="square">
            <a:spAutoFit/>
          </a:bodyPr>
          <a:lstStyle/>
          <a:p>
            <a:pPr>
              <a:buNone/>
            </a:pPr>
            <a:r>
              <a:rPr lang="en-AU" sz="1100" b="0" i="0" dirty="0">
                <a:solidFill>
                  <a:srgbClr val="242021"/>
                </a:solidFill>
                <a:effectLst/>
                <a:latin typeface="CIDFont+F2"/>
              </a:rPr>
              <a:t>[12] A. H. Nayfeh and D. T. Mook, </a:t>
            </a:r>
            <a:r>
              <a:rPr lang="en-AU" sz="1100" b="0" i="0" dirty="0">
                <a:solidFill>
                  <a:srgbClr val="242021"/>
                </a:solidFill>
                <a:effectLst/>
                <a:latin typeface="CIDFont+F15"/>
              </a:rPr>
              <a:t>Nonlinear Oscillations </a:t>
            </a:r>
            <a:r>
              <a:rPr lang="en-AU" sz="1100" b="0" i="0" dirty="0">
                <a:solidFill>
                  <a:srgbClr val="242021"/>
                </a:solidFill>
                <a:effectLst/>
                <a:latin typeface="CIDFont+F2"/>
              </a:rPr>
              <a:t>(Wiley, New York, 1979)</a:t>
            </a:r>
            <a:r>
              <a:rPr lang="en-AU" sz="1100" dirty="0"/>
              <a:t> </a:t>
            </a:r>
            <a:br>
              <a:rPr lang="en-AU" sz="1100" dirty="0"/>
            </a:br>
            <a:r>
              <a:rPr lang="en-AU" sz="1100" dirty="0"/>
              <a:t>(slide 4)</a:t>
            </a:r>
            <a:br>
              <a:rPr lang="en-AU" sz="1100" dirty="0"/>
            </a:br>
            <a:br>
              <a:rPr lang="en-AU" sz="1100" dirty="0"/>
            </a:br>
            <a:endParaRPr lang="en-AU" sz="1100" dirty="0"/>
          </a:p>
        </p:txBody>
      </p:sp>
    </p:spTree>
    <p:extLst>
      <p:ext uri="{BB962C8B-B14F-4D97-AF65-F5344CB8AC3E}">
        <p14:creationId xmlns:p14="http://schemas.microsoft.com/office/powerpoint/2010/main" val="97540955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c0818d5-33be-4f1e-9860-c953b083b2d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E7A43059E95554B85DE5C748A5939F4" ma:contentTypeVersion="5" ma:contentTypeDescription="Crée un document." ma:contentTypeScope="" ma:versionID="6363c781fdfa8874a2bad7c974042235">
  <xsd:schema xmlns:xsd="http://www.w3.org/2001/XMLSchema" xmlns:xs="http://www.w3.org/2001/XMLSchema" xmlns:p="http://schemas.microsoft.com/office/2006/metadata/properties" xmlns:ns3="bc0818d5-33be-4f1e-9860-c953b083b2dc" targetNamespace="http://schemas.microsoft.com/office/2006/metadata/properties" ma:root="true" ma:fieldsID="f48e067b7286b65852ba91138720bc07" ns3:_="">
    <xsd:import namespace="bc0818d5-33be-4f1e-9860-c953b083b2dc"/>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0818d5-33be-4f1e-9860-c953b083b2d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FB6625-6DF4-4BE6-9BB5-B91CA40A5B55}">
  <ds:schemaRefs>
    <ds:schemaRef ds:uri="http://www.w3.org/XML/1998/namespace"/>
    <ds:schemaRef ds:uri="http://schemas.microsoft.com/office/2006/documentManagement/types"/>
    <ds:schemaRef ds:uri="bc0818d5-33be-4f1e-9860-c953b083b2dc"/>
    <ds:schemaRef ds:uri="http://purl.org/dc/terms/"/>
    <ds:schemaRef ds:uri="http://schemas.openxmlformats.org/package/2006/metadata/core-properties"/>
    <ds:schemaRef ds:uri="http://purl.org/dc/dcmitype/"/>
    <ds:schemaRef ds:uri="http://purl.org/dc/elements/1.1/"/>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8C20A831-3660-4270-8BB3-1FFF470E11E0}">
  <ds:schemaRefs>
    <ds:schemaRef ds:uri="http://schemas.microsoft.com/sharepoint/v3/contenttype/forms"/>
  </ds:schemaRefs>
</ds:datastoreItem>
</file>

<file path=customXml/itemProps3.xml><?xml version="1.0" encoding="utf-8"?>
<ds:datastoreItem xmlns:ds="http://schemas.openxmlformats.org/officeDocument/2006/customXml" ds:itemID="{F1BB659E-9512-4B5E-8909-879C45489FC7}">
  <ds:schemaRefs>
    <ds:schemaRef ds:uri="bc0818d5-33be-4f1e-9860-c953b083b2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TotalTime>
  <Words>1414</Words>
  <Application>Microsoft Office PowerPoint</Application>
  <PresentationFormat>On-screen Show (16:9)</PresentationFormat>
  <Paragraphs>192</Paragraphs>
  <Slides>12</Slides>
  <Notes>12</Notes>
  <HiddenSlides>0</HiddenSlides>
  <MMClips>4</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Cambria Math</vt:lpstr>
      <vt:lpstr>CIDFont+F15</vt:lpstr>
      <vt:lpstr>Arial</vt:lpstr>
      <vt:lpstr>CIDFont+F2</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RYEHAN Shahariar</cp:lastModifiedBy>
  <cp:revision>2</cp:revision>
  <cp:lastPrinted>2025-12-03T22:36:24Z</cp:lastPrinted>
  <dcterms:modified xsi:type="dcterms:W3CDTF">2026-05-29T21:14:30Z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0x0101000E7A43059E95554B85DE5C748A5939F4</vt:lpwstr>
  </property>
</Properties>
</file>